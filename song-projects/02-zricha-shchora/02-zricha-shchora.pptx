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1800" b="0">
                <a:solidFill>
                  <a:srgbClr val="F2703F"/>
                </a:solidFill>
                <a:latin typeface="IBM Plex Sans Hebrew"/>
                <a:cs typeface="IBM Plex Sans Hebrew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417320"/>
            <a:ext cx="10911535" cy="23774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he-IL" altLang="en-US" sz="132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זריחה שחורה</a:t>
            </a:r>
            <a:endParaRPr lang="he-IL" sz="13200"/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3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אביב גפן ומיה לימברג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2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שיר על בוקר שלא נגמר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"/>
                <a:cs typeface="IBM Plex Sans Hebrew"/>
              </a:rPr>
              <a:t>ליאור קאפח</a:t>
            </a:r>
            <a:endParaRPr lang="he-IL" sz="22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הקטע שבחרתי</a:t>
            </a:r>
            <a:endParaRPr lang="he-IL" sz="4200"/>
          </a:p>
        </p:txBody>
      </p:sp>
      <p:sp>
        <p:nvSpPr>
          <p:cNvPr id="4" name="TextBox 3"/>
          <p:cNvSpPr txBox="1"/>
          <p:nvPr/>
        </p:nvSpPr>
        <p:spPr>
          <a:xfrm>
            <a:off x="6629400" y="1417320"/>
            <a:ext cx="4922215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״</a:t>
            </a:r>
            <a:endParaRPr lang="he-IL" sz="9600"/>
          </a:p>
        </p:txBody>
      </p:sp>
      <p:sp>
        <p:nvSpPr>
          <p:cNvPr id="5" name="TextBox 4"/>
          <p:cNvSpPr txBox="1"/>
          <p:nvPr/>
        </p:nvSpPr>
        <p:spPr>
          <a:xfrm>
            <a:off x="6629400" y="2240280"/>
            <a:ext cx="4922215" cy="3108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ילדים שקמו לבוקר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F2703F"/>
                </a:solidFill>
                <a:latin typeface="IBM Plex Sans Hebrew Light"/>
                <a:cs typeface="IBM Plex Sans Hebrew Light"/>
              </a:rPr>
              <a:t>כבר לא ישחקו בחצר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ומאז זה הולך איתנו ולא עוזב</a:t>
            </a:r>
            <a:endParaRPr lang="he-IL" sz="28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F2703F"/>
                </a:solidFill>
                <a:latin typeface="IBM Plex Sans Hebrew Light"/>
                <a:cs typeface="IBM Plex Sans Hebrew Light"/>
              </a:rPr>
              <a:t>וכלום לא עובר</a:t>
            </a:r>
            <a:endParaRPr lang="he-IL" sz="2800"/>
          </a:p>
        </p:txBody>
      </p:sp>
      <p:sp>
        <p:nvSpPr>
          <p:cNvPr id="6" name="TextBox 5"/>
          <p:cNvSpPr txBox="1"/>
          <p:nvPr/>
        </p:nvSpPr>
        <p:spPr>
          <a:xfrm>
            <a:off x="6629400" y="5669280"/>
            <a:ext cx="492221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״זריחה שחורה״, אביב גפן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703F"/>
                </a:solidFill>
                <a:latin typeface="IBM Plex Sans Hebrew"/>
                <a:cs typeface="IBM Plex Sans Hebrew"/>
              </a:rPr>
              <a:t>למה בחרתי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זה הפזמון, והוא חוזר שוב ושוב עד סוף השיר. במקום לתאר קרבות, גפן מראה חצר ריקה מילדים. דווקא הפרט הקטן הזה מראה כמה גדול האובדן.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703F"/>
                </a:solidFill>
                <a:latin typeface="IBM Plex Sans Hebrew"/>
                <a:cs typeface="IBM Plex Sans Hebrew"/>
              </a:rPr>
              <a:t>החיבור האישי שלי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גם לי זה היה בוקר רגיל שהפך ל-7 באוקטובר. השורה ״וכלום לא עובר״ מתארת משהו שהרגשתי: חזרתי לבית הספר ולשגרה, אבל משהו נשאר איתי.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ph_gefen.jpg"/>
          <p:cNvPicPr>
            <a:picLocks noChangeAspect="1"/>
          </p:cNvPicPr>
          <p:nvPr/>
        </p:nvPicPr>
        <p:blipFill>
          <a:blip r:embed="rId3"/>
          <a:srcRect l="2500" r="2500"/>
          <a:stretch>
            <a:fillRect/>
          </a:stretch>
        </p:blipFill>
        <p:spPr>
          <a:xfrm>
            <a:off x="7848295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31175" y="6510528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IBM Plex Sans Hebrew"/>
                <a:cs typeface="IBM Plex Sans Hebrew"/>
              </a:rPr>
              <a:t>צילום: רונן פדידה,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אביב גפן</a:t>
            </a:r>
            <a:endParaRPr lang="he-IL" sz="4200"/>
          </a:p>
        </p:txBody>
      </p:sp>
      <p:sp>
        <p:nvSpPr>
          <p:cNvPr id="6" name="TextBox 5"/>
          <p:cNvSpPr txBox="1"/>
          <p:nvPr/>
        </p:nvSpPr>
        <p:spPr>
          <a:xfrm>
            <a:off x="606521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1973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נולד ברמת גן, בנו של המשורר והפזמונאי יהונתן גפן.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2395728"/>
            <a:ext cx="6659575" cy="0"/>
          </a:xfrm>
          <a:prstGeom prst="line">
            <a:avLst/>
          </a:prstGeom>
          <a:ln w="9525">
            <a:solidFill>
              <a:srgbClr val="34302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6521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1992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בגיל 18 הוציא את ״זה רק אור הירח״, וכתב והלחין את כל השירים.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640080" y="3346704"/>
            <a:ext cx="6659575" cy="0"/>
          </a:xfrm>
          <a:prstGeom prst="line">
            <a:avLst/>
          </a:prstGeom>
          <a:ln w="9525">
            <a:solidFill>
              <a:srgbClr val="34302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06521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1995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הופיע בעצרת השלום שבסופה נרצח ראש הממשלה יצחק רבין.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640080" y="4297680"/>
            <a:ext cx="6659575" cy="0"/>
          </a:xfrm>
          <a:prstGeom prst="line">
            <a:avLst/>
          </a:prstGeom>
          <a:ln w="9525">
            <a:solidFill>
              <a:srgbClr val="34302E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06521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2012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6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היה מנטור בתוכנית ״דה וויס״ במשך כמה עונות.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640080" y="5248656"/>
            <a:ext cx="6659575" cy="0"/>
          </a:xfrm>
          <a:prstGeom prst="line">
            <a:avLst/>
          </a:prstGeom>
          <a:ln w="9525">
            <a:solidFill>
              <a:srgbClr val="34302E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06521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2024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2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ב-7 באוקטובר חשף בטקס הזיכרון הממלכתי את השיר ״ארץ הפוכה״.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מילות השיר</a:t>
            </a:r>
            <a:endParaRPr lang="he-IL" sz="42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34302E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A39E98"/>
                </a:solidFill>
                <a:latin typeface="IBM Plex Sans Hebrew ExtraLight"/>
                <a:cs typeface="IBM Plex Sans Hebrew Extra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מילים ולחן: אביב גפן · ביצוע: אביב גפן ומיה לימברג · יצא ב-20 בדצמבר 2023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39E98"/>
                </a:solidFill>
                <a:latin typeface="IBM Plex Sans Hebrew"/>
                <a:cs typeface="IBM Plex Sans Hebrew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צירוף סותר</a:t>
            </a:r>
            <a:endParaRPr lang="he-IL" sz="56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83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A39E98"/>
                </a:solidFill>
                <a:latin typeface="IBM Plex Sans Hebrew"/>
                <a:cs typeface="IBM Plex Sans Hebrew"/>
              </a:rPr>
              <a:t>הגדרה: </a:t>
            </a: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צירוף של שתי מילים שהמשמעויות שלהן סותרות זו את זו.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״</a:t>
            </a:r>
            <a:endParaRPr lang="he-IL" sz="90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התעוררנו פתאום</a:t>
            </a:r>
            <a:endParaRPr lang="he-IL" sz="3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ל</a:t>
            </a:r>
            <a:r>
              <a:rPr lang="he-IL" altLang="en-US" sz="3400" b="0">
                <a:solidFill>
                  <a:srgbClr val="F2703F"/>
                </a:solidFill>
                <a:latin typeface="IBM Plex Sans Hebrew Light"/>
                <a:cs typeface="IBM Plex Sans Hebrew Light"/>
              </a:rPr>
              <a:t>זריחה שחורה</a:t>
            </a:r>
            <a:endParaRPr lang="he-IL" sz="34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114800"/>
            <a:ext cx="10911535" cy="0"/>
          </a:xfrm>
          <a:prstGeom prst="line">
            <a:avLst/>
          </a:prstGeom>
          <a:ln w="9525">
            <a:solidFill>
              <a:srgbClr val="34302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343400"/>
            <a:ext cx="5196535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703F"/>
                </a:solidFill>
                <a:latin typeface="IBM Plex Sans Hebrew"/>
                <a:cs typeface="IBM Plex Sans Hebrew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זריחה היא רגע של אור, ובשיר היא ״שחורה״. שתי המילים סותרות זו את זו, וזה גם שם השיר.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5257800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703F"/>
                </a:solidFill>
                <a:latin typeface="IBM Plex Sans Hebrew"/>
                <a:cs typeface="IBM Plex Sans Hebrew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הבוקר של 7 באוקטובר התחיל כמו כל בוקר, אבל הביא חושך. הצירוף מסכם בשתי מילים את כל השיר.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39E98"/>
                </a:solidFill>
                <a:latin typeface="IBM Plex Sans Hebrew"/>
                <a:cs typeface="IBM Plex Sans Hebrew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חזרה</a:t>
            </a:r>
            <a:endParaRPr lang="he-IL" sz="56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83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A39E98"/>
                </a:solidFill>
                <a:latin typeface="IBM Plex Sans Hebrew"/>
                <a:cs typeface="IBM Plex Sans Hebrew"/>
              </a:rPr>
              <a:t>הגדרה: </a:t>
            </a: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חזרה על מילה, צירוף או שורה, כדי להדגיש רעיון.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״</a:t>
            </a:r>
            <a:endParaRPr lang="he-IL" sz="90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וכלום </a:t>
            </a:r>
            <a:r>
              <a:rPr lang="he-IL" altLang="en-US" sz="3400" b="0">
                <a:solidFill>
                  <a:srgbClr val="F2703F"/>
                </a:solidFill>
                <a:latin typeface="IBM Plex Sans Hebrew Light"/>
                <a:cs typeface="IBM Plex Sans Hebrew Light"/>
              </a:rPr>
              <a:t>לא עובר</a:t>
            </a:r>
            <a:endParaRPr lang="he-IL" sz="3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וכלום </a:t>
            </a:r>
            <a:r>
              <a:rPr lang="he-IL" altLang="en-US" sz="3400" b="0">
                <a:solidFill>
                  <a:srgbClr val="F2703F"/>
                </a:solidFill>
                <a:latin typeface="IBM Plex Sans Hebrew Light"/>
                <a:cs typeface="IBM Plex Sans Hebrew Light"/>
              </a:rPr>
              <a:t>לא עובר</a:t>
            </a:r>
            <a:endParaRPr lang="he-IL" sz="3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וכלום </a:t>
            </a:r>
            <a:r>
              <a:rPr lang="he-IL" altLang="en-US" sz="3400" b="0">
                <a:solidFill>
                  <a:srgbClr val="F2703F"/>
                </a:solidFill>
                <a:latin typeface="IBM Plex Sans Hebrew Light"/>
                <a:cs typeface="IBM Plex Sans Hebrew Light"/>
              </a:rPr>
              <a:t>לא עובר</a:t>
            </a:r>
            <a:endParaRPr lang="he-IL" sz="34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114800"/>
            <a:ext cx="10911535" cy="0"/>
          </a:xfrm>
          <a:prstGeom prst="line">
            <a:avLst/>
          </a:prstGeom>
          <a:ln w="9525">
            <a:solidFill>
              <a:srgbClr val="34302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343400"/>
            <a:ext cx="5196535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703F"/>
                </a:solidFill>
                <a:latin typeface="IBM Plex Sans Hebrew"/>
                <a:cs typeface="IBM Plex Sans Hebrew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השורה ״וכלום לא עובר״ חוזרת שוב ושוב בסוף השיר, כמו תקליט שנתקע.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5257800" cy="1965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2703F"/>
                </a:solidFill>
                <a:latin typeface="IBM Plex Sans Hebrew"/>
                <a:cs typeface="IBM Plex Sans Hebrew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החזרה עושה בדיוק את מה שהמילים אומרות: השיר לא מצליח להתקדם, כמו הכאב שלא עובר.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מילים שמעוררות את המלחמה</a:t>
            </a:r>
            <a:endParaRPr lang="he-IL" sz="42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מילים מהשיר שמתארות את היום ההוא ואת מה שבא אחריו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45000"/>
              </a:lnSpc>
              <a:buNone/>
            </a:pPr>
            <a:r>
              <a:rPr lang="he-IL" altLang="en-US" sz="4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שביעי לאוקטובר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העשן עלה מהבתים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המוות שרדף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לגבולות הבוערים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חיילים דוהרים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שבויים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חטוף חוזר</a:t>
            </a:r>
            <a:r>
              <a:rPr lang="he-IL" altLang="en-US" sz="40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   ·   </a:t>
            </a:r>
            <a:r>
              <a:rPr lang="he-IL" altLang="en-US" sz="40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האויב</a:t>
            </a:r>
            <a:endParaRPr lang="he-IL" sz="40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Event photo" descr="ph_ev_niryitzhak.jpg"/>
          <p:cNvPicPr>
            <a:picLocks noChangeAspect="1"/>
          </p:cNvPicPr>
          <p:nvPr/>
        </p:nvPicPr>
        <p:blipFill>
          <a:blip r:embed="rId3"/>
          <a:srcRect l="9111" r="9111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335" y="6510528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IBM Plex Sans Hebrew"/>
                <a:cs typeface="IBM Plex Sans Hebrew"/>
              </a:rPr>
              <a:t>צילום: Lisahy, ויקישיתוף, CC BY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67967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8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האירועים שהמילים מעוררות</a:t>
            </a:r>
            <a:endParaRPr lang="he-IL" sz="3800"/>
          </a:p>
        </p:txBody>
      </p:sp>
      <p:sp>
        <p:nvSpPr>
          <p:cNvPr id="6" name="TextBox 5"/>
          <p:cNvSpPr txBox="1"/>
          <p:nvPr/>
        </p:nvSpPr>
        <p:spPr>
          <a:xfrm>
            <a:off x="6796735" y="1417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1</a:t>
            </a:r>
            <a:endParaRPr lang="he-IL" sz="3400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2703F"/>
                </a:solidFill>
                <a:latin typeface="IBM Plex Sans Hebrew"/>
                <a:cs typeface="IBM Plex Sans Hebrew"/>
              </a:rPr>
              <a:t>7.10.2023  </a:t>
            </a:r>
            <a:r>
              <a:rPr lang="he-IL" altLang="en-US" sz="21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מיה לימברג ואמה מבקרות קרובי משפחה בקיבוץ ניר יצחק.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796735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2</a:t>
            </a:r>
            <a:endParaRPr lang="he-IL" sz="3400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2703F"/>
                </a:solidFill>
                <a:latin typeface="IBM Plex Sans Hebrew"/>
                <a:cs typeface="IBM Plex Sans Hebrew"/>
              </a:rPr>
              <a:t>החטיפה  </a:t>
            </a:r>
            <a:r>
              <a:rPr lang="he-IL" altLang="en-US" sz="21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הן נחטפות לעזה, יחד עם קרובים ועם הכלבה של מיה.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796735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3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2703F"/>
                </a:solidFill>
                <a:latin typeface="IBM Plex Sans Hebrew"/>
                <a:cs typeface="IBM Plex Sans Hebrew"/>
              </a:rPr>
              <a:t>28.11.2023  </a:t>
            </a:r>
            <a:r>
              <a:rPr lang="he-IL" altLang="en-US" sz="21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אחרי 53 ימים בשבי הן משתחררות בעסקת החטופים.</a:t>
            </a:r>
            <a:endParaRPr lang="he-IL" sz="2100"/>
          </a:p>
        </p:txBody>
      </p:sp>
      <p:sp>
        <p:nvSpPr>
          <p:cNvPr id="12" name="TextBox 11"/>
          <p:cNvSpPr txBox="1"/>
          <p:nvPr/>
        </p:nvSpPr>
        <p:spPr>
          <a:xfrm>
            <a:off x="6796735" y="4023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4</a:t>
            </a:r>
            <a:endParaRPr lang="he-IL" sz="3400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2703F"/>
                </a:solidFill>
                <a:latin typeface="IBM Plex Sans Hebrew"/>
                <a:cs typeface="IBM Plex Sans Hebrew"/>
              </a:rPr>
              <a:t>המפגש  </a:t>
            </a:r>
            <a:r>
              <a:rPr lang="he-IL" altLang="en-US" sz="21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גפן כותב לאבא של מיה ומזמין אותה לשיר איתו.</a:t>
            </a:r>
            <a:endParaRPr lang="he-IL" sz="2100"/>
          </a:p>
        </p:txBody>
      </p:sp>
      <p:sp>
        <p:nvSpPr>
          <p:cNvPr id="14" name="TextBox 13"/>
          <p:cNvSpPr txBox="1"/>
          <p:nvPr/>
        </p:nvSpPr>
        <p:spPr>
          <a:xfrm>
            <a:off x="6796735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5</a:t>
            </a:r>
            <a:endParaRPr lang="he-IL" sz="3400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2703F"/>
                </a:solidFill>
                <a:latin typeface="IBM Plex Sans Hebrew"/>
                <a:cs typeface="IBM Plex Sans Hebrew"/>
              </a:rPr>
              <a:t>20.12.2023  </a:t>
            </a:r>
            <a:r>
              <a:rPr lang="he-IL" altLang="en-US" sz="2100" b="0">
                <a:solidFill>
                  <a:srgbClr val="F2EEE9"/>
                </a:solidFill>
                <a:latin typeface="IBM Plex Sans Hebrew Light"/>
                <a:cs typeface="IBM Plex Sans Hebrew Light"/>
              </a:rPr>
              <a:t>״זריחה שחורה״ יוצא, ומגיע למקום 6 במדיה פורסט.</a:t>
            </a:r>
            <a:endParaRPr lang="he-IL" sz="2100"/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67967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A39E98"/>
                </a:solidFill>
                <a:latin typeface="IBM Plex Sans Hebrew Light"/>
                <a:cs typeface="IBM Plex Sans Hebrew Light"/>
              </a:rPr>
              <a:t>דלת מרפסת בקיבוץ ניר יצחק שנפגעה מירי בטבח. מכאן נחטפו מיה ואמה.</a:t>
            </a:r>
            <a:endParaRPr lang="he-IL" sz="1600"/>
          </a:p>
        </p:txBody>
      </p:sp>
      <p:sp>
        <p:nvSpPr>
          <p:cNvPr id="1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2801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600" b="0">
                <a:solidFill>
                  <a:srgbClr val="F2EEE9"/>
                </a:solidFill>
                <a:latin typeface="IBM Plex Sans Hebrew"/>
                <a:cs typeface="IBM Plex Sans Hebrew"/>
              </a:rPr>
              <a:t>בזריחה רגילה האור מנצח את החושך.</a:t>
            </a:r>
            <a:endParaRPr lang="he-IL" sz="36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4000" b="0">
                <a:solidFill>
                  <a:srgbClr val="F2703F"/>
                </a:solidFill>
                <a:latin typeface="IBM Plex Sans Hebrew ExtraLight"/>
                <a:cs typeface="IBM Plex Sans Hebrew ExtraLight"/>
              </a:rPr>
              <a:t>ב״זריחה שחורה״ החושך נשאר,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400" b="0">
                <a:solidFill>
                  <a:srgbClr val="F2EEE9"/>
                </a:solidFill>
                <a:latin typeface="IBM Plex Sans Hebrew ExtraLight"/>
                <a:cs typeface="IBM Plex Sans Hebrew ExtraLight"/>
              </a:rPr>
              <a:t>אבל מיה ששרה אחרי השבי היא האור.</a:t>
            </a:r>
            <a:endParaRPr lang="he-IL" sz="34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39E98"/>
                </a:solidFill>
                <a:latin typeface="IBM Plex Sans Hebrew"/>
                <a:cs typeface="IBM Plex Sans Hebrew"/>
              </a:rPr>
              <a:t>09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