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7772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1800" b="0">
                <a:solidFill>
                  <a:srgbClr val="F2703F"/>
                </a:solidFill>
                <a:latin typeface="IBM Plex Sans Hebrew"/>
                <a:cs typeface="IBM Plex Sans Hebrew"/>
              </a:rPr>
              <a:t>הערכה חלופית בספרות · שכבה ט׳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40080" y="1417320"/>
            <a:ext cx="10911535" cy="23774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he-IL" altLang="en-US" sz="13200" b="0">
                <a:solidFill>
                  <a:srgbClr val="F2EEE9"/>
                </a:solidFill>
                <a:latin typeface="IBM Plex Sans Hebrew ExtraLight"/>
                <a:cs typeface="IBM Plex Sans Hebrew ExtraLight"/>
              </a:rPr>
              <a:t>זריחה שחורה</a:t>
            </a:r>
            <a:endParaRPr lang="he-IL" sz="13200"/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3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אביב גפן ומיה לימברג</a:t>
            </a:r>
            <a:endParaRPr lang="he-IL" sz="3400"/>
          </a:p>
        </p:txBody>
      </p:sp>
      <p:sp>
        <p:nvSpPr>
          <p:cNvPr id="6" name="TextBox 5"/>
          <p:cNvSpPr txBox="1"/>
          <p:nvPr/>
        </p:nvSpPr>
        <p:spPr>
          <a:xfrm>
            <a:off x="640080" y="461772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22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שיר על בוקר שלא נגמר</a:t>
            </a:r>
            <a:endParaRPr lang="he-IL" sz="2200"/>
          </a:p>
        </p:txBody>
      </p:sp>
      <p:sp>
        <p:nvSpPr>
          <p:cNvPr id="7" name="TextBox 6"/>
          <p:cNvSpPr txBox="1"/>
          <p:nvPr/>
        </p:nvSpPr>
        <p:spPr>
          <a:xfrm>
            <a:off x="640080" y="57150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2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שמות המגישים</a:t>
            </a:r>
            <a:endParaRPr lang="he-IL" sz="200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F2EEE9"/>
                </a:solidFill>
                <a:latin typeface="IBM Plex Sans Hebrew ExtraLight"/>
                <a:cs typeface="IBM Plex Sans Hebrew ExtraLight"/>
              </a:rPr>
              <a:t>הקטע שבחרתי</a:t>
            </a:r>
            <a:endParaRPr lang="he-IL" sz="4200"/>
          </a:p>
        </p:txBody>
      </p:sp>
      <p:sp>
        <p:nvSpPr>
          <p:cNvPr id="4" name="TextBox 3"/>
          <p:cNvSpPr txBox="1"/>
          <p:nvPr/>
        </p:nvSpPr>
        <p:spPr>
          <a:xfrm>
            <a:off x="6629400" y="1417320"/>
            <a:ext cx="4922215" cy="9144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96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״</a:t>
            </a:r>
            <a:endParaRPr lang="he-IL" sz="9600"/>
          </a:p>
        </p:txBody>
      </p:sp>
      <p:sp>
        <p:nvSpPr>
          <p:cNvPr id="5" name="TextBox 4"/>
          <p:cNvSpPr txBox="1"/>
          <p:nvPr/>
        </p:nvSpPr>
        <p:spPr>
          <a:xfrm>
            <a:off x="6629400" y="2240280"/>
            <a:ext cx="4922215" cy="3108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ילדים שקמו לבוקר</a:t>
            </a:r>
            <a:endParaRPr lang="he-IL" sz="28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F2703F"/>
                </a:solidFill>
                <a:latin typeface="IBM Plex Sans Hebrew Light"/>
                <a:cs typeface="IBM Plex Sans Hebrew Light"/>
              </a:rPr>
              <a:t>כבר לא ישחקו בחצר</a:t>
            </a:r>
            <a:endParaRPr lang="he-IL" sz="28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ומאז זה הולך איתנו ולא עוזב</a:t>
            </a:r>
            <a:endParaRPr lang="he-IL" sz="28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F2703F"/>
                </a:solidFill>
                <a:latin typeface="IBM Plex Sans Hebrew Light"/>
                <a:cs typeface="IBM Plex Sans Hebrew Light"/>
              </a:rPr>
              <a:t>וכלום לא עובר</a:t>
            </a:r>
            <a:endParaRPr lang="he-IL" sz="2800"/>
          </a:p>
        </p:txBody>
      </p:sp>
      <p:sp>
        <p:nvSpPr>
          <p:cNvPr id="6" name="TextBox 5"/>
          <p:cNvSpPr txBox="1"/>
          <p:nvPr/>
        </p:nvSpPr>
        <p:spPr>
          <a:xfrm>
            <a:off x="6629400" y="5669280"/>
            <a:ext cx="492221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6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״זריחה שחורה״, אביב גפן</a:t>
            </a:r>
            <a:endParaRPr lang="he-IL" sz="1600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703F"/>
                </a:solidFill>
                <a:latin typeface="IBM Plex Sans Hebrew"/>
                <a:cs typeface="IBM Plex Sans Hebrew"/>
              </a:rPr>
              <a:t>למה בחרתי בקטע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זה הפזמון, והוא חוזר שוב ושוב עד סוף השיר. במקום לתאר קרבות, גפן מראה חצר ריקה מילדים. דווקא הפרט הקטן הזה מראה כמה גדול האובדן.</a:t>
            </a:r>
            <a:endParaRPr lang="he-IL" sz="2200"/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5486400" cy="2377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703F"/>
                </a:solidFill>
                <a:latin typeface="IBM Plex Sans Hebrew"/>
                <a:cs typeface="IBM Plex Sans Hebrew"/>
              </a:rPr>
              <a:t>החיבור האישי שלי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גם לי זה היה בוקר רגיל שהפך ל-7 באוקטובר. השורה ״וכלום לא עובר״ מתארת משהו שהרגשתי: חזרתי לבית הספר ולשגרה, אבל משהו נשאר איתי.</a:t>
            </a:r>
            <a:endParaRPr lang="he-IL" sz="2200"/>
          </a:p>
        </p:txBody>
      </p:sp>
      <p:sp>
        <p:nvSpPr>
          <p:cNvPr id="9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39E98"/>
                </a:solidFill>
                <a:latin typeface="IBM Plex Sans Hebrew"/>
                <a:cs typeface="IBM Plex Sans Hebrew"/>
              </a:rPr>
              <a:t>02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rtist photo" descr="ph_gefen.jpg"/>
          <p:cNvPicPr>
            <a:picLocks noChangeAspect="1"/>
          </p:cNvPicPr>
          <p:nvPr/>
        </p:nvPicPr>
        <p:blipFill>
          <a:blip r:embed="rId3"/>
          <a:srcRect l="2500" r="2500"/>
          <a:stretch>
            <a:fillRect/>
          </a:stretch>
        </p:blipFill>
        <p:spPr>
          <a:xfrm>
            <a:off x="7848295" y="0"/>
            <a:ext cx="43434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31175" y="6510528"/>
            <a:ext cx="3977639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000" b="0">
                <a:solidFill>
                  <a:srgbClr val="EEEEEE"/>
                </a:solidFill>
                <a:latin typeface="IBM Plex Sans Hebrew"/>
                <a:cs typeface="IBM Plex Sans Hebrew"/>
              </a:rPr>
              <a:t>צילום: רונן פדידה, ויקישיתוף, CC BY-SA 3.0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640080" y="457200"/>
            <a:ext cx="665957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F2EEE9"/>
                </a:solidFill>
                <a:latin typeface="IBM Plex Sans Hebrew ExtraLight"/>
                <a:cs typeface="IBM Plex Sans Hebrew ExtraLight"/>
              </a:rPr>
              <a:t>אביב גפן</a:t>
            </a:r>
            <a:endParaRPr lang="he-IL" sz="4200"/>
          </a:p>
        </p:txBody>
      </p:sp>
      <p:sp>
        <p:nvSpPr>
          <p:cNvPr id="6" name="TextBox 5"/>
          <p:cNvSpPr txBox="1"/>
          <p:nvPr/>
        </p:nvSpPr>
        <p:spPr>
          <a:xfrm>
            <a:off x="6065215" y="155448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1973</a:t>
            </a:r>
            <a:endParaRPr lang="he-IL" sz="2400"/>
          </a:p>
        </p:txBody>
      </p:sp>
      <p:sp>
        <p:nvSpPr>
          <p:cNvPr id="7" name="TextBox 6"/>
          <p:cNvSpPr txBox="1"/>
          <p:nvPr/>
        </p:nvSpPr>
        <p:spPr>
          <a:xfrm>
            <a:off x="640080" y="1572768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נולד ברמת גן, בנו של המשורר והפזמונאי יהונתן גפן.</a:t>
            </a:r>
            <a:endParaRPr lang="he-IL" sz="2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2395728"/>
            <a:ext cx="6659575" cy="0"/>
          </a:xfrm>
          <a:prstGeom prst="line">
            <a:avLst/>
          </a:prstGeom>
          <a:ln w="9525">
            <a:solidFill>
              <a:srgbClr val="34302E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065215" y="2505456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1992</a:t>
            </a:r>
            <a:endParaRPr lang="he-IL" sz="2400"/>
          </a:p>
        </p:txBody>
      </p:sp>
      <p:sp>
        <p:nvSpPr>
          <p:cNvPr id="10" name="TextBox 9"/>
          <p:cNvSpPr txBox="1"/>
          <p:nvPr/>
        </p:nvSpPr>
        <p:spPr>
          <a:xfrm>
            <a:off x="640080" y="2523744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בגיל 18 הוציא את ״זה רק אור הירח״, וכתב והלחין את כל השירים.</a:t>
            </a:r>
            <a:endParaRPr lang="he-IL" sz="2200"/>
          </a:p>
        </p:txBody>
      </p:sp>
      <p:cxnSp>
        <p:nvCxnSpPr>
          <p:cNvPr id="11" name="Connector 10"/>
          <p:cNvCxnSpPr/>
          <p:nvPr/>
        </p:nvCxnSpPr>
        <p:spPr>
          <a:xfrm>
            <a:off x="640080" y="3346704"/>
            <a:ext cx="6659575" cy="0"/>
          </a:xfrm>
          <a:prstGeom prst="line">
            <a:avLst/>
          </a:prstGeom>
          <a:ln w="9525">
            <a:solidFill>
              <a:srgbClr val="34302E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065215" y="3456432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1995</a:t>
            </a:r>
            <a:endParaRPr lang="he-IL" sz="2400"/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הופיע בעצרת השלום שבסופה נרצח ראש הממשלה יצחק רבין.</a:t>
            </a:r>
            <a:endParaRPr lang="he-IL" sz="2200"/>
          </a:p>
        </p:txBody>
      </p:sp>
      <p:cxnSp>
        <p:nvCxnSpPr>
          <p:cNvPr id="14" name="Connector 13"/>
          <p:cNvCxnSpPr/>
          <p:nvPr/>
        </p:nvCxnSpPr>
        <p:spPr>
          <a:xfrm>
            <a:off x="640080" y="4297680"/>
            <a:ext cx="6659575" cy="0"/>
          </a:xfrm>
          <a:prstGeom prst="line">
            <a:avLst/>
          </a:prstGeom>
          <a:ln w="9525">
            <a:solidFill>
              <a:srgbClr val="34302E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6065215" y="4407408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2012</a:t>
            </a:r>
            <a:endParaRPr lang="he-IL" sz="2400"/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6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היה מנטור בתוכנית ״דה וויס״ במשך כמה עונות.</a:t>
            </a:r>
            <a:endParaRPr lang="he-IL" sz="2200"/>
          </a:p>
        </p:txBody>
      </p:sp>
      <p:cxnSp>
        <p:nvCxnSpPr>
          <p:cNvPr id="17" name="Connector 16"/>
          <p:cNvCxnSpPr/>
          <p:nvPr/>
        </p:nvCxnSpPr>
        <p:spPr>
          <a:xfrm>
            <a:off x="640080" y="5248656"/>
            <a:ext cx="6659575" cy="0"/>
          </a:xfrm>
          <a:prstGeom prst="line">
            <a:avLst/>
          </a:prstGeom>
          <a:ln w="9525">
            <a:solidFill>
              <a:srgbClr val="34302E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065215" y="5358384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2024</a:t>
            </a:r>
            <a:endParaRPr lang="he-IL" sz="2400"/>
          </a:p>
        </p:txBody>
      </p:sp>
      <p:sp>
        <p:nvSpPr>
          <p:cNvPr id="19" name="TextBox 18"/>
          <p:cNvSpPr txBox="1"/>
          <p:nvPr/>
        </p:nvSpPr>
        <p:spPr>
          <a:xfrm>
            <a:off x="640080" y="5376672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ב-7 באוקטובר חשף בטקס הזיכרון הממלכתי את השיר ״ארץ הפוכה״.</a:t>
            </a:r>
            <a:endParaRPr lang="he-IL" sz="2200"/>
          </a:p>
        </p:txBody>
      </p:sp>
      <p:sp>
        <p:nvSpPr>
          <p:cNvPr id="2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39E98"/>
                </a:solidFill>
                <a:latin typeface="IBM Plex Sans Hebrew"/>
                <a:cs typeface="IBM Plex Sans Hebrew"/>
              </a:rPr>
              <a:t>03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F2EEE9"/>
                </a:solidFill>
                <a:latin typeface="IBM Plex Sans Hebrew ExtraLight"/>
                <a:cs typeface="IBM Plex Sans Hebrew ExtraLight"/>
              </a:rPr>
              <a:t>מילות השיר</a:t>
            </a:r>
            <a:endParaRPr lang="he-IL" sz="4200"/>
          </a:p>
        </p:txBody>
      </p:sp>
      <p:sp>
        <p:nvSpPr>
          <p:cNvPr id="4" name="Lyrics placeholder"/>
          <p:cNvSpPr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  <a:ln w="15875">
            <a:solidFill>
              <a:srgbClr val="34302E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5" name="Lyrics"/>
          <p:cNvSpPr txBox="1"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spcAft>
                <a:spcPts val="800"/>
              </a:spcAft>
              <a:buNone/>
            </a:pPr>
            <a:r>
              <a:rPr lang="he-IL" altLang="en-US" sz="2600" b="0">
                <a:solidFill>
                  <a:srgbClr val="A39E98"/>
                </a:solidFill>
                <a:latin typeface="IBM Plex Sans Hebrew ExtraLight"/>
                <a:cs typeface="IBM Plex Sans Hebrew ExtraLight"/>
              </a:rPr>
              <a:t>כאן יודבקו מילות השיר המלאות</a:t>
            </a:r>
            <a:endParaRPr lang="he-IL" sz="2600"/>
          </a:p>
          <a:p>
            <a:pPr algn="ctr" rtl="1">
              <a:buNone/>
            </a:pPr>
            <a:r>
              <a:rPr lang="he-IL" altLang="en-US" sz="18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לפי חלוקת הבתים והשורות המקורית</a:t>
            </a:r>
            <a:endParaRPr lang="he-IL" sz="1800"/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4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מילים ולחן: אביב גפן · ביצוע: אביב גפן ומיה לימברג · יצא ב-20 בדצמבר 2023</a:t>
            </a:r>
            <a:endParaRPr lang="he-IL" sz="14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39E98"/>
                </a:solidFill>
                <a:latin typeface="IBM Plex Sans Hebrew"/>
                <a:cs typeface="IBM Plex Sans Hebrew"/>
              </a:rPr>
              <a:t>04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0" y="54864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A39E98"/>
                </a:solidFill>
                <a:latin typeface="IBM Plex Sans Hebrew"/>
                <a:cs typeface="IBM Plex Sans Hebrew"/>
              </a:rPr>
              <a:t>מושג ראשון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7863840" y="914400"/>
            <a:ext cx="3687775" cy="10972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6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צירוף סותר</a:t>
            </a:r>
            <a:endParaRPr lang="he-IL" sz="5600"/>
          </a:p>
        </p:txBody>
      </p:sp>
      <p:sp>
        <p:nvSpPr>
          <p:cNvPr id="5" name="TextBox 4"/>
          <p:cNvSpPr txBox="1"/>
          <p:nvPr/>
        </p:nvSpPr>
        <p:spPr>
          <a:xfrm>
            <a:off x="7863840" y="2148840"/>
            <a:ext cx="3687775" cy="1783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5000"/>
              </a:lnSpc>
              <a:buNone/>
            </a:pPr>
            <a:r>
              <a:rPr lang="he-IL" altLang="en-US" sz="2200" b="0">
                <a:solidFill>
                  <a:srgbClr val="A39E98"/>
                </a:solidFill>
                <a:latin typeface="IBM Plex Sans Hebrew"/>
                <a:cs typeface="IBM Plex Sans Hebrew"/>
              </a:rPr>
              <a:t>הגדרה: </a:t>
            </a: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צירוף של שתי מילים שהמשמעויות שלהן סותרות זו את זו.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90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״</a:t>
            </a:r>
            <a:endParaRPr lang="he-IL" sz="9000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6766560" cy="22860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התעוררנו פתאום</a:t>
            </a:r>
            <a:endParaRPr lang="he-IL" sz="34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ל</a:t>
            </a:r>
            <a:r>
              <a:rPr lang="he-IL" altLang="en-US" sz="3400" b="0">
                <a:solidFill>
                  <a:srgbClr val="F2703F"/>
                </a:solidFill>
                <a:latin typeface="IBM Plex Sans Hebrew Light"/>
                <a:cs typeface="IBM Plex Sans Hebrew Light"/>
              </a:rPr>
              <a:t>זריחה שחורה</a:t>
            </a:r>
            <a:endParaRPr lang="he-IL" sz="34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114800"/>
            <a:ext cx="10911535" cy="0"/>
          </a:xfrm>
          <a:prstGeom prst="line">
            <a:avLst/>
          </a:prstGeom>
          <a:ln w="9525">
            <a:solidFill>
              <a:srgbClr val="34302E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343400"/>
            <a:ext cx="5196535" cy="1965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703F"/>
                </a:solidFill>
                <a:latin typeface="IBM Plex Sans Hebrew"/>
                <a:cs typeface="IBM Plex Sans Hebrew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זריחה היא רגע של אור, ובשיר היא ״שחורה״. שתי המילים סותרות זו את זו, וזה גם שם השיר.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343400"/>
            <a:ext cx="5257800" cy="1965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703F"/>
                </a:solidFill>
                <a:latin typeface="IBM Plex Sans Hebrew"/>
                <a:cs typeface="IBM Plex Sans Hebrew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הבוקר של 7 באוקטובר התחיל כמו כל בוקר, אבל הביא חושך. הצירוף מסכם בשתי מילים את כל השיר.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39E98"/>
                </a:solidFill>
                <a:latin typeface="IBM Plex Sans Hebrew"/>
                <a:cs typeface="IBM Plex Sans Hebrew"/>
              </a:rPr>
              <a:t>05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0" y="54864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A39E98"/>
                </a:solidFill>
                <a:latin typeface="IBM Plex Sans Hebrew"/>
                <a:cs typeface="IBM Plex Sans Hebrew"/>
              </a:rPr>
              <a:t>מושג שני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7863840" y="914400"/>
            <a:ext cx="3687775" cy="10972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6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חזרה</a:t>
            </a:r>
            <a:endParaRPr lang="he-IL" sz="5600"/>
          </a:p>
        </p:txBody>
      </p:sp>
      <p:sp>
        <p:nvSpPr>
          <p:cNvPr id="5" name="TextBox 4"/>
          <p:cNvSpPr txBox="1"/>
          <p:nvPr/>
        </p:nvSpPr>
        <p:spPr>
          <a:xfrm>
            <a:off x="7863840" y="2148840"/>
            <a:ext cx="3687775" cy="1783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5000"/>
              </a:lnSpc>
              <a:buNone/>
            </a:pPr>
            <a:r>
              <a:rPr lang="he-IL" altLang="en-US" sz="2200" b="0">
                <a:solidFill>
                  <a:srgbClr val="A39E98"/>
                </a:solidFill>
                <a:latin typeface="IBM Plex Sans Hebrew"/>
                <a:cs typeface="IBM Plex Sans Hebrew"/>
              </a:rPr>
              <a:t>הגדרה: </a:t>
            </a: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חזרה על מילה, צירוף או שורה, כדי להדגיש רעיון.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90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״</a:t>
            </a:r>
            <a:endParaRPr lang="he-IL" sz="9000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6766560" cy="22860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וכלום </a:t>
            </a:r>
            <a:r>
              <a:rPr lang="he-IL" altLang="en-US" sz="3400" b="0">
                <a:solidFill>
                  <a:srgbClr val="F2703F"/>
                </a:solidFill>
                <a:latin typeface="IBM Plex Sans Hebrew Light"/>
                <a:cs typeface="IBM Plex Sans Hebrew Light"/>
              </a:rPr>
              <a:t>לא עובר</a:t>
            </a:r>
            <a:endParaRPr lang="he-IL" sz="34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וכלום </a:t>
            </a:r>
            <a:r>
              <a:rPr lang="he-IL" altLang="en-US" sz="3400" b="0">
                <a:solidFill>
                  <a:srgbClr val="F2703F"/>
                </a:solidFill>
                <a:latin typeface="IBM Plex Sans Hebrew Light"/>
                <a:cs typeface="IBM Plex Sans Hebrew Light"/>
              </a:rPr>
              <a:t>לא עובר</a:t>
            </a:r>
            <a:endParaRPr lang="he-IL" sz="34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וכלום </a:t>
            </a:r>
            <a:r>
              <a:rPr lang="he-IL" altLang="en-US" sz="3400" b="0">
                <a:solidFill>
                  <a:srgbClr val="F2703F"/>
                </a:solidFill>
                <a:latin typeface="IBM Plex Sans Hebrew Light"/>
                <a:cs typeface="IBM Plex Sans Hebrew Light"/>
              </a:rPr>
              <a:t>לא עובר</a:t>
            </a:r>
            <a:endParaRPr lang="he-IL" sz="34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114800"/>
            <a:ext cx="10911535" cy="0"/>
          </a:xfrm>
          <a:prstGeom prst="line">
            <a:avLst/>
          </a:prstGeom>
          <a:ln w="9525">
            <a:solidFill>
              <a:srgbClr val="34302E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343400"/>
            <a:ext cx="5196535" cy="1965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703F"/>
                </a:solidFill>
                <a:latin typeface="IBM Plex Sans Hebrew"/>
                <a:cs typeface="IBM Plex Sans Hebrew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השורה ״וכלום לא עובר״ חוזרת שוב ושוב בסוף השיר, כמו תקליט שנתקע.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343400"/>
            <a:ext cx="5257800" cy="1965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2703F"/>
                </a:solidFill>
                <a:latin typeface="IBM Plex Sans Hebrew"/>
                <a:cs typeface="IBM Plex Sans Hebrew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החזרה עושה בדיוק את מה שהמילים אומרות: השיר לא מצליח להתקדם, כמו הכאב שלא עובר.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39E98"/>
                </a:solidFill>
                <a:latin typeface="IBM Plex Sans Hebrew"/>
                <a:cs typeface="IBM Plex Sans Hebrew"/>
              </a:rPr>
              <a:t>06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200" b="0">
                <a:solidFill>
                  <a:srgbClr val="F2EEE9"/>
                </a:solidFill>
                <a:latin typeface="IBM Plex Sans Hebrew ExtraLight"/>
                <a:cs typeface="IBM Plex Sans Hebrew ExtraLight"/>
              </a:rPr>
              <a:t>מילים שמעוררות את המלחמה</a:t>
            </a:r>
            <a:endParaRPr lang="he-IL" sz="4200"/>
          </a:p>
        </p:txBody>
      </p:sp>
      <p:sp>
        <p:nvSpPr>
          <p:cNvPr id="4" name="TextBox 3"/>
          <p:cNvSpPr txBox="1"/>
          <p:nvPr/>
        </p:nvSpPr>
        <p:spPr>
          <a:xfrm>
            <a:off x="640080" y="129844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מילים מהשיר שמתארות את היום ההוא ואת מה שבא אחריו</a:t>
            </a:r>
            <a:endParaRPr lang="he-IL" sz="2000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362895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45000"/>
              </a:lnSpc>
              <a:buNone/>
            </a:pPr>
            <a:r>
              <a:rPr lang="he-IL" altLang="en-US" sz="40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שביעי לאוקטובר</a:t>
            </a:r>
            <a:r>
              <a:rPr lang="he-IL" altLang="en-US" sz="4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   ·   </a:t>
            </a:r>
            <a:r>
              <a:rPr lang="he-IL" altLang="en-US" sz="40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העשן עלה מהבתים</a:t>
            </a:r>
            <a:r>
              <a:rPr lang="he-IL" altLang="en-US" sz="4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   ·   </a:t>
            </a:r>
            <a:r>
              <a:rPr lang="he-IL" altLang="en-US" sz="40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המוות שרדף</a:t>
            </a:r>
            <a:r>
              <a:rPr lang="he-IL" altLang="en-US" sz="4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   ·   </a:t>
            </a:r>
            <a:r>
              <a:rPr lang="he-IL" altLang="en-US" sz="40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לגבולות הבוערים</a:t>
            </a:r>
            <a:r>
              <a:rPr lang="he-IL" altLang="en-US" sz="4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   ·   </a:t>
            </a:r>
            <a:r>
              <a:rPr lang="he-IL" altLang="en-US" sz="40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חיילים דוהרים</a:t>
            </a:r>
            <a:r>
              <a:rPr lang="he-IL" altLang="en-US" sz="4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   ·   </a:t>
            </a:r>
            <a:r>
              <a:rPr lang="he-IL" altLang="en-US" sz="40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שבויים</a:t>
            </a:r>
            <a:r>
              <a:rPr lang="he-IL" altLang="en-US" sz="4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   ·   </a:t>
            </a:r>
            <a:r>
              <a:rPr lang="he-IL" altLang="en-US" sz="40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חטוף חוזר</a:t>
            </a:r>
            <a:r>
              <a:rPr lang="he-IL" altLang="en-US" sz="40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   ·   </a:t>
            </a:r>
            <a:r>
              <a:rPr lang="he-IL" altLang="en-US" sz="40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האויב</a:t>
            </a:r>
            <a:endParaRPr lang="he-IL" sz="4000"/>
          </a:p>
        </p:txBody>
      </p:sp>
      <p:sp>
        <p:nvSpPr>
          <p:cNvPr id="6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39E98"/>
                </a:solidFill>
                <a:latin typeface="IBM Plex Sans Hebrew"/>
                <a:cs typeface="IBM Plex Sans Hebrew"/>
              </a:rPr>
              <a:t>07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Event photo" descr="ph_ev_niryitzhak.jpg"/>
          <p:cNvPicPr>
            <a:picLocks noChangeAspect="1"/>
          </p:cNvPicPr>
          <p:nvPr/>
        </p:nvPicPr>
        <p:blipFill>
          <a:blip r:embed="rId3"/>
          <a:srcRect l="9111" r="9111"/>
          <a:stretch>
            <a:fillRect/>
          </a:stretch>
        </p:blipFill>
        <p:spPr>
          <a:xfrm>
            <a:off x="7985455" y="0"/>
            <a:ext cx="420624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68335" y="6510528"/>
            <a:ext cx="3840479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000" b="0">
                <a:solidFill>
                  <a:srgbClr val="EEEEEE"/>
                </a:solidFill>
                <a:latin typeface="IBM Plex Sans Hebrew"/>
                <a:cs typeface="IBM Plex Sans Hebrew"/>
              </a:rPr>
              <a:t>צילום: Lisahy, ויקישיתוף, CC BY 4.0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640080" y="457200"/>
            <a:ext cx="67967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800" b="0">
                <a:solidFill>
                  <a:srgbClr val="F2EEE9"/>
                </a:solidFill>
                <a:latin typeface="IBM Plex Sans Hebrew ExtraLight"/>
                <a:cs typeface="IBM Plex Sans Hebrew ExtraLight"/>
              </a:rPr>
              <a:t>האירועים שהמילים מעוררות</a:t>
            </a:r>
            <a:endParaRPr lang="he-IL" sz="3800"/>
          </a:p>
        </p:txBody>
      </p:sp>
      <p:sp>
        <p:nvSpPr>
          <p:cNvPr id="6" name="TextBox 5"/>
          <p:cNvSpPr txBox="1"/>
          <p:nvPr/>
        </p:nvSpPr>
        <p:spPr>
          <a:xfrm>
            <a:off x="6796735" y="14173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1</a:t>
            </a:r>
            <a:endParaRPr lang="he-IL" sz="3400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2703F"/>
                </a:solidFill>
                <a:latin typeface="IBM Plex Sans Hebrew"/>
                <a:cs typeface="IBM Plex Sans Hebrew"/>
              </a:rPr>
              <a:t>7.10.2023  </a:t>
            </a:r>
            <a:r>
              <a:rPr lang="he-IL" altLang="en-US" sz="21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מיה לימברג ואמה מבקרות קרובי משפחה בקיבוץ ניר יצחק.</a:t>
            </a:r>
            <a:endParaRPr lang="he-IL" sz="2100"/>
          </a:p>
        </p:txBody>
      </p:sp>
      <p:sp>
        <p:nvSpPr>
          <p:cNvPr id="8" name="TextBox 7"/>
          <p:cNvSpPr txBox="1"/>
          <p:nvPr/>
        </p:nvSpPr>
        <p:spPr>
          <a:xfrm>
            <a:off x="6796735" y="2286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2</a:t>
            </a:r>
            <a:endParaRPr lang="he-IL" sz="3400"/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2703F"/>
                </a:solidFill>
                <a:latin typeface="IBM Plex Sans Hebrew"/>
                <a:cs typeface="IBM Plex Sans Hebrew"/>
              </a:rPr>
              <a:t>החטיפה  </a:t>
            </a:r>
            <a:r>
              <a:rPr lang="he-IL" altLang="en-US" sz="21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הן נחטפות לעזה, יחד עם קרובים ועם הכלבה של מיה.</a:t>
            </a:r>
            <a:endParaRPr lang="he-IL" sz="2100"/>
          </a:p>
        </p:txBody>
      </p:sp>
      <p:sp>
        <p:nvSpPr>
          <p:cNvPr id="10" name="TextBox 9"/>
          <p:cNvSpPr txBox="1"/>
          <p:nvPr/>
        </p:nvSpPr>
        <p:spPr>
          <a:xfrm>
            <a:off x="6796735" y="315468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3</a:t>
            </a:r>
            <a:endParaRPr lang="he-IL" sz="3400"/>
          </a:p>
        </p:txBody>
      </p:sp>
      <p:sp>
        <p:nvSpPr>
          <p:cNvPr id="11" name="TextBox 10"/>
          <p:cNvSpPr txBox="1"/>
          <p:nvPr/>
        </p:nvSpPr>
        <p:spPr>
          <a:xfrm>
            <a:off x="640080" y="320040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2703F"/>
                </a:solidFill>
                <a:latin typeface="IBM Plex Sans Hebrew"/>
                <a:cs typeface="IBM Plex Sans Hebrew"/>
              </a:rPr>
              <a:t>28.11.2023  </a:t>
            </a:r>
            <a:r>
              <a:rPr lang="he-IL" altLang="en-US" sz="21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אחרי 53 ימים בשבי הן משתחררות בעסקת החטופים.</a:t>
            </a:r>
            <a:endParaRPr lang="he-IL" sz="2100"/>
          </a:p>
        </p:txBody>
      </p:sp>
      <p:sp>
        <p:nvSpPr>
          <p:cNvPr id="12" name="TextBox 11"/>
          <p:cNvSpPr txBox="1"/>
          <p:nvPr/>
        </p:nvSpPr>
        <p:spPr>
          <a:xfrm>
            <a:off x="6796735" y="4023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4</a:t>
            </a:r>
            <a:endParaRPr lang="he-IL" sz="3400"/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2703F"/>
                </a:solidFill>
                <a:latin typeface="IBM Plex Sans Hebrew"/>
                <a:cs typeface="IBM Plex Sans Hebrew"/>
              </a:rPr>
              <a:t>המפגש  </a:t>
            </a:r>
            <a:r>
              <a:rPr lang="he-IL" altLang="en-US" sz="21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גפן כותב לאבא של מיה ומזמין אותה לשיר איתו.</a:t>
            </a:r>
            <a:endParaRPr lang="he-IL" sz="2100"/>
          </a:p>
        </p:txBody>
      </p:sp>
      <p:sp>
        <p:nvSpPr>
          <p:cNvPr id="14" name="TextBox 13"/>
          <p:cNvSpPr txBox="1"/>
          <p:nvPr/>
        </p:nvSpPr>
        <p:spPr>
          <a:xfrm>
            <a:off x="6796735" y="48920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5</a:t>
            </a:r>
            <a:endParaRPr lang="he-IL" sz="3400"/>
          </a:p>
        </p:txBody>
      </p:sp>
      <p:sp>
        <p:nvSpPr>
          <p:cNvPr id="15" name="TextBox 14"/>
          <p:cNvSpPr txBox="1"/>
          <p:nvPr/>
        </p:nvSpPr>
        <p:spPr>
          <a:xfrm>
            <a:off x="640080" y="493776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2703F"/>
                </a:solidFill>
                <a:latin typeface="IBM Plex Sans Hebrew"/>
                <a:cs typeface="IBM Plex Sans Hebrew"/>
              </a:rPr>
              <a:t>20.12.2023  </a:t>
            </a:r>
            <a:r>
              <a:rPr lang="he-IL" altLang="en-US" sz="2100" b="0">
                <a:solidFill>
                  <a:srgbClr val="F2EEE9"/>
                </a:solidFill>
                <a:latin typeface="IBM Plex Sans Hebrew Light"/>
                <a:cs typeface="IBM Plex Sans Hebrew Light"/>
              </a:rPr>
              <a:t>״זריחה שחורה״ יוצא, ומגיע למקום 6 במדיה פורסט.</a:t>
            </a:r>
            <a:endParaRPr lang="he-IL" sz="2100"/>
          </a:p>
        </p:txBody>
      </p:sp>
      <p:sp>
        <p:nvSpPr>
          <p:cNvPr id="16" name="TextBox 15"/>
          <p:cNvSpPr txBox="1"/>
          <p:nvPr/>
        </p:nvSpPr>
        <p:spPr>
          <a:xfrm>
            <a:off x="640080" y="5806440"/>
            <a:ext cx="67967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buNone/>
            </a:pPr>
            <a:r>
              <a:rPr lang="he-IL" altLang="en-US" sz="1600" b="0">
                <a:solidFill>
                  <a:srgbClr val="A39E98"/>
                </a:solidFill>
                <a:latin typeface="IBM Plex Sans Hebrew Light"/>
                <a:cs typeface="IBM Plex Sans Hebrew Light"/>
              </a:rPr>
              <a:t>דלת מרפסת בקיבוץ ניר יצחק שנפגעה מירי בטבח. מכאן נחטפו מיה ואמה.</a:t>
            </a:r>
            <a:endParaRPr lang="he-IL" sz="1600"/>
          </a:p>
        </p:txBody>
      </p:sp>
      <p:sp>
        <p:nvSpPr>
          <p:cNvPr id="1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39E98"/>
                </a:solidFill>
                <a:latin typeface="IBM Plex Sans Hebrew"/>
                <a:cs typeface="IBM Plex Sans Hebrew"/>
              </a:rPr>
              <a:t>08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1280160"/>
            <a:ext cx="10911535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600" b="0">
                <a:solidFill>
                  <a:srgbClr val="F2EEE9"/>
                </a:solidFill>
                <a:latin typeface="IBM Plex Sans Hebrew"/>
                <a:cs typeface="IBM Plex Sans Hebrew"/>
              </a:rPr>
              <a:t>בזריחה רגילה האור מנצח את החושך.</a:t>
            </a:r>
            <a:endParaRPr lang="he-IL" sz="36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4000" b="0">
                <a:solidFill>
                  <a:srgbClr val="F2703F"/>
                </a:solidFill>
                <a:latin typeface="IBM Plex Sans Hebrew ExtraLight"/>
                <a:cs typeface="IBM Plex Sans Hebrew ExtraLight"/>
              </a:rPr>
              <a:t>ב״זריחה שחורה״ החושך נשאר,</a:t>
            </a:r>
            <a:endParaRPr lang="he-IL" sz="40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400" b="0">
                <a:solidFill>
                  <a:srgbClr val="F2EEE9"/>
                </a:solidFill>
                <a:latin typeface="IBM Plex Sans Hebrew ExtraLight"/>
                <a:cs typeface="IBM Plex Sans Hebrew ExtraLight"/>
              </a:rPr>
              <a:t>אבל מיה ששרה אחרי השבי היא האור.</a:t>
            </a:r>
            <a:endParaRPr lang="he-IL" sz="3400"/>
          </a:p>
        </p:txBody>
      </p:sp>
      <p:sp>
        <p:nvSpPr>
          <p:cNvPr id="4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39E98"/>
                </a:solidFill>
                <a:latin typeface="IBM Plex Sans Hebrew"/>
                <a:cs typeface="IBM Plex Sans Hebrew"/>
              </a:rPr>
              <a:t>09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