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1800" b="0">
                <a:solidFill>
                  <a:srgbClr val="E5503F"/>
                </a:solidFill>
                <a:latin typeface="Assistant"/>
                <a:cs typeface="Assistant"/>
              </a:rPr>
              <a:t>הערכה חלופית בספרות · שכבה ט׳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40080" y="1417320"/>
            <a:ext cx="10911535" cy="23774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he-IL" altLang="en-US" sz="12000" b="0">
                <a:solidFill>
                  <a:srgbClr val="EEF0E8"/>
                </a:solidFill>
                <a:latin typeface="David Libre"/>
                <a:cs typeface="David Libre"/>
              </a:rPr>
              <a:t>פורחים לשובם</a:t>
            </a:r>
            <a:endParaRPr lang="he-IL" sz="12000"/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3400" b="0">
                <a:solidFill>
                  <a:srgbClr val="E5503F"/>
                </a:solidFill>
                <a:latin typeface="David Libre"/>
                <a:cs typeface="David Libre"/>
              </a:rPr>
              <a:t>ישי ריבו</a:t>
            </a:r>
            <a:endParaRPr lang="he-IL" sz="3400"/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2200" b="0">
                <a:solidFill>
                  <a:srgbClr val="A6B2A3"/>
                </a:solidFill>
                <a:latin typeface="Assistant Light"/>
                <a:cs typeface="Assistant Light"/>
              </a:rPr>
              <a:t>שיר על דמעות שהופכות לפרחים</a:t>
            </a:r>
            <a:endParaRPr lang="he-IL" sz="2200"/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2000" b="0">
                <a:solidFill>
                  <a:srgbClr val="A6B2A3"/>
                </a:solidFill>
                <a:latin typeface="Assistant Light"/>
                <a:cs typeface="Assistant Light"/>
              </a:rPr>
              <a:t>שמות המגישים</a:t>
            </a:r>
            <a:endParaRPr lang="he-IL" sz="20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EEF0E8"/>
                </a:solidFill>
                <a:latin typeface="David Libre"/>
                <a:cs typeface="David Libre"/>
              </a:rPr>
              <a:t>הקטע שבחרנו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629400" y="1417320"/>
            <a:ext cx="4922215" cy="914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E5503F"/>
                </a:solidFill>
                <a:latin typeface="David Libre"/>
                <a:cs typeface="David Libre"/>
              </a:rPr>
              <a:t>״</a:t>
            </a:r>
            <a:endParaRPr lang="he-IL" sz="9600"/>
          </a:p>
        </p:txBody>
      </p:sp>
      <p:sp>
        <p:nvSpPr>
          <p:cNvPr id="5" name="TextBox 4"/>
          <p:cNvSpPr txBox="1"/>
          <p:nvPr/>
        </p:nvSpPr>
        <p:spPr>
          <a:xfrm>
            <a:off x="6629400" y="2240280"/>
            <a:ext cx="4922215" cy="3108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EEF0E8"/>
                </a:solidFill>
                <a:latin typeface="David Libre"/>
                <a:cs typeface="David Libre"/>
              </a:rPr>
              <a:t>כל הדמעות</a:t>
            </a:r>
            <a:endParaRPr lang="he-IL" sz="28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EEF0E8"/>
                </a:solidFill>
                <a:latin typeface="David Libre"/>
                <a:cs typeface="David Libre"/>
              </a:rPr>
              <a:t>הכאב שבקעו מהלב</a:t>
            </a:r>
            <a:endParaRPr lang="he-IL" sz="28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EEF0E8"/>
                </a:solidFill>
                <a:latin typeface="David Libre"/>
                <a:cs typeface="David Libre"/>
              </a:rPr>
              <a:t>עוד </a:t>
            </a:r>
            <a:r>
              <a:rPr lang="he-IL" altLang="en-US" sz="2800" b="0">
                <a:solidFill>
                  <a:srgbClr val="E5503F"/>
                </a:solidFill>
                <a:latin typeface="David Libre"/>
                <a:cs typeface="David Libre"/>
              </a:rPr>
              <a:t>יצמיחו עולם</a:t>
            </a:r>
            <a:endParaRPr lang="he-IL" sz="28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EEF0E8"/>
                </a:solidFill>
                <a:latin typeface="David Libre"/>
                <a:cs typeface="David Libre"/>
              </a:rPr>
              <a:t>שדות פרדסים של אמת </a:t>
            </a:r>
            <a:r>
              <a:rPr lang="he-IL" altLang="en-US" sz="2800" b="0">
                <a:solidFill>
                  <a:srgbClr val="E5503F"/>
                </a:solidFill>
                <a:latin typeface="David Libre"/>
                <a:cs typeface="David Libre"/>
              </a:rPr>
              <a:t>כלנית ושקד</a:t>
            </a:r>
            <a:endParaRPr lang="he-IL" sz="28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EEF0E8"/>
                </a:solidFill>
                <a:latin typeface="David Libre"/>
                <a:cs typeface="David Libre"/>
              </a:rPr>
              <a:t>יפרחו לשובם</a:t>
            </a:r>
            <a:endParaRPr lang="he-IL" sz="2800"/>
          </a:p>
        </p:txBody>
      </p:sp>
      <p:sp>
        <p:nvSpPr>
          <p:cNvPr id="6" name="TextBox 5"/>
          <p:cNvSpPr txBox="1"/>
          <p:nvPr/>
        </p:nvSpPr>
        <p:spPr>
          <a:xfrm>
            <a:off x="6629400" y="5669280"/>
            <a:ext cx="492221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A6B2A3"/>
                </a:solidFill>
                <a:latin typeface="Assistant Light"/>
                <a:cs typeface="Assistant Light"/>
              </a:rPr>
              <a:t>״פורחים לשובם״, ישי ריבו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E5503F"/>
                </a:solidFill>
                <a:latin typeface="Assistant SemiBold"/>
                <a:cs typeface="Assistant SemiBold"/>
              </a:rPr>
              <a:t>למה בחרנו בקטע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זה הפזמון, והוא מסכם את כל השיר. ריבו מדמיין שהדמעות משקות אדמה, ושמהן יצמחו כלניות ושקדים. הכאב לא נעלם, אבל הוא הופך למשהו שצומח.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E5503F"/>
                </a:solidFill>
                <a:latin typeface="Assistant SemiBold"/>
                <a:cs typeface="Assistant SemiBold"/>
              </a:rPr>
              <a:t>החיבור האישי שלנו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אהבנו את הרעיון שדמעות יכולות ״להצמיח עולם״. בכל חורף פורחות הכלניות בדרום, והשיר גרם לנו לראות בהן סימן לתקווה ולחזרה הביתה.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6B2A3"/>
                </a:solidFill>
                <a:latin typeface="Assistant"/>
                <a:cs typeface="Assistant"/>
              </a:rPr>
              <a:t>02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ribo.jpg"/>
          <p:cNvPicPr>
            <a:picLocks noChangeAspect="1"/>
          </p:cNvPicPr>
          <p:nvPr/>
        </p:nvPicPr>
        <p:blipFill>
          <a:blip r:embed="rId3"/>
          <a:srcRect l="4527" r="4527"/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6510528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EEEEEE"/>
                </a:solidFill>
                <a:latin typeface="Assistant"/>
                <a:cs typeface="Assistant"/>
              </a:rPr>
              <a:t>צילום: סלי בן אריה, ויקישיתוף, CC BY-SA 3.0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4892040" y="457200"/>
            <a:ext cx="66595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EEF0E8"/>
                </a:solidFill>
                <a:latin typeface="David Libre"/>
                <a:cs typeface="David Libre"/>
              </a:rPr>
              <a:t>ישי ריבו</a:t>
            </a:r>
            <a:endParaRPr lang="he-IL" sz="4400"/>
          </a:p>
        </p:txBody>
      </p:sp>
      <p:sp>
        <p:nvSpPr>
          <p:cNvPr id="6" name="TextBox 5"/>
          <p:cNvSpPr txBox="1"/>
          <p:nvPr/>
        </p:nvSpPr>
        <p:spPr>
          <a:xfrm>
            <a:off x="10317175" y="15544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E5503F"/>
                </a:solidFill>
                <a:latin typeface="David Libre"/>
                <a:cs typeface="David Libre"/>
              </a:rPr>
              <a:t>1989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4892040" y="1572768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נולד במרסיי שבצרפת, ועלה לארץ עם משפחתו בגיל שמונה וחצי.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92040" y="2395728"/>
            <a:ext cx="6659575" cy="0"/>
          </a:xfrm>
          <a:prstGeom prst="line">
            <a:avLst/>
          </a:prstGeom>
          <a:ln w="9525">
            <a:solidFill>
              <a:srgbClr val="2E4034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17175" y="250545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E5503F"/>
                </a:solidFill>
                <a:latin typeface="David Libre"/>
                <a:cs typeface="David Libre"/>
              </a:rPr>
              <a:t>2014</a:t>
            </a:r>
            <a:endParaRPr lang="he-IL" sz="2400"/>
          </a:p>
        </p:txBody>
      </p:sp>
      <p:sp>
        <p:nvSpPr>
          <p:cNvPr id="10" name="TextBox 9"/>
          <p:cNvSpPr txBox="1"/>
          <p:nvPr/>
        </p:nvSpPr>
        <p:spPr>
          <a:xfrm>
            <a:off x="4892040" y="2523744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אלבום הבכורה ״תוכו רצוף אהבה״ הגיע למעמד זהב.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92040" y="3346704"/>
            <a:ext cx="6659575" cy="0"/>
          </a:xfrm>
          <a:prstGeom prst="line">
            <a:avLst/>
          </a:prstGeom>
          <a:ln w="9525">
            <a:solidFill>
              <a:srgbClr val="2E4034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17175" y="345643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E5503F"/>
                </a:solidFill>
                <a:latin typeface="David Libre"/>
                <a:cs typeface="David Libre"/>
              </a:rPr>
              <a:t>2017</a:t>
            </a:r>
            <a:endParaRPr lang="he-IL" sz="2400"/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הופיע בטקס הדלקת המשואות ביום העצמאות, ושוב ב-2023.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92040" y="4297680"/>
            <a:ext cx="6659575" cy="0"/>
          </a:xfrm>
          <a:prstGeom prst="line">
            <a:avLst/>
          </a:prstGeom>
          <a:ln w="9525">
            <a:solidFill>
              <a:srgbClr val="2E4034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17175" y="440740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E5503F"/>
                </a:solidFill>
                <a:latin typeface="David Libre"/>
                <a:cs typeface="David Libre"/>
              </a:rPr>
              <a:t>2019</a:t>
            </a:r>
            <a:endParaRPr lang="he-IL" sz="2400"/>
          </a:p>
        </p:txBody>
      </p:sp>
      <p:sp>
        <p:nvSpPr>
          <p:cNvPr id="16" name="TextBox 15"/>
          <p:cNvSpPr txBox="1"/>
          <p:nvPr/>
        </p:nvSpPr>
        <p:spPr>
          <a:xfrm>
            <a:off x="4892040" y="4425696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קיבל את פרס משרד החינוך לתרבות יהודית במוזיקה.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92040" y="5248656"/>
            <a:ext cx="6659575" cy="0"/>
          </a:xfrm>
          <a:prstGeom prst="line">
            <a:avLst/>
          </a:prstGeom>
          <a:ln w="9525">
            <a:solidFill>
              <a:srgbClr val="2E4034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17175" y="53583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E5503F"/>
                </a:solidFill>
                <a:latin typeface="David Libre"/>
                <a:cs typeface="David Libre"/>
              </a:rPr>
              <a:t>2023</a:t>
            </a:r>
            <a:endParaRPr lang="he-IL" sz="2400"/>
          </a:p>
        </p:txBody>
      </p:sp>
      <p:sp>
        <p:nvSpPr>
          <p:cNvPr id="19" name="TextBox 18"/>
          <p:cNvSpPr txBox="1"/>
          <p:nvPr/>
        </p:nvSpPr>
        <p:spPr>
          <a:xfrm>
            <a:off x="4892040" y="5376672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היה הזמר הישראלי הראשון שהופיע במדיסון סקוור גארדן.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489204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6B2A3"/>
                </a:solidFill>
                <a:latin typeface="Assistant"/>
                <a:cs typeface="Assistant"/>
              </a:rPr>
              <a:t>03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EEF0E8"/>
                </a:solidFill>
                <a:latin typeface="David Libre"/>
                <a:cs typeface="David Libre"/>
              </a:rPr>
              <a:t>מילות השיר</a:t>
            </a:r>
            <a:endParaRPr lang="he-IL" sz="4400"/>
          </a:p>
        </p:txBody>
      </p:sp>
      <p:sp>
        <p:nvSpPr>
          <p:cNvPr id="4" name="Lyrics placeholder"/>
          <p:cNvSpPr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  <a:ln w="15875">
            <a:solidFill>
              <a:srgbClr val="2E4034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" name="Lyrics"/>
          <p:cNvSpPr txBox="1"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spcAft>
                <a:spcPts val="800"/>
              </a:spcAft>
              <a:buNone/>
            </a:pPr>
            <a:r>
              <a:rPr lang="he-IL" altLang="en-US" sz="2600" b="0">
                <a:solidFill>
                  <a:srgbClr val="A6B2A3"/>
                </a:solidFill>
                <a:latin typeface="David Libre"/>
                <a:cs typeface="David Libre"/>
              </a:rPr>
              <a:t>כאן יודבקו מילות השיר המלאות</a:t>
            </a:r>
            <a:endParaRPr lang="he-IL" sz="2600"/>
          </a:p>
          <a:p>
            <a:pPr algn="ctr" rtl="1">
              <a:buNone/>
            </a:pPr>
            <a:r>
              <a:rPr lang="he-IL" altLang="en-US" sz="1800" b="0">
                <a:solidFill>
                  <a:srgbClr val="A6B2A3"/>
                </a:solidFill>
                <a:latin typeface="Assistant Light"/>
                <a:cs typeface="Assistant Light"/>
              </a:rPr>
              <a:t>לפי חלוקת הבתים והשורות המקורית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400" b="0">
                <a:solidFill>
                  <a:srgbClr val="A6B2A3"/>
                </a:solidFill>
                <a:latin typeface="Assistant Light"/>
                <a:cs typeface="Assistant Light"/>
              </a:rPr>
              <a:t>מילים: ישי ריבו · לחן: ישי ריבו ומאור שושן · יצא ב-11 במרץ 2024</a:t>
            </a:r>
            <a:endParaRPr lang="he-IL" sz="14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6B2A3"/>
                </a:solidFill>
                <a:latin typeface="Assistant"/>
                <a:cs typeface="Assistant"/>
              </a:rPr>
              <a:t>04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A6B2A3"/>
                </a:solidFill>
                <a:latin typeface="Assistant SemiBold"/>
                <a:cs typeface="Assistant SemiBold"/>
              </a:rPr>
              <a:t>מושג ראשון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600" b="0">
                <a:solidFill>
                  <a:srgbClr val="E5503F"/>
                </a:solidFill>
                <a:latin typeface="David Libre"/>
                <a:cs typeface="David Libre"/>
              </a:rPr>
              <a:t>מטאפורה</a:t>
            </a:r>
            <a:endParaRPr lang="he-IL" sz="56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83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he-IL" altLang="en-US" sz="2200" b="0">
                <a:solidFill>
                  <a:srgbClr val="A6B2A3"/>
                </a:solidFill>
                <a:latin typeface="Assistant SemiBold"/>
                <a:cs typeface="Assistant SemiBold"/>
              </a:rPr>
              <a:t>הגדרה: </a:t>
            </a: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תיאור של דבר אחד באמצעות דבר מעולם אחר, בלי מילת דימוי כמו ״כמו״ או ״כְּ״.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000" b="0">
                <a:solidFill>
                  <a:srgbClr val="E5503F"/>
                </a:solidFill>
                <a:latin typeface="David Libre"/>
                <a:cs typeface="David Libre"/>
              </a:rPr>
              <a:t>״</a:t>
            </a:r>
            <a:endParaRPr lang="he-IL" sz="90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766560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EEF0E8"/>
                </a:solidFill>
                <a:latin typeface="David Libre"/>
                <a:cs typeface="David Libre"/>
              </a:rPr>
              <a:t>כל הדמעות</a:t>
            </a:r>
            <a:endParaRPr lang="he-IL" sz="32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EEF0E8"/>
                </a:solidFill>
                <a:latin typeface="David Libre"/>
                <a:cs typeface="David Libre"/>
              </a:rPr>
              <a:t>עוד </a:t>
            </a:r>
            <a:r>
              <a:rPr lang="he-IL" altLang="en-US" sz="3200" b="0">
                <a:solidFill>
                  <a:srgbClr val="E5503F"/>
                </a:solidFill>
                <a:latin typeface="David Libre"/>
                <a:cs typeface="David Libre"/>
              </a:rPr>
              <a:t>יצמיחו עולם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114800"/>
            <a:ext cx="10911535" cy="0"/>
          </a:xfrm>
          <a:prstGeom prst="line">
            <a:avLst/>
          </a:prstGeom>
          <a:ln w="9525">
            <a:solidFill>
              <a:srgbClr val="2E4034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343400"/>
            <a:ext cx="5196535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E5503F"/>
                </a:solidFill>
                <a:latin typeface="Assistant SemiBold"/>
                <a:cs typeface="Assistant SemiBol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הדמעות מתוארות כמו מים שמשקים אדמה. מתוך הבכי צומח ״עולם״ של שדות ופרדסים.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5257800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E5503F"/>
                </a:solidFill>
                <a:latin typeface="Assistant SemiBold"/>
                <a:cs typeface="Assistant SemiBol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המטאפורה הופכת את הכאב למשהו שיש בו חיים. היא נותנת תקווה בלי להגיד שהכאב לא היה.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6B2A3"/>
                </a:solidFill>
                <a:latin typeface="Assistant"/>
                <a:cs typeface="Assistant"/>
              </a:rPr>
              <a:t>05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A6B2A3"/>
                </a:solidFill>
                <a:latin typeface="Assistant SemiBold"/>
                <a:cs typeface="Assistant SemiBold"/>
              </a:rPr>
              <a:t>מושג שני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600" b="0">
                <a:solidFill>
                  <a:srgbClr val="E5503F"/>
                </a:solidFill>
                <a:latin typeface="David Libre"/>
                <a:cs typeface="David Libre"/>
              </a:rPr>
              <a:t>שיבוץ</a:t>
            </a:r>
            <a:endParaRPr lang="he-IL" sz="56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83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he-IL" altLang="en-US" sz="2200" b="0">
                <a:solidFill>
                  <a:srgbClr val="A6B2A3"/>
                </a:solidFill>
                <a:latin typeface="Assistant SemiBold"/>
                <a:cs typeface="Assistant SemiBold"/>
              </a:rPr>
              <a:t>הגדרה: </a:t>
            </a: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שילוב של ביטוי מוכר מהמקורות, כמו התנ״ך או התפילה, בתוך השיר.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000" b="0">
                <a:solidFill>
                  <a:srgbClr val="E5503F"/>
                </a:solidFill>
                <a:latin typeface="David Libre"/>
                <a:cs typeface="David Libre"/>
              </a:rPr>
              <a:t>״</a:t>
            </a:r>
            <a:endParaRPr lang="he-IL" sz="90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766560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E5503F"/>
                </a:solidFill>
                <a:latin typeface="David Libre"/>
                <a:cs typeface="David Libre"/>
              </a:rPr>
              <a:t>שועלים חיבלו בכרם</a:t>
            </a:r>
            <a:endParaRPr lang="he-IL" sz="32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EEF0E8"/>
                </a:solidFill>
                <a:latin typeface="David Libre"/>
                <a:cs typeface="David Libre"/>
              </a:rPr>
              <a:t>לקחו תגוף אך לא תצלם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114800"/>
            <a:ext cx="10911535" cy="0"/>
          </a:xfrm>
          <a:prstGeom prst="line">
            <a:avLst/>
          </a:prstGeom>
          <a:ln w="9525">
            <a:solidFill>
              <a:srgbClr val="2E4034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343400"/>
            <a:ext cx="5196535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E5503F"/>
                </a:solidFill>
                <a:latin typeface="Assistant SemiBold"/>
                <a:cs typeface="Assistant SemiBol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השורה מזכירה את שיר השירים, ״שועלים קטנים מחבלים כרמים״. גם ״היום תאמצנו״ לקוח מתפילת הימים הנוראים.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5257800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E5503F"/>
                </a:solidFill>
                <a:latin typeface="Assistant SemiBold"/>
                <a:cs typeface="Assistant SemiBol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EEF0E8"/>
                </a:solidFill>
                <a:latin typeface="Assistant Light"/>
                <a:cs typeface="Assistant Light"/>
              </a:rPr>
              <a:t>השיבוץ מחבר את המלחמה לסיפור היהודי הארוך. השועלים הם האויב, והכרם הוא הארץ שנפגעה.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6B2A3"/>
                </a:solidFill>
                <a:latin typeface="Assistant"/>
                <a:cs typeface="Assistant"/>
              </a:rPr>
              <a:t>06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EEF0E8"/>
                </a:solidFill>
                <a:latin typeface="David Libre"/>
                <a:cs typeface="David Libre"/>
              </a:rPr>
              <a:t>מילים שמעוררות את המלחמה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A6B2A3"/>
                </a:solidFill>
                <a:latin typeface="Assistant Light"/>
                <a:cs typeface="Assistant Light"/>
              </a:rPr>
              <a:t>מילים מהשיר שמזכירות את הבוקר של שמחת תורה ואת מה שבא אחריו</a:t>
            </a:r>
            <a:endParaRPr lang="he-IL" sz="2000"/>
          </a:p>
        </p:txBody>
      </p:sp>
      <p:sp>
        <p:nvSpPr>
          <p:cNvPr id="5" name="TextBox 4"/>
          <p:cNvSpPr txBox="1"/>
          <p:nvPr/>
        </p:nvSpPr>
        <p:spPr>
          <a:xfrm>
            <a:off x="5872581" y="2000249"/>
            <a:ext cx="5679033" cy="981456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152" b="0">
                <a:solidFill>
                  <a:srgbClr val="E5503F"/>
                </a:solidFill>
                <a:latin typeface="David Libre"/>
                <a:cs typeface="David Libre"/>
              </a:rPr>
              <a:t>בוקר שמיני עצרת</a:t>
            </a:r>
            <a:endParaRPr lang="he-IL" sz="5152"/>
          </a:p>
        </p:txBody>
      </p:sp>
      <p:sp>
        <p:nvSpPr>
          <p:cNvPr id="6" name="TextBox 5"/>
          <p:cNvSpPr txBox="1"/>
          <p:nvPr/>
        </p:nvSpPr>
        <p:spPr>
          <a:xfrm>
            <a:off x="1908799" y="2304287"/>
            <a:ext cx="3415141" cy="665988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96" b="0">
                <a:solidFill>
                  <a:srgbClr val="EEF0E8"/>
                </a:solidFill>
                <a:latin typeface="David Libre"/>
                <a:cs typeface="David Libre"/>
              </a:rPr>
              <a:t>הזמן עצר מלכת</a:t>
            </a:r>
            <a:endParaRPr lang="he-IL" sz="3496"/>
          </a:p>
        </p:txBody>
      </p:sp>
      <p:sp>
        <p:nvSpPr>
          <p:cNvPr id="7" name="TextBox 6"/>
          <p:cNvSpPr txBox="1"/>
          <p:nvPr/>
        </p:nvSpPr>
        <p:spPr>
          <a:xfrm>
            <a:off x="6017341" y="3118865"/>
            <a:ext cx="5077073" cy="771144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48" b="0">
                <a:solidFill>
                  <a:srgbClr val="EEF0E8"/>
                </a:solidFill>
                <a:latin typeface="David Libre"/>
                <a:cs typeface="David Libre"/>
              </a:rPr>
              <a:t>שועלים חיבלו בכרם</a:t>
            </a:r>
            <a:endParaRPr lang="he-IL" sz="4048"/>
          </a:p>
        </p:txBody>
      </p:sp>
      <p:sp>
        <p:nvSpPr>
          <p:cNvPr id="8" name="TextBox 7"/>
          <p:cNvSpPr txBox="1"/>
          <p:nvPr/>
        </p:nvSpPr>
        <p:spPr>
          <a:xfrm>
            <a:off x="4343623" y="3335273"/>
            <a:ext cx="1125077" cy="630936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312" b="0">
                <a:solidFill>
                  <a:srgbClr val="EEF0E8"/>
                </a:solidFill>
                <a:latin typeface="David Libre"/>
                <a:cs typeface="David Libre"/>
              </a:rPr>
              <a:t>ההלם</a:t>
            </a:r>
            <a:endParaRPr lang="he-IL" sz="3312"/>
          </a:p>
        </p:txBody>
      </p:sp>
      <p:sp>
        <p:nvSpPr>
          <p:cNvPr id="9" name="TextBox 8"/>
          <p:cNvSpPr txBox="1"/>
          <p:nvPr/>
        </p:nvSpPr>
        <p:spPr>
          <a:xfrm>
            <a:off x="4657039" y="4027169"/>
            <a:ext cx="6071616" cy="105156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520" b="0">
                <a:solidFill>
                  <a:srgbClr val="E5503F"/>
                </a:solidFill>
                <a:latin typeface="David Libre"/>
                <a:cs typeface="David Libre"/>
              </a:rPr>
              <a:t>גם ברזל וגם חרב</a:t>
            </a:r>
            <a:endParaRPr lang="he-IL" sz="5520"/>
          </a:p>
        </p:txBody>
      </p:sp>
      <p:sp>
        <p:nvSpPr>
          <p:cNvPr id="10" name="TextBox 9"/>
          <p:cNvSpPr txBox="1"/>
          <p:nvPr/>
        </p:nvSpPr>
        <p:spPr>
          <a:xfrm>
            <a:off x="811032" y="4401311"/>
            <a:ext cx="3297367" cy="595884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128" b="0">
                <a:solidFill>
                  <a:srgbClr val="EEF0E8"/>
                </a:solidFill>
                <a:latin typeface="David Libre"/>
                <a:cs typeface="David Libre"/>
              </a:rPr>
              <a:t>שמור על חיילנו</a:t>
            </a:r>
            <a:endParaRPr lang="he-IL" sz="3128"/>
          </a:p>
        </p:txBody>
      </p:sp>
      <p:sp>
        <p:nvSpPr>
          <p:cNvPr id="11" name="TextBox 10"/>
          <p:cNvSpPr txBox="1"/>
          <p:nvPr/>
        </p:nvSpPr>
        <p:spPr>
          <a:xfrm>
            <a:off x="7704632" y="5303519"/>
            <a:ext cx="3846982" cy="70104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680" b="0">
                <a:solidFill>
                  <a:srgbClr val="EEF0E8"/>
                </a:solidFill>
                <a:latin typeface="David Libre"/>
                <a:cs typeface="David Libre"/>
              </a:rPr>
              <a:t>השב את שבויינו</a:t>
            </a:r>
            <a:endParaRPr lang="he-IL" sz="3680"/>
          </a:p>
        </p:txBody>
      </p:sp>
      <p:sp>
        <p:nvSpPr>
          <p:cNvPr id="12" name="TextBox 11"/>
          <p:cNvSpPr txBox="1"/>
          <p:nvPr/>
        </p:nvSpPr>
        <p:spPr>
          <a:xfrm>
            <a:off x="4028744" y="5362193"/>
            <a:ext cx="3127248" cy="876299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600" b="0">
                <a:solidFill>
                  <a:srgbClr val="E5503F"/>
                </a:solidFill>
                <a:latin typeface="David Libre"/>
                <a:cs typeface="David Libre"/>
              </a:rPr>
              <a:t>כל הדמעות</a:t>
            </a:r>
            <a:endParaRPr lang="he-IL" sz="4600"/>
          </a:p>
        </p:txBody>
      </p:sp>
      <p:sp>
        <p:nvSpPr>
          <p:cNvPr id="13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6B2A3"/>
                </a:solidFill>
                <a:latin typeface="Assistant"/>
                <a:cs typeface="Assistant"/>
              </a:rPr>
              <a:t>07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Event photo" descr="ev_daromadom.jpg"/>
          <p:cNvPicPr>
            <a:picLocks noChangeAspect="1"/>
          </p:cNvPicPr>
          <p:nvPr/>
        </p:nvPicPr>
        <p:blipFill>
          <a:blip r:embed="rId3"/>
          <a:srcRect l="7035" r="7035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68335" y="6510528"/>
            <a:ext cx="3840479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EEEEEE"/>
                </a:solidFill>
                <a:latin typeface="Assistant"/>
                <a:cs typeface="Assistant"/>
              </a:rPr>
              <a:t>צילום: שלמה רודד, פיקיוויקי, CC BY 2.5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457200"/>
            <a:ext cx="67967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EEF0E8"/>
                </a:solidFill>
                <a:latin typeface="David Libre"/>
                <a:cs typeface="David Libre"/>
              </a:rPr>
              <a:t>האירועים שהמילים מעוררות</a:t>
            </a:r>
            <a:endParaRPr lang="he-IL" sz="4000"/>
          </a:p>
        </p:txBody>
      </p:sp>
      <p:sp>
        <p:nvSpPr>
          <p:cNvPr id="6" name="TextBox 5"/>
          <p:cNvSpPr txBox="1"/>
          <p:nvPr/>
        </p:nvSpPr>
        <p:spPr>
          <a:xfrm>
            <a:off x="6796735" y="1417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E5503F"/>
                </a:solidFill>
                <a:latin typeface="David Libre"/>
                <a:cs typeface="David Libre"/>
              </a:rPr>
              <a:t>1</a:t>
            </a:r>
            <a:endParaRPr lang="he-IL" sz="3400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E5503F"/>
                </a:solidFill>
                <a:latin typeface="Assistant SemiBold"/>
                <a:cs typeface="Assistant SemiBold"/>
              </a:rPr>
              <a:t>שמיני עצרת  </a:t>
            </a:r>
            <a:r>
              <a:rPr lang="he-IL" altLang="en-US" sz="2100" b="0">
                <a:solidFill>
                  <a:srgbClr val="EEF0E8"/>
                </a:solidFill>
                <a:latin typeface="Assistant Light"/>
                <a:cs typeface="Assistant Light"/>
              </a:rPr>
              <a:t>7 באוקטובר 2023 חל בשמחת תורה. ״בו הזמן עצר מלכת״.</a:t>
            </a:r>
            <a:endParaRPr lang="he-IL" sz="2100"/>
          </a:p>
        </p:txBody>
      </p:sp>
      <p:sp>
        <p:nvSpPr>
          <p:cNvPr id="8" name="TextBox 7"/>
          <p:cNvSpPr txBox="1"/>
          <p:nvPr/>
        </p:nvSpPr>
        <p:spPr>
          <a:xfrm>
            <a:off x="6796735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E5503F"/>
                </a:solidFill>
                <a:latin typeface="David Libre"/>
                <a:cs typeface="David Libre"/>
              </a:rPr>
              <a:t>2</a:t>
            </a:r>
            <a:endParaRPr lang="he-IL" sz="3400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E5503F"/>
                </a:solidFill>
                <a:latin typeface="Assistant SemiBold"/>
                <a:cs typeface="Assistant SemiBold"/>
              </a:rPr>
              <a:t>ההלם  </a:t>
            </a:r>
            <a:r>
              <a:rPr lang="he-IL" altLang="en-US" sz="2100" b="0">
                <a:solidFill>
                  <a:srgbClr val="EEF0E8"/>
                </a:solidFill>
                <a:latin typeface="Assistant Light"/>
                <a:cs typeface="Assistant Light"/>
              </a:rPr>
              <a:t>פורצת מלחמת ״חרבות ברזל״, ובבתי הכנסת מתפללים לשלום החיילים.</a:t>
            </a:r>
            <a:endParaRPr lang="he-IL" sz="2100"/>
          </a:p>
        </p:txBody>
      </p:sp>
      <p:sp>
        <p:nvSpPr>
          <p:cNvPr id="10" name="TextBox 9"/>
          <p:cNvSpPr txBox="1"/>
          <p:nvPr/>
        </p:nvSpPr>
        <p:spPr>
          <a:xfrm>
            <a:off x="6796735" y="3154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E5503F"/>
                </a:solidFill>
                <a:latin typeface="David Libre"/>
                <a:cs typeface="David Libre"/>
              </a:rPr>
              <a:t>3</a:t>
            </a:r>
            <a:endParaRPr lang="he-IL" sz="3400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E5503F"/>
                </a:solidFill>
                <a:latin typeface="Assistant SemiBold"/>
                <a:cs typeface="Assistant SemiBold"/>
              </a:rPr>
              <a:t>הכתיבה  </a:t>
            </a:r>
            <a:r>
              <a:rPr lang="he-IL" altLang="en-US" sz="2100" b="0">
                <a:solidFill>
                  <a:srgbClr val="EEF0E8"/>
                </a:solidFill>
                <a:latin typeface="Assistant Light"/>
                <a:cs typeface="Assistant Light"/>
              </a:rPr>
              <a:t>ריבו כותב את השיר בזמן המלחמה, ומלחין אותו עם מאור שושן.</a:t>
            </a:r>
            <a:endParaRPr lang="he-IL" sz="2100"/>
          </a:p>
        </p:txBody>
      </p:sp>
      <p:sp>
        <p:nvSpPr>
          <p:cNvPr id="12" name="TextBox 11"/>
          <p:cNvSpPr txBox="1"/>
          <p:nvPr/>
        </p:nvSpPr>
        <p:spPr>
          <a:xfrm>
            <a:off x="6796735" y="4023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E5503F"/>
                </a:solidFill>
                <a:latin typeface="David Libre"/>
                <a:cs typeface="David Libre"/>
              </a:rPr>
              <a:t>4</a:t>
            </a:r>
            <a:endParaRPr lang="he-IL" sz="3400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E5503F"/>
                </a:solidFill>
                <a:latin typeface="Assistant SemiBold"/>
                <a:cs typeface="Assistant SemiBold"/>
              </a:rPr>
              <a:t>11.3.2024  </a:t>
            </a:r>
            <a:r>
              <a:rPr lang="he-IL" altLang="en-US" sz="2100" b="0">
                <a:solidFill>
                  <a:srgbClr val="EEF0E8"/>
                </a:solidFill>
                <a:latin typeface="Assistant Light"/>
                <a:cs typeface="Assistant Light"/>
              </a:rPr>
              <a:t>״פורחים לשובם״ יוצא, והשורה ״השב את שבויינו״ הופכת לתפילה.</a:t>
            </a:r>
            <a:endParaRPr lang="he-IL" sz="2100"/>
          </a:p>
        </p:txBody>
      </p:sp>
      <p:sp>
        <p:nvSpPr>
          <p:cNvPr id="14" name="TextBox 13"/>
          <p:cNvSpPr txBox="1"/>
          <p:nvPr/>
        </p:nvSpPr>
        <p:spPr>
          <a:xfrm>
            <a:off x="6796735" y="4892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E5503F"/>
                </a:solidFill>
                <a:latin typeface="David Libre"/>
                <a:cs typeface="David Libre"/>
              </a:rPr>
              <a:t>5</a:t>
            </a:r>
            <a:endParaRPr lang="he-IL" sz="3400"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E5503F"/>
                </a:solidFill>
                <a:latin typeface="Assistant SemiBold"/>
                <a:cs typeface="Assistant SemiBold"/>
              </a:rPr>
              <a:t>ספטמבר 2024  </a:t>
            </a:r>
            <a:r>
              <a:rPr lang="he-IL" altLang="en-US" sz="2100" b="0">
                <a:solidFill>
                  <a:srgbClr val="EEF0E8"/>
                </a:solidFill>
                <a:latin typeface="Assistant Light"/>
                <a:cs typeface="Assistant Light"/>
              </a:rPr>
              <a:t>השיר נכנס לאלבום ״סוף חמה לבוא״, שהושק במדיסון סקוור גארדן.</a:t>
            </a:r>
            <a:endParaRPr lang="he-IL" sz="2100"/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67967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600" b="0">
                <a:solidFill>
                  <a:srgbClr val="A6B2A3"/>
                </a:solidFill>
                <a:latin typeface="Assistant Light"/>
                <a:cs typeface="Assistant Light"/>
              </a:rPr>
              <a:t>כלניות ביער שוקדה, מזרחית לבארי ולעלומים, פברואר 2026. השדות פורחים שוב בעוטף.</a:t>
            </a:r>
            <a:endParaRPr lang="he-IL" sz="1600"/>
          </a:p>
        </p:txBody>
      </p:sp>
      <p:sp>
        <p:nvSpPr>
          <p:cNvPr id="1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6B2A3"/>
                </a:solidFill>
                <a:latin typeface="Assistant"/>
                <a:cs typeface="Assistant"/>
              </a:rPr>
              <a:t>08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280160"/>
            <a:ext cx="10911535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600" b="0">
                <a:solidFill>
                  <a:srgbClr val="EEF0E8"/>
                </a:solidFill>
                <a:latin typeface="Assistant SemiBold"/>
                <a:cs typeface="Assistant SemiBold"/>
              </a:rPr>
              <a:t>ריבו לא מבקש לשכוח את הדמעות.</a:t>
            </a:r>
            <a:endParaRPr lang="he-IL" sz="36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4000" b="0">
                <a:solidFill>
                  <a:srgbClr val="E5503F"/>
                </a:solidFill>
                <a:latin typeface="David Libre"/>
                <a:cs typeface="David Libre"/>
              </a:rPr>
              <a:t>הוא מאמין שמהן יפרחו כלניות,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400" b="0">
                <a:solidFill>
                  <a:srgbClr val="EEF0E8"/>
                </a:solidFill>
                <a:latin typeface="David Libre"/>
                <a:cs typeface="David Libre"/>
              </a:rPr>
              <a:t>ושכל מי שחסר עוד ישוב.</a:t>
            </a:r>
            <a:endParaRPr lang="he-IL" sz="34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6B2A3"/>
                </a:solidFill>
                <a:latin typeface="Assistant"/>
                <a:cs typeface="Assistant"/>
              </a:rPr>
              <a:t>09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