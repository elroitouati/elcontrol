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858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"/>
                <a:cs typeface="Assistant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37160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22000" b="0">
                <a:solidFill>
                  <a:srgbClr val="1E2124"/>
                </a:solidFill>
                <a:latin typeface="Assistant ExtraLight"/>
                <a:cs typeface="Assistant ExtraLight"/>
              </a:rPr>
              <a:t>חלל</a:t>
            </a:r>
            <a:endParaRPr lang="he-IL" sz="22000"/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3557A3"/>
                </a:solidFill>
                <a:latin typeface="Assistant ExtraLight"/>
                <a:cs typeface="Assistant ExtraLight"/>
              </a:rPr>
              <a:t>אביתר בנאי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787D84"/>
                </a:solidFill>
                <a:latin typeface="Assistant Light"/>
                <a:cs typeface="Assistant Light"/>
              </a:rPr>
              <a:t>מילה אחת, שתי משמעויות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787D84"/>
                </a:solidFill>
                <a:latin typeface="Assistant Light"/>
                <a:cs typeface="Assistant Light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E2124"/>
                </a:solidFill>
                <a:latin typeface="Assistant ExtraLight"/>
                <a:cs typeface="Assistant ExtraLight"/>
              </a:rPr>
              <a:t>הקטע שבחרנו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E2124"/>
                </a:solidFill>
                <a:latin typeface="Assistant Light"/>
                <a:cs typeface="Assistant Light"/>
              </a:rPr>
              <a:t>השדה הבוער הלב הזועק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E2124"/>
                </a:solidFill>
                <a:latin typeface="Assistant Light"/>
                <a:cs typeface="Assistant Light"/>
              </a:rPr>
              <a:t>שליחים של האל שהפעם שותק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3557A3"/>
                </a:solidFill>
                <a:latin typeface="Assistant Light"/>
                <a:cs typeface="Assistant Light"/>
              </a:rPr>
              <a:t>ואולי ואלי</a:t>
            </a:r>
            <a:r>
              <a:rPr lang="he-IL" altLang="en-US" sz="2800" b="0">
                <a:solidFill>
                  <a:srgbClr val="1E2124"/>
                </a:solidFill>
                <a:latin typeface="Assistant Light"/>
                <a:cs typeface="Assistant Light"/>
              </a:rPr>
              <a:t> הפעם תורי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E2124"/>
                </a:solidFill>
                <a:latin typeface="Assistant Light"/>
                <a:cs typeface="Assistant Light"/>
              </a:rPr>
              <a:t>אין </a:t>
            </a:r>
            <a:r>
              <a:rPr lang="he-IL" altLang="en-US" sz="2800" b="0">
                <a:solidFill>
                  <a:srgbClr val="3557A3"/>
                </a:solidFill>
                <a:latin typeface="Assistant Light"/>
                <a:cs typeface="Assistant Light"/>
              </a:rPr>
              <a:t>חלל</a:t>
            </a:r>
            <a:r>
              <a:rPr lang="he-IL" altLang="en-US" sz="2800" b="0">
                <a:solidFill>
                  <a:srgbClr val="1E2124"/>
                </a:solidFill>
                <a:latin typeface="Assistant Light"/>
                <a:cs typeface="Assistant Light"/>
              </a:rPr>
              <a:t> ריק בין שירי לביני</a:t>
            </a:r>
            <a:endParaRPr lang="he-IL" sz="2800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l" rtl="1">
              <a:buNone/>
            </a:pPr>
            <a:r>
              <a:rPr lang="he-IL" altLang="en-US" sz="1600" b="0">
                <a:solidFill>
                  <a:srgbClr val="787D84"/>
                </a:solidFill>
                <a:latin typeface="Assistant Light"/>
                <a:cs typeface="Assistant Light"/>
              </a:rPr>
              <a:t>״חלל״, אביתר בנאי</a:t>
            </a:r>
            <a:endParaRPr lang="he-IL" sz="16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3547872"/>
            <a:ext cx="1091153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355080" y="3822191"/>
            <a:ext cx="5196535" cy="253288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3557A3"/>
                </a:solidFill>
                <a:latin typeface="Assistant SemiBold"/>
                <a:cs typeface="Assistant SemiBold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זה הפזמון. יש בו שתי מילים שמשחקות בצליל, ״ואולי״ ו״ואלי״, והשאלה אם הפעם ״תורי״. בשורה האחרונה בנאי אומר שהשיר שלו לא מנותק ממה שקורה סביבו.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5257800" cy="253288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3557A3"/>
                </a:solidFill>
                <a:latin typeface="Assistant SemiBold"/>
                <a:cs typeface="Assistant SemiBold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השאלה ״אולי הפעם תורי״ נגעה בנו, כי במלחמה הזאת כל אחד חשב על מישהו קרוב שנמצא בסכנה. השיר הראה לנו שמוזיקה יכולה להיות דרך להתמודד עם פחד.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ph_banai.jpg"/>
          <p:cNvPicPr>
            <a:picLocks noChangeAspect="1"/>
          </p:cNvPicPr>
          <p:nvPr/>
        </p:nvPicPr>
        <p:blipFill>
          <a:blip r:embed="rId3"/>
          <a:srcRect l="23313" r="23313"/>
          <a:stretch>
            <a:fillRect/>
          </a:stretch>
        </p:blipFill>
        <p:spPr>
          <a:xfrm>
            <a:off x="640080" y="1417320"/>
            <a:ext cx="3657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624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787D84"/>
                </a:solidFill>
                <a:latin typeface="Assistant"/>
                <a:cs typeface="Assistant"/>
              </a:rPr>
              <a:t>צילום: מאיר כהן,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E2124"/>
                </a:solidFill>
                <a:latin typeface="Assistant ExtraLight"/>
                <a:cs typeface="Assistant ExtraLight"/>
              </a:rPr>
              <a:t>אביתר בנאי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1717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3557A3"/>
                </a:solidFill>
                <a:latin typeface="Assistant ExtraLight"/>
                <a:cs typeface="Assistant ExtraLight"/>
              </a:rPr>
              <a:t>1973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4846320" y="1572768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נולד בבאר שבע וגדל ביישוב עומר, בן למשפחת בנאי.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46320" y="2395728"/>
            <a:ext cx="670529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1717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3557A3"/>
                </a:solidFill>
                <a:latin typeface="Assistant ExtraLight"/>
                <a:cs typeface="Assistant ExtraLight"/>
              </a:rPr>
              <a:t>1997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4846320" y="2523744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אלבום הבכורה שלו הגיע למעמד פלטינה, עם ״מתי נתנשק״.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46320" y="3346704"/>
            <a:ext cx="670529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1717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3557A3"/>
                </a:solidFill>
                <a:latin typeface="Assistant ExtraLight"/>
                <a:cs typeface="Assistant ExtraLight"/>
              </a:rPr>
              <a:t>2005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באלבום ״עומד על נייר״ התחיל לשלב רוק ואמונה.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46320" y="4297680"/>
            <a:ext cx="670529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1717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3557A3"/>
                </a:solidFill>
                <a:latin typeface="Assistant ExtraLight"/>
                <a:cs typeface="Assistant ExtraLight"/>
              </a:rPr>
              <a:t>2018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4846320" y="4425696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קיבל את פרס שר החינוך על מפעל חיים בתרבות יהודית-ישראלית.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46320" y="5248656"/>
            <a:ext cx="670529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1717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3557A3"/>
                </a:solidFill>
                <a:latin typeface="Assistant ExtraLight"/>
                <a:cs typeface="Assistant ExtraLight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4846320" y="5376672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במלחמה ניגן ולימד את פרשת השבוע בזום, בכל שבוע.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E2124"/>
                </a:solidFill>
                <a:latin typeface="Assistant ExtraLight"/>
                <a:cs typeface="Assistant ExtraLight"/>
              </a:rPr>
              <a:t>מילות השיר</a:t>
            </a:r>
            <a:endParaRPr lang="he-IL" sz="44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D4D5D1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787D84"/>
                </a:solidFill>
                <a:latin typeface="Assistant ExtraLight"/>
                <a:cs typeface="Assistant Extra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787D84"/>
                </a:solidFill>
                <a:latin typeface="Assistant Light"/>
                <a:cs typeface="Assistant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787D84"/>
                </a:solidFill>
                <a:latin typeface="Assistant Light"/>
                <a:cs typeface="Assistant Light"/>
              </a:rPr>
              <a:t>ביצוע: אביתר בנאי · הסינגל הראשון מהאלבום ״שיחות שלום״ (2024)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787D84"/>
                </a:solidFill>
                <a:latin typeface="Assistant SemiBold"/>
                <a:cs typeface="Assistant SemiBold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0">
                <a:solidFill>
                  <a:srgbClr val="3557A3"/>
                </a:solidFill>
                <a:latin typeface="Assistant ExtraLight"/>
                <a:cs typeface="Assistant ExtraLight"/>
              </a:rPr>
              <a:t>כפל משמעות</a:t>
            </a:r>
            <a:endParaRPr lang="he-IL" sz="56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83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787D84"/>
                </a:solidFill>
                <a:latin typeface="Assistant SemiBold"/>
                <a:cs typeface="Assistant SemiBold"/>
              </a:rPr>
              <a:t>הגדרה: </a:t>
            </a: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מילה או צירוף שיש להם שתי משמעויות בו בזמן.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000" b="0">
                <a:solidFill>
                  <a:srgbClr val="3557A3"/>
                </a:solidFill>
                <a:latin typeface="Assistant ExtraLight"/>
                <a:cs typeface="Assistant ExtraLight"/>
              </a:rPr>
              <a:t>״</a:t>
            </a:r>
            <a:endParaRPr lang="he-IL" sz="90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E2124"/>
                </a:solidFill>
                <a:latin typeface="Assistant Light"/>
                <a:cs typeface="Assistant Light"/>
              </a:rPr>
              <a:t>אין </a:t>
            </a:r>
            <a:r>
              <a:rPr lang="he-IL" altLang="en-US" sz="3200" b="0">
                <a:solidFill>
                  <a:srgbClr val="3557A3"/>
                </a:solidFill>
                <a:latin typeface="Assistant Light"/>
                <a:cs typeface="Assistant Light"/>
              </a:rPr>
              <a:t>חלל</a:t>
            </a:r>
            <a:r>
              <a:rPr lang="he-IL" altLang="en-US" sz="3200" b="0">
                <a:solidFill>
                  <a:srgbClr val="1E2124"/>
                </a:solidFill>
                <a:latin typeface="Assistant Light"/>
                <a:cs typeface="Assistant Light"/>
              </a:rPr>
              <a:t> ריק</a:t>
            </a:r>
            <a:endParaRPr lang="he-IL" sz="32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E2124"/>
                </a:solidFill>
                <a:latin typeface="Assistant Light"/>
                <a:cs typeface="Assistant Light"/>
              </a:rPr>
              <a:t>בין שירי לביני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114800"/>
            <a:ext cx="1091153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343400"/>
            <a:ext cx="5196535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3557A3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״חלל״ הוא מקום ריק, וגם חייל שנפל במלחמה. שם השיר מחזיק את שתי המשמעויות.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5257800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3557A3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המילה מחברת בין ריקנות לבין אבל. בנאי אומר שאין רווח בינו לבין השיר, כי השיר מלא בנופלים.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787D84"/>
                </a:solidFill>
                <a:latin typeface="Assistant SemiBold"/>
                <a:cs typeface="Assistant SemiBold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0">
                <a:solidFill>
                  <a:srgbClr val="3557A3"/>
                </a:solidFill>
                <a:latin typeface="Assistant ExtraLight"/>
                <a:cs typeface="Assistant ExtraLight"/>
              </a:rPr>
              <a:t>משחק מילים</a:t>
            </a:r>
            <a:endParaRPr lang="he-IL" sz="56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83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787D84"/>
                </a:solidFill>
                <a:latin typeface="Assistant SemiBold"/>
                <a:cs typeface="Assistant SemiBold"/>
              </a:rPr>
              <a:t>הגדרה: </a:t>
            </a: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שימוש במילים שנשמעות דומה, אבל המשמעות שלהן שונה.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000" b="0">
                <a:solidFill>
                  <a:srgbClr val="3557A3"/>
                </a:solidFill>
                <a:latin typeface="Assistant ExtraLight"/>
                <a:cs typeface="Assistant ExtraLight"/>
              </a:rPr>
              <a:t>״</a:t>
            </a:r>
            <a:endParaRPr lang="he-IL" sz="90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3557A3"/>
                </a:solidFill>
                <a:latin typeface="Assistant Light"/>
                <a:cs typeface="Assistant Light"/>
              </a:rPr>
              <a:t>ואולי</a:t>
            </a:r>
            <a:r>
              <a:rPr lang="he-IL" altLang="en-US" sz="3200" b="0">
                <a:solidFill>
                  <a:srgbClr val="1E2124"/>
                </a:solidFill>
                <a:latin typeface="Assistant Light"/>
                <a:cs typeface="Assistant Light"/>
              </a:rPr>
              <a:t> </a:t>
            </a:r>
            <a:r>
              <a:rPr lang="he-IL" altLang="en-US" sz="3200" b="0">
                <a:solidFill>
                  <a:srgbClr val="3557A3"/>
                </a:solidFill>
                <a:latin typeface="Assistant Light"/>
                <a:cs typeface="Assistant Light"/>
              </a:rPr>
              <a:t>ואלי</a:t>
            </a:r>
            <a:endParaRPr lang="he-IL" sz="32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E2124"/>
                </a:solidFill>
                <a:latin typeface="Assistant Light"/>
                <a:cs typeface="Assistant Light"/>
              </a:rPr>
              <a:t>הפעם תורי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114800"/>
            <a:ext cx="1091153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343400"/>
            <a:ext cx="5196535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3557A3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״ואולי״ ו״ואלי״ נשמעות כמעט אותו דבר. ״אולי״ היא שאלה, ו״אלי״ היא פנייה לאלוהים, כמו ״אלי אלי למה עזבתני״.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5257800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3557A3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E2124"/>
                </a:solidFill>
                <a:latin typeface="Assistant Light"/>
                <a:cs typeface="Assistant Light"/>
              </a:rPr>
              <a:t>בתוך מילה אחת הספק הופך לתפילה. הדובר מפחד, ובאותו רגע גם מתפלל.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E2124"/>
                </a:solidFill>
                <a:latin typeface="Assistant ExtraLight"/>
                <a:cs typeface="Assistant ExtraLight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787D84"/>
                </a:solidFill>
                <a:latin typeface="Assistant Light"/>
                <a:cs typeface="Assistant Light"/>
              </a:rPr>
              <a:t>מילים מהשיר שלוקחות אותנו מבית החולים אל בית הקברות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7863535" y="2137410"/>
            <a:ext cx="3688080" cy="11430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3557A3"/>
                </a:solidFill>
                <a:latin typeface="Assistant ExtraLight"/>
                <a:cs typeface="Assistant ExtraLight"/>
              </a:rPr>
              <a:t>טיפול נמרץ</a:t>
            </a:r>
            <a:endParaRPr lang="he-IL" sz="6000"/>
          </a:p>
        </p:txBody>
      </p:sp>
      <p:sp>
        <p:nvSpPr>
          <p:cNvPr id="6" name="TextBox 5"/>
          <p:cNvSpPr txBox="1"/>
          <p:nvPr/>
        </p:nvSpPr>
        <p:spPr>
          <a:xfrm>
            <a:off x="4187647" y="2512314"/>
            <a:ext cx="3127248" cy="6858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00" b="0">
                <a:solidFill>
                  <a:srgbClr val="1E2124"/>
                </a:solidFill>
                <a:latin typeface="Assistant Light"/>
                <a:cs typeface="Assistant Light"/>
              </a:rPr>
              <a:t>נשמת חייל עולה</a:t>
            </a:r>
            <a:endParaRPr lang="he-IL" sz="3600"/>
          </a:p>
        </p:txBody>
      </p:sp>
      <p:sp>
        <p:nvSpPr>
          <p:cNvPr id="7" name="TextBox 6"/>
          <p:cNvSpPr txBox="1"/>
          <p:nvPr/>
        </p:nvSpPr>
        <p:spPr>
          <a:xfrm>
            <a:off x="1820367" y="2373630"/>
            <a:ext cx="1818640" cy="7620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1E2124"/>
                </a:solidFill>
                <a:latin typeface="Assistant Light"/>
                <a:cs typeface="Assistant Light"/>
              </a:rPr>
              <a:t>קבר בנו</a:t>
            </a:r>
            <a:endParaRPr lang="he-IL" sz="4000"/>
          </a:p>
        </p:txBody>
      </p:sp>
      <p:sp>
        <p:nvSpPr>
          <p:cNvPr id="8" name="TextBox 7"/>
          <p:cNvSpPr txBox="1"/>
          <p:nvPr/>
        </p:nvSpPr>
        <p:spPr>
          <a:xfrm>
            <a:off x="8925255" y="3608070"/>
            <a:ext cx="2169160" cy="647699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1E2124"/>
                </a:solidFill>
                <a:latin typeface="Assistant Light"/>
                <a:cs typeface="Assistant Light"/>
              </a:rPr>
              <a:t>השדה הבוער</a:t>
            </a:r>
            <a:endParaRPr lang="he-IL" sz="3400"/>
          </a:p>
        </p:txBody>
      </p:sp>
      <p:sp>
        <p:nvSpPr>
          <p:cNvPr id="9" name="TextBox 8"/>
          <p:cNvSpPr txBox="1"/>
          <p:nvPr/>
        </p:nvSpPr>
        <p:spPr>
          <a:xfrm>
            <a:off x="5354523" y="3563874"/>
            <a:ext cx="3022092" cy="10287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3557A3"/>
                </a:solidFill>
                <a:latin typeface="Assistant ExtraLight"/>
                <a:cs typeface="Assistant ExtraLight"/>
              </a:rPr>
              <a:t>הלב הזועק</a:t>
            </a:r>
            <a:endParaRPr lang="he-IL" sz="5400"/>
          </a:p>
        </p:txBody>
      </p:sp>
      <p:sp>
        <p:nvSpPr>
          <p:cNvPr id="10" name="TextBox 9"/>
          <p:cNvSpPr txBox="1"/>
          <p:nvPr/>
        </p:nvSpPr>
        <p:spPr>
          <a:xfrm>
            <a:off x="2753563" y="3672840"/>
            <a:ext cx="2052320" cy="6096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E2124"/>
                </a:solidFill>
                <a:latin typeface="Assistant Light"/>
                <a:cs typeface="Assistant Light"/>
              </a:rPr>
              <a:t>מטוס סילון</a:t>
            </a:r>
            <a:endParaRPr lang="he-IL" sz="3200"/>
          </a:p>
        </p:txBody>
      </p:sp>
      <p:sp>
        <p:nvSpPr>
          <p:cNvPr id="11" name="TextBox 10"/>
          <p:cNvSpPr txBox="1"/>
          <p:nvPr/>
        </p:nvSpPr>
        <p:spPr>
          <a:xfrm>
            <a:off x="7659827" y="4907280"/>
            <a:ext cx="3068828" cy="7239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800" b="0">
                <a:solidFill>
                  <a:srgbClr val="1E2124"/>
                </a:solidFill>
                <a:latin typeface="Assistant Light"/>
                <a:cs typeface="Assistant Light"/>
              </a:rPr>
              <a:t>המלחמה בינינו</a:t>
            </a:r>
            <a:endParaRPr lang="he-IL" sz="3800"/>
          </a:p>
        </p:txBody>
      </p:sp>
      <p:sp>
        <p:nvSpPr>
          <p:cNvPr id="12" name="TextBox 11"/>
          <p:cNvSpPr txBox="1"/>
          <p:nvPr/>
        </p:nvSpPr>
        <p:spPr>
          <a:xfrm>
            <a:off x="5666435" y="4729733"/>
            <a:ext cx="1444752" cy="137160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7200" b="0">
                <a:solidFill>
                  <a:srgbClr val="3557A3"/>
                </a:solidFill>
                <a:latin typeface="Assistant ExtraLight"/>
                <a:cs typeface="Assistant ExtraLight"/>
              </a:rPr>
              <a:t>חלל</a:t>
            </a:r>
            <a:endParaRPr lang="he-IL" sz="72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1E2124"/>
                </a:solidFill>
                <a:latin typeface="Assistant ExtraLight"/>
                <a:cs typeface="Assistant ExtraLight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ph_ev_herzl.jpg"/>
          <p:cNvPicPr>
            <a:picLocks noChangeAspect="1"/>
          </p:cNvPicPr>
          <p:nvPr/>
        </p:nvPicPr>
        <p:blipFill>
          <a:blip r:embed="rId3"/>
          <a:srcRect l="17857" r="17857"/>
          <a:stretch>
            <a:fillRect/>
          </a:stretch>
        </p:blipFill>
        <p:spPr>
          <a:xfrm>
            <a:off x="640080" y="155448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9145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787D84"/>
                </a:solidFill>
                <a:latin typeface="Assistant"/>
                <a:cs typeface="Assistant"/>
              </a:rPr>
              <a:t>צילום: YoavR, ויקישיתוף, CC BY-SA 4.0</a:t>
            </a:r>
            <a:endParaRPr lang="he-IL" sz="1000"/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787D84"/>
                </a:solidFill>
                <a:latin typeface="Assistant Light"/>
                <a:cs typeface="Assistant Light"/>
              </a:rPr>
              <a:t>חלקת ״חרבות ברזל״ בבית הקברות הצבאי בהר הרצל, ינואר 2025. כאן המילה ״חלל״ מקבלת את המשמעות הכואבת שלה.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10088575" y="150876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 SemiBold"/>
                <a:cs typeface="Assistant SemiBold"/>
              </a:rPr>
              <a:t>אוקטובר 2023</a:t>
            </a:r>
            <a:endParaRPr lang="he-IL" sz="1800"/>
          </a:p>
        </p:txBody>
      </p:sp>
      <p:sp>
        <p:nvSpPr>
          <p:cNvPr id="8" name="TextBox 7"/>
          <p:cNvSpPr txBox="1"/>
          <p:nvPr/>
        </p:nvSpPr>
        <p:spPr>
          <a:xfrm>
            <a:off x="5715000" y="1508760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1E2124"/>
                </a:solidFill>
                <a:latin typeface="Assistant Light"/>
                <a:cs typeface="Assistant Light"/>
              </a:rPr>
              <a:t>פורצת מלחמת ״חרבות ברזל״, וחיילים רבים נפצעים ונהרגים.</a:t>
            </a:r>
            <a:endParaRPr lang="he-IL" sz="2100"/>
          </a:p>
        </p:txBody>
      </p:sp>
      <p:cxnSp>
        <p:nvCxnSpPr>
          <p:cNvPr id="9" name="Connector 8"/>
          <p:cNvCxnSpPr/>
          <p:nvPr/>
        </p:nvCxnSpPr>
        <p:spPr>
          <a:xfrm>
            <a:off x="5715000" y="2368296"/>
            <a:ext cx="583661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0088575" y="2459736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 SemiBold"/>
                <a:cs typeface="Assistant SemiBold"/>
              </a:rPr>
              <a:t>בזמן המלחמה</a:t>
            </a:r>
            <a:endParaRPr lang="he-IL" sz="1800"/>
          </a:p>
        </p:txBody>
      </p:sp>
      <p:sp>
        <p:nvSpPr>
          <p:cNvPr id="11" name="TextBox 10"/>
          <p:cNvSpPr txBox="1"/>
          <p:nvPr/>
        </p:nvSpPr>
        <p:spPr>
          <a:xfrm>
            <a:off x="5715000" y="2459736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1E2124"/>
                </a:solidFill>
                <a:latin typeface="Assistant Light"/>
                <a:cs typeface="Assistant Light"/>
              </a:rPr>
              <a:t>בנאי מנגן ומלמד בזום בכל שבוע, כדי לחזק את מי שמקשיב.</a:t>
            </a:r>
            <a:endParaRPr lang="he-IL" sz="2100"/>
          </a:p>
        </p:txBody>
      </p:sp>
      <p:cxnSp>
        <p:nvCxnSpPr>
          <p:cNvPr id="12" name="Connector 11"/>
          <p:cNvCxnSpPr/>
          <p:nvPr/>
        </p:nvCxnSpPr>
        <p:spPr>
          <a:xfrm>
            <a:off x="5715000" y="3319272"/>
            <a:ext cx="583661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0088575" y="3410712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 SemiBold"/>
                <a:cs typeface="Assistant SemiBold"/>
              </a:rPr>
              <a:t>המסע בשיר</a:t>
            </a:r>
            <a:endParaRPr lang="he-IL" sz="1800"/>
          </a:p>
        </p:txBody>
      </p:sp>
      <p:sp>
        <p:nvSpPr>
          <p:cNvPr id="14" name="TextBox 13"/>
          <p:cNvSpPr txBox="1"/>
          <p:nvPr/>
        </p:nvSpPr>
        <p:spPr>
          <a:xfrm>
            <a:off x="5715000" y="3410712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1E2124"/>
                </a:solidFill>
                <a:latin typeface="Assistant Light"/>
                <a:cs typeface="Assistant Light"/>
              </a:rPr>
              <a:t>השיר עובר ממיטות הפצועים בטיפול נמרץ ועד ההלוויות של הנופלים.</a:t>
            </a:r>
            <a:endParaRPr lang="he-IL" sz="2100"/>
          </a:p>
        </p:txBody>
      </p:sp>
      <p:cxnSp>
        <p:nvCxnSpPr>
          <p:cNvPr id="15" name="Connector 14"/>
          <p:cNvCxnSpPr/>
          <p:nvPr/>
        </p:nvCxnSpPr>
        <p:spPr>
          <a:xfrm>
            <a:off x="5715000" y="4270248"/>
            <a:ext cx="583661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0088575" y="4361688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 SemiBold"/>
                <a:cs typeface="Assistant SemiBold"/>
              </a:rPr>
              <a:t>ספטמבר 2024</a:t>
            </a:r>
            <a:endParaRPr lang="he-IL" sz="1800"/>
          </a:p>
        </p:txBody>
      </p:sp>
      <p:sp>
        <p:nvSpPr>
          <p:cNvPr id="17" name="TextBox 16"/>
          <p:cNvSpPr txBox="1"/>
          <p:nvPr/>
        </p:nvSpPr>
        <p:spPr>
          <a:xfrm>
            <a:off x="5715000" y="4361688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1E2124"/>
                </a:solidFill>
                <a:latin typeface="Assistant Light"/>
                <a:cs typeface="Assistant Light"/>
              </a:rPr>
              <a:t>״חלל״ יוצא כסינגל הראשון מתוך האלבום החדש.</a:t>
            </a:r>
            <a:endParaRPr lang="he-IL" sz="2100"/>
          </a:p>
        </p:txBody>
      </p:sp>
      <p:cxnSp>
        <p:nvCxnSpPr>
          <p:cNvPr id="18" name="Connector 17"/>
          <p:cNvCxnSpPr/>
          <p:nvPr/>
        </p:nvCxnSpPr>
        <p:spPr>
          <a:xfrm>
            <a:off x="5715000" y="5221224"/>
            <a:ext cx="5836615" cy="0"/>
          </a:xfrm>
          <a:prstGeom prst="line">
            <a:avLst/>
          </a:prstGeom>
          <a:ln w="9525">
            <a:solidFill>
              <a:srgbClr val="D4D5D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0088575" y="5312664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 SemiBold"/>
                <a:cs typeface="Assistant SemiBold"/>
              </a:rPr>
              <a:t>20.9.2024</a:t>
            </a:r>
            <a:endParaRPr lang="he-IL" sz="1800"/>
          </a:p>
        </p:txBody>
      </p:sp>
      <p:sp>
        <p:nvSpPr>
          <p:cNvPr id="20" name="TextBox 19"/>
          <p:cNvSpPr txBox="1"/>
          <p:nvPr/>
        </p:nvSpPr>
        <p:spPr>
          <a:xfrm>
            <a:off x="5715000" y="5312664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1E2124"/>
                </a:solidFill>
                <a:latin typeface="Assistant Light"/>
                <a:cs typeface="Assistant Light"/>
              </a:rPr>
              <a:t>יוצא ״שיחות שלום״, האלבום התשיעי של בנאי.</a:t>
            </a:r>
            <a:endParaRPr lang="he-IL" sz="2100"/>
          </a:p>
        </p:txBody>
      </p:sp>
      <p:sp>
        <p:nvSpPr>
          <p:cNvPr id="2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3557A3"/>
                </a:solidFill>
                <a:latin typeface="Assistant SemiBold"/>
                <a:cs typeface="Assistant SemiBold"/>
              </a:rPr>
              <a:t>סיכום</a:t>
            </a:r>
            <a:endParaRPr lang="he-IL" sz="1800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1000" b="0">
                <a:solidFill>
                  <a:srgbClr val="3557A3"/>
                </a:solidFill>
                <a:latin typeface="Assistant ExtraLight"/>
                <a:cs typeface="Assistant ExtraLight"/>
              </a:rPr>
              <a:t>״</a:t>
            </a:r>
            <a:endParaRPr lang="he-IL" sz="11000"/>
          </a:p>
        </p:txBody>
      </p:sp>
      <p:sp>
        <p:nvSpPr>
          <p:cNvPr id="5" name="Title"/>
          <p:cNvSpPr txBox="1"/>
          <p:nvPr/>
        </p:nvSpPr>
        <p:spPr>
          <a:xfrm>
            <a:off x="640080" y="2148840"/>
            <a:ext cx="10362895" cy="3840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600" b="0">
                <a:solidFill>
                  <a:srgbClr val="1E2124"/>
                </a:solidFill>
                <a:latin typeface="Assistant SemiBold"/>
                <a:cs typeface="Assistant SemiBold"/>
              </a:rPr>
              <a:t>״חלל״ הוא גם מקום ריק וגם חייל שנפל.</a:t>
            </a:r>
            <a:endParaRPr lang="he-IL" sz="36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4000" b="0">
                <a:solidFill>
                  <a:srgbClr val="3557A3"/>
                </a:solidFill>
                <a:latin typeface="Assistant ExtraLight"/>
                <a:cs typeface="Assistant ExtraLight"/>
              </a:rPr>
              <a:t>אביתר בנאי ממלא את הריק הזה בשיר,</a:t>
            </a:r>
            <a:endParaRPr lang="he-IL" sz="40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400" b="0">
                <a:solidFill>
                  <a:srgbClr val="1E2124"/>
                </a:solidFill>
                <a:latin typeface="Assistant ExtraLight"/>
                <a:cs typeface="Assistant ExtraLight"/>
              </a:rPr>
              <a:t>כדי שלא נשכח.</a:t>
            </a:r>
            <a:endParaRPr lang="he-IL" sz="34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87D84"/>
                </a:solidFill>
                <a:latin typeface="Assistant"/>
                <a:cs typeface="Assistant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