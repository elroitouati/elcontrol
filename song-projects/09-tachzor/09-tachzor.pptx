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"/>
                <a:cs typeface="Assistant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417320"/>
            <a:ext cx="10911535" cy="23774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he-IL" altLang="en-US" sz="15000" b="0">
                <a:solidFill>
                  <a:srgbClr val="F1ECE0"/>
                </a:solidFill>
                <a:latin typeface="Miriam Libre"/>
                <a:cs typeface="Miriam Libre"/>
              </a:rPr>
              <a:t>תחזור</a:t>
            </a:r>
            <a:endParaRPr lang="he-IL" sz="15000"/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3400" b="0">
                <a:solidFill>
                  <a:srgbClr val="F2C46D"/>
                </a:solidFill>
                <a:latin typeface="Miriam Libre"/>
                <a:cs typeface="Miriam Libre"/>
              </a:rPr>
              <a:t>הפרויקט של עידן רייכל ורוני דלומי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A9B1BF"/>
                </a:solidFill>
                <a:latin typeface="Assistant Light"/>
                <a:cs typeface="Assistant Light"/>
              </a:rPr>
              <a:t>שיר לחטופים ולמי שמחכה להם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000" b="0">
                <a:solidFill>
                  <a:srgbClr val="A9B1BF"/>
                </a:solidFill>
                <a:latin typeface="Assistant Light"/>
                <a:cs typeface="Assistant Light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Quote panel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7202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F1ECE0"/>
                </a:solidFill>
                <a:latin typeface="Assistant"/>
                <a:cs typeface="Assistant"/>
              </a:rPr>
              <a:t>הקטע שבחרנו</a:t>
            </a:r>
            <a:endParaRPr lang="he-IL"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תחזור</a:t>
            </a: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, </a:t>
            </a: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תחזור</a:t>
            </a: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 היום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כל כך רציתי שתגיע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הלוואי תבוא בלי להודיע עוד היום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אני </a:t>
            </a: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מגדל של אור</a:t>
            </a:r>
            <a:endParaRPr lang="he-IL" sz="2400"/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F1ECE0"/>
                </a:solidFill>
                <a:latin typeface="Assistant Light"/>
                <a:cs typeface="Assistant Light"/>
              </a:rPr>
              <a:t>״תחזור״, הפרויקט של עידן רייכל</a:t>
            </a:r>
            <a:endParaRPr lang="he-IL" sz="1600"/>
          </a:p>
        </p:txBody>
      </p:sp>
      <p:sp>
        <p:nvSpPr>
          <p:cNvPr id="7" name="Title"/>
          <p:cNvSpPr txBox="1"/>
          <p:nvPr/>
        </p:nvSpPr>
        <p:spPr>
          <a:xfrm>
            <a:off x="6492240" y="457200"/>
            <a:ext cx="50593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600" b="0">
                <a:solidFill>
                  <a:srgbClr val="F1ECE0"/>
                </a:solidFill>
                <a:latin typeface="Miriam Libre"/>
                <a:cs typeface="Miriam Libre"/>
              </a:rPr>
              <a:t>למה דווקא הקטע הזה</a:t>
            </a:r>
            <a:endParaRPr lang="he-IL" sz="3600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59375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זה הפזמון, והוא נשמע כמו תפילה. המילה ״תחזור״ חוזרת פעמיים, והבקשה ״בלי להודיע״ מראה שהדוברת מוכנה לחכות בכל רגע. הוא מבטא את הגעגוע של משפחות החטופים.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92240" y="3977639"/>
            <a:ext cx="5059375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בגלגלצ השמיעו את השיר כל יום בחמש בערב, כקריאה להחזרת החטופים. שמענו אותו הרבה, ורק כשניתחנו אותו הבנו כמה כאב ותקווה יש בכל שורה.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raichel.jpg"/>
          <p:cNvPicPr>
            <a:picLocks noChangeAspect="1"/>
          </p:cNvPicPr>
          <p:nvPr/>
        </p:nvPicPr>
        <p:blipFill>
          <a:blip r:embed="rId3"/>
          <a:srcRect l="9378" r="9378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80" y="6510528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Assistant"/>
                <a:cs typeface="Assistant"/>
              </a:rPr>
              <a:t>צילום: שי פרנקו,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489204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1ECE0"/>
                </a:solidFill>
                <a:latin typeface="Miriam Libre"/>
                <a:cs typeface="Miriam Libre"/>
              </a:rPr>
              <a:t>עידן רייכל</a:t>
            </a:r>
            <a:endParaRPr lang="he-IL" sz="42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1977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92040" y="1572768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נולד בכפר סבא, ובגיל 9 התחיל לנגן באקורדיון.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92040" y="2395728"/>
            <a:ext cx="665957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2002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92040" y="2523744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יצא האלבום הראשון של ״הפרויקט״, עם זמרים ישראלים ממוצא אתיופי.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92040" y="3346704"/>
            <a:ext cx="665957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2010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92040" y="3474720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הופיע בטקס פרס נובל לשלום באוסלו.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92040" y="4297680"/>
            <a:ext cx="665957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2020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92040" y="4425696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הדליק משואה בטקס יום העצמאות בהר הרצל.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92040" y="5248656"/>
            <a:ext cx="665957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92040" y="5376672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ב״תחזור״ שיתף לראשונה פעולה עם הזמרת רוני דלומי.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489204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1ECE0"/>
                </a:solidFill>
                <a:latin typeface="Miriam Libre"/>
                <a:cs typeface="Miriam Libre"/>
              </a:rPr>
              <a:t>מילות השיר</a:t>
            </a:r>
            <a:endParaRPr lang="he-IL" sz="42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263247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A9B1BF"/>
                </a:solidFill>
                <a:latin typeface="Miriam Libre"/>
                <a:cs typeface="Miriam Libre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A9B1BF"/>
                </a:solidFill>
                <a:latin typeface="Assistant Light"/>
                <a:cs typeface="Assistant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A9B1BF"/>
                </a:solidFill>
                <a:latin typeface="Assistant Light"/>
                <a:cs typeface="Assistant Light"/>
              </a:rPr>
              <a:t>מילים ולחן: עידן רייכל ואבי אוחיון · שירה: רוני דלומי · יצא ב-31 באוקטובר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9B1BF"/>
                </a:solidFill>
                <a:latin typeface="Assistant SemiBold"/>
                <a:cs typeface="Assistant SemiBold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F2C46D"/>
                </a:solidFill>
                <a:latin typeface="Miriam Libre"/>
                <a:cs typeface="Miriam Libre"/>
              </a:rPr>
              <a:t>מטאפורה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A9B1BF"/>
                </a:solidFill>
                <a:latin typeface="Assistant Light"/>
                <a:cs typeface="Assistant Light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CE0"/>
                </a:solidFill>
                <a:latin typeface="Miriam Libre"/>
                <a:cs typeface="Miriam Libre"/>
              </a:rPr>
              <a:t>אני </a:t>
            </a:r>
            <a:r>
              <a:rPr lang="he-IL" altLang="en-US" sz="3200" b="0">
                <a:solidFill>
                  <a:srgbClr val="F2C46D"/>
                </a:solidFill>
                <a:latin typeface="Miriam Libre"/>
                <a:cs typeface="Miriam Libre"/>
              </a:rPr>
              <a:t>מגדל של אור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CE0"/>
                </a:solidFill>
                <a:latin typeface="Miriam Libre"/>
                <a:cs typeface="Miriam Libre"/>
              </a:rPr>
              <a:t>ממרחקים ששוב תופיע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הדוברת אומרת שהיא ״מגדל של אור״, כמו מגדלור שמאיר לספינות את הדרך לנמל.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היא לא רק מחכה, היא מאירה לו את הדרך הביתה. המטאפורה הפכה גם לשם של האלבום.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9B1BF"/>
                </a:solidFill>
                <a:latin typeface="Assistant SemiBold"/>
                <a:cs typeface="Assistant SemiBold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F2C46D"/>
                </a:solidFill>
                <a:latin typeface="Miriam Libre"/>
                <a:cs typeface="Miriam Libre"/>
              </a:rPr>
              <a:t>דימוי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A9B1BF"/>
                </a:solidFill>
                <a:latin typeface="Assistant Light"/>
                <a:cs typeface="Assistant Light"/>
              </a:rPr>
              <a:t>השוואה בין שני דברים בעזרת מילת דימוי, כמו ״כמו״ או ״כְּ״.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CE0"/>
                </a:solidFill>
                <a:latin typeface="Miriam Libre"/>
                <a:cs typeface="Miriam Libre"/>
              </a:rPr>
              <a:t>הימים והלילות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2C46D"/>
                </a:solidFill>
                <a:latin typeface="Miriam Libre"/>
                <a:cs typeface="Miriam Libre"/>
              </a:rPr>
              <a:t>כמו</a:t>
            </a:r>
            <a:r>
              <a:rPr lang="he-IL" altLang="en-US" sz="3200" b="0">
                <a:solidFill>
                  <a:srgbClr val="F1ECE0"/>
                </a:solidFill>
                <a:latin typeface="Miriam Libre"/>
                <a:cs typeface="Miriam Libre"/>
              </a:rPr>
              <a:t> הפנים שבתמונות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הימים מושווים לפנים בתמונות, בעזרת המילה ״כמו״: הם קפואים ולא זזים.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הדימוי מזכיר את תמונות החטופים שנתלו בכל מקום. הזמן עוצר, כמו תמונה, עד שיחזרו.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1ECE0"/>
                </a:solidFill>
                <a:latin typeface="Miriam Libre"/>
                <a:cs typeface="Miriam Libre"/>
              </a:rPr>
              <a:t>מילים שמעוררות את המלחמה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A9B1BF"/>
                </a:solidFill>
                <a:latin typeface="Assistant Light"/>
                <a:cs typeface="Assistant Light"/>
              </a:rPr>
              <a:t>השיר לא מזכיר את המלחמה במילים ישירות, אבל הוא מעורר את ההמתנה לחטופים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45000"/>
              </a:lnSpc>
              <a:buNone/>
            </a:pP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תחזור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1ECE0"/>
                </a:solidFill>
                <a:latin typeface="Miriam Libre"/>
                <a:cs typeface="Miriam Libre"/>
              </a:rPr>
              <a:t>כשאתה לא כאן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הכול עוצר מלכת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1ECE0"/>
                </a:solidFill>
                <a:latin typeface="Miriam Libre"/>
                <a:cs typeface="Miriam Libre"/>
              </a:rPr>
              <a:t>הפנים שבתמונות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קוראת לך מתוך הלילה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1ECE0"/>
                </a:solidFill>
                <a:latin typeface="Miriam Libre"/>
                <a:cs typeface="Miriam Libre"/>
              </a:rPr>
              <a:t>ממרחקים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בלי להודיע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1ECE0"/>
                </a:solidFill>
                <a:latin typeface="Miriam Libre"/>
                <a:cs typeface="Miriam Libre"/>
              </a:rPr>
              <a:t>מגדל של אור</a:t>
            </a:r>
            <a:endParaRPr lang="he-IL" sz="40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1ECE0"/>
                </a:solidFill>
                <a:latin typeface="Miriam Libre"/>
                <a:cs typeface="Miriam Libre"/>
              </a:rPr>
              <a:t>האירועים שהמילים מעוררות</a:t>
            </a:r>
            <a:endParaRPr lang="he-IL" sz="4200"/>
          </a:p>
        </p:txBody>
      </p:sp>
      <p:pic>
        <p:nvPicPr>
          <p:cNvPr id="4" name="Event photo" descr="ev_table.jpg"/>
          <p:cNvPicPr>
            <a:picLocks noChangeAspect="1"/>
          </p:cNvPicPr>
          <p:nvPr/>
        </p:nvPicPr>
        <p:blipFill>
          <a:blip r:embed="rId3"/>
          <a:srcRect t="27305" b="33373"/>
          <a:stretch>
            <a:fillRect/>
          </a:stretch>
        </p:blipFill>
        <p:spPr>
          <a:xfrm>
            <a:off x="640080" y="1554480"/>
            <a:ext cx="4572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79145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A9B1BF"/>
                </a:solidFill>
                <a:latin typeface="Assistant"/>
                <a:cs typeface="Assistant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6" name="TextBox 5"/>
          <p:cNvSpPr txBox="1"/>
          <p:nvPr/>
        </p:nvSpPr>
        <p:spPr>
          <a:xfrm>
            <a:off x="640080" y="507492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A9B1BF"/>
                </a:solidFill>
                <a:latin typeface="Assistant Light"/>
                <a:cs typeface="Assistant Light"/>
              </a:rPr>
              <a:t>מיצב שולחן השבת הריק בכיכר החטופים, מרץ 2024. כל כיסא מחכה למישהו שיחזור.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10088575" y="150876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7.10.2023</a:t>
            </a:r>
            <a:endParaRPr lang="he-IL" sz="1800"/>
          </a:p>
        </p:txBody>
      </p:sp>
      <p:sp>
        <p:nvSpPr>
          <p:cNvPr id="8" name="TextBox 7"/>
          <p:cNvSpPr txBox="1"/>
          <p:nvPr/>
        </p:nvSpPr>
        <p:spPr>
          <a:xfrm>
            <a:off x="5715000" y="1508760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251 בני אדם נחטפים לרצועת עזה.</a:t>
            </a:r>
            <a:endParaRPr lang="he-IL" sz="2100"/>
          </a:p>
        </p:txBody>
      </p:sp>
      <p:cxnSp>
        <p:nvCxnSpPr>
          <p:cNvPr id="9" name="Connector 8"/>
          <p:cNvCxnSpPr/>
          <p:nvPr/>
        </p:nvCxnSpPr>
        <p:spPr>
          <a:xfrm>
            <a:off x="5715000" y="2368296"/>
            <a:ext cx="583661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0088575" y="2459736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31.10.2023</a:t>
            </a:r>
            <a:endParaRPr lang="he-IL" sz="1800"/>
          </a:p>
        </p:txBody>
      </p:sp>
      <p:sp>
        <p:nvSpPr>
          <p:cNvPr id="11" name="TextBox 10"/>
          <p:cNvSpPr txBox="1"/>
          <p:nvPr/>
        </p:nvSpPr>
        <p:spPr>
          <a:xfrm>
            <a:off x="5715000" y="2459736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״תחזור״ יוצא, ומוקדש לחטופים ולנרצחים.</a:t>
            </a:r>
            <a:endParaRPr lang="he-IL" sz="2100"/>
          </a:p>
        </p:txBody>
      </p:sp>
      <p:cxnSp>
        <p:nvCxnSpPr>
          <p:cNvPr id="12" name="Connector 11"/>
          <p:cNvCxnSpPr/>
          <p:nvPr/>
        </p:nvCxnSpPr>
        <p:spPr>
          <a:xfrm>
            <a:off x="5715000" y="3319272"/>
            <a:ext cx="583661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10088575" y="3410712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פברואר 2024</a:t>
            </a:r>
            <a:endParaRPr lang="he-IL" sz="1800"/>
          </a:p>
        </p:txBody>
      </p:sp>
      <p:sp>
        <p:nvSpPr>
          <p:cNvPr id="14" name="TextBox 13"/>
          <p:cNvSpPr txBox="1"/>
          <p:nvPr/>
        </p:nvSpPr>
        <p:spPr>
          <a:xfrm>
            <a:off x="5715000" y="3410712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השיר נכנס לאלבום ״מגדל של אור״.</a:t>
            </a:r>
            <a:endParaRPr lang="he-IL" sz="2100"/>
          </a:p>
        </p:txBody>
      </p:sp>
      <p:cxnSp>
        <p:nvCxnSpPr>
          <p:cNvPr id="15" name="Connector 14"/>
          <p:cNvCxnSpPr/>
          <p:nvPr/>
        </p:nvCxnSpPr>
        <p:spPr>
          <a:xfrm>
            <a:off x="5715000" y="4270248"/>
            <a:ext cx="583661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0088575" y="4361688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7.7.2024</a:t>
            </a:r>
            <a:endParaRPr lang="he-IL" sz="1800"/>
          </a:p>
        </p:txBody>
      </p:sp>
      <p:sp>
        <p:nvSpPr>
          <p:cNvPr id="17" name="TextBox 16"/>
          <p:cNvSpPr txBox="1"/>
          <p:nvPr/>
        </p:nvSpPr>
        <p:spPr>
          <a:xfrm>
            <a:off x="5715000" y="4361688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גלגלצ מתחילה להשמיע אותו כל יום ב-17:00, כקריאה להחזרתם.</a:t>
            </a:r>
            <a:endParaRPr lang="he-IL" sz="2100"/>
          </a:p>
        </p:txBody>
      </p:sp>
      <p:cxnSp>
        <p:nvCxnSpPr>
          <p:cNvPr id="18" name="Connector 17"/>
          <p:cNvCxnSpPr/>
          <p:nvPr/>
        </p:nvCxnSpPr>
        <p:spPr>
          <a:xfrm>
            <a:off x="5715000" y="5221224"/>
            <a:ext cx="583661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0088575" y="5312664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ההצלחה</a:t>
            </a:r>
            <a:endParaRPr lang="he-IL" sz="1800"/>
          </a:p>
        </p:txBody>
      </p:sp>
      <p:sp>
        <p:nvSpPr>
          <p:cNvPr id="20" name="TextBox 19"/>
          <p:cNvSpPr txBox="1"/>
          <p:nvPr/>
        </p:nvSpPr>
        <p:spPr>
          <a:xfrm>
            <a:off x="5715000" y="5312664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השיר מגיע למקום השני במצעד מדיה פורסט.</a:t>
            </a:r>
            <a:endParaRPr lang="he-IL" sz="2100"/>
          </a:p>
        </p:txBody>
      </p:sp>
      <p:sp>
        <p:nvSpPr>
          <p:cNvPr id="2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F1ECE0"/>
                </a:solidFill>
                <a:latin typeface="Assistant SemiBold"/>
                <a:cs typeface="Assistant SemiBold"/>
              </a:rPr>
              <a:t>״תחזור״ הוא מגדל של אור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לכל מי שעוד לא חזר.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F1ECE0"/>
                </a:solidFill>
                <a:latin typeface="Miriam Libre"/>
                <a:cs typeface="Miriam Libre"/>
              </a:rPr>
              <a:t>כל עוד מישהו מחכה, האור דולק.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