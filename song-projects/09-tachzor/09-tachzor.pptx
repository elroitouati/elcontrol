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1800" b="0">
                <a:solidFill>
                  <a:srgbClr val="F2C46D"/>
                </a:solidFill>
                <a:latin typeface="Assistant"/>
                <a:cs typeface="Assistant"/>
              </a:rPr>
              <a:t>הערכה חלופית בספרות · שכבה ט׳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40080" y="1417320"/>
            <a:ext cx="10911535" cy="23774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he-IL" altLang="en-US" sz="15000" b="0">
                <a:solidFill>
                  <a:srgbClr val="F1ECE0"/>
                </a:solidFill>
                <a:latin typeface="Miriam Libre"/>
                <a:cs typeface="Miriam Libre"/>
              </a:rPr>
              <a:t>תחזור</a:t>
            </a:r>
            <a:endParaRPr lang="he-IL" sz="15000"/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3400" b="0">
                <a:solidFill>
                  <a:srgbClr val="F2C46D"/>
                </a:solidFill>
                <a:latin typeface="Miriam Libre"/>
                <a:cs typeface="Miriam Libre"/>
              </a:rPr>
              <a:t>הפרויקט של עידן רייכל ורוני דלומי</a:t>
            </a:r>
            <a:endParaRPr lang="he-IL" sz="3400"/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2200" b="0">
                <a:solidFill>
                  <a:srgbClr val="A9B1BF"/>
                </a:solidFill>
                <a:latin typeface="Assistant Light"/>
                <a:cs typeface="Assistant Light"/>
              </a:rPr>
              <a:t>שיר לחטופים ולמי שמחכה להם</a:t>
            </a:r>
            <a:endParaRPr lang="he-IL" sz="2200"/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2000" b="0">
                <a:solidFill>
                  <a:srgbClr val="A9B1BF"/>
                </a:solidFill>
                <a:latin typeface="Assistant Light"/>
                <a:cs typeface="Assistant Light"/>
              </a:rPr>
              <a:t>שמות המגישים</a:t>
            </a:r>
            <a:endParaRPr lang="he-IL" sz="20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Quote panel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720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F1ECE0"/>
                </a:solidFill>
                <a:latin typeface="Assistant"/>
                <a:cs typeface="Assistant"/>
              </a:rPr>
              <a:t>הקטע שבחרנו</a:t>
            </a:r>
            <a:endParaRPr lang="he-IL" sz="1800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F2C46D"/>
                </a:solidFill>
                <a:latin typeface="Miriam Libre"/>
                <a:cs typeface="Miriam Libre"/>
              </a:rPr>
              <a:t>תחזור</a:t>
            </a:r>
            <a:r>
              <a:rPr lang="he-IL" altLang="en-US" sz="2400" b="0">
                <a:solidFill>
                  <a:srgbClr val="F1ECE0"/>
                </a:solidFill>
                <a:latin typeface="Miriam Libre"/>
                <a:cs typeface="Miriam Libre"/>
              </a:rPr>
              <a:t>, </a:t>
            </a:r>
            <a:r>
              <a:rPr lang="he-IL" altLang="en-US" sz="2400" b="0">
                <a:solidFill>
                  <a:srgbClr val="F2C46D"/>
                </a:solidFill>
                <a:latin typeface="Miriam Libre"/>
                <a:cs typeface="Miriam Libre"/>
              </a:rPr>
              <a:t>תחזור</a:t>
            </a:r>
            <a:r>
              <a:rPr lang="he-IL" altLang="en-US" sz="2400" b="0">
                <a:solidFill>
                  <a:srgbClr val="F1ECE0"/>
                </a:solidFill>
                <a:latin typeface="Miriam Libre"/>
                <a:cs typeface="Miriam Libre"/>
              </a:rPr>
              <a:t> היום</a:t>
            </a:r>
            <a:endParaRPr lang="he-IL" sz="2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F1ECE0"/>
                </a:solidFill>
                <a:latin typeface="Miriam Libre"/>
                <a:cs typeface="Miriam Libre"/>
              </a:rPr>
              <a:t>כל כך רציתי שתגיע</a:t>
            </a:r>
            <a:endParaRPr lang="he-IL" sz="2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F1ECE0"/>
                </a:solidFill>
                <a:latin typeface="Miriam Libre"/>
                <a:cs typeface="Miriam Libre"/>
              </a:rPr>
              <a:t>הלוואי תבוא בלי להודיע עוד היום</a:t>
            </a:r>
            <a:endParaRPr lang="he-IL" sz="2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F1ECE0"/>
                </a:solidFill>
                <a:latin typeface="Miriam Libre"/>
                <a:cs typeface="Miriam Libre"/>
              </a:rPr>
              <a:t>אני </a:t>
            </a:r>
            <a:r>
              <a:rPr lang="he-IL" altLang="en-US" sz="2400" b="0">
                <a:solidFill>
                  <a:srgbClr val="F2C46D"/>
                </a:solidFill>
                <a:latin typeface="Miriam Libre"/>
                <a:cs typeface="Miriam Libre"/>
              </a:rPr>
              <a:t>מגדל של אור</a:t>
            </a:r>
            <a:endParaRPr lang="he-IL" sz="2400"/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F1ECE0"/>
                </a:solidFill>
                <a:latin typeface="Assistant Light"/>
                <a:cs typeface="Assistant Light"/>
              </a:rPr>
              <a:t>״תחזור״, הפרויקט של עידן רייכל</a:t>
            </a:r>
            <a:endParaRPr lang="he-IL" sz="1600"/>
          </a:p>
        </p:txBody>
      </p:sp>
      <p:sp>
        <p:nvSpPr>
          <p:cNvPr id="7" name="Title"/>
          <p:cNvSpPr txBox="1"/>
          <p:nvPr/>
        </p:nvSpPr>
        <p:spPr>
          <a:xfrm>
            <a:off x="6492240" y="457200"/>
            <a:ext cx="50593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600" b="0">
                <a:solidFill>
                  <a:srgbClr val="F1ECE0"/>
                </a:solidFill>
                <a:latin typeface="Miriam Libre"/>
                <a:cs typeface="Miriam Libre"/>
              </a:rPr>
              <a:t>למה דווקא הקטע הזה</a:t>
            </a:r>
            <a:endParaRPr lang="he-IL" sz="3600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5059375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C46D"/>
                </a:solidFill>
                <a:latin typeface="Assistant SemiBold"/>
                <a:cs typeface="Assistant SemiBold"/>
              </a:rPr>
              <a:t>למה בחרנו בקטע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זה הפזמון, והוא נשמע כמו תפילה. המילה ״תחזור״ חוזרת פעמיים, והבקשה ״בלי להודיע״ מראה שהדוברת מוכנה לחכות בכל רגע. הוא מבטא את הגעגוע של משפחות החטופים.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92240" y="3977639"/>
            <a:ext cx="5059375" cy="2377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C46D"/>
                </a:solidFill>
                <a:latin typeface="Assistant SemiBold"/>
                <a:cs typeface="Assistant SemiBold"/>
              </a:rPr>
              <a:t>החיבור האישי שלנו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בגלגלצ השמיעו את השיר כל יום בחמש בערב, כקריאה להחזרת החטופים. שמענו אותו הרבה, ורק כשניתחנו אותו הבנו כמה כאב ותקווה יש בכל שורה.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9B1BF"/>
                </a:solidFill>
                <a:latin typeface="Assistant"/>
                <a:cs typeface="Assistant"/>
              </a:rPr>
              <a:t>02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raichel.jpg"/>
          <p:cNvPicPr>
            <a:picLocks noChangeAspect="1"/>
          </p:cNvPicPr>
          <p:nvPr/>
        </p:nvPicPr>
        <p:blipFill>
          <a:blip r:embed="rId3"/>
          <a:srcRect l="9378" r="9378"/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6510528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EEEEEE"/>
                </a:solidFill>
                <a:latin typeface="Assistant"/>
                <a:cs typeface="Assistant"/>
              </a:rPr>
              <a:t>צילום: שי פרנקו, ויקישיתוף, CC BY-SA 3.0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4892040" y="457200"/>
            <a:ext cx="66595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F1ECE0"/>
                </a:solidFill>
                <a:latin typeface="Miriam Libre"/>
                <a:cs typeface="Miriam Libre"/>
              </a:rPr>
              <a:t>עידן רייכל</a:t>
            </a:r>
            <a:endParaRPr lang="he-IL" sz="4200"/>
          </a:p>
        </p:txBody>
      </p:sp>
      <p:sp>
        <p:nvSpPr>
          <p:cNvPr id="6" name="TextBox 5"/>
          <p:cNvSpPr txBox="1"/>
          <p:nvPr/>
        </p:nvSpPr>
        <p:spPr>
          <a:xfrm>
            <a:off x="10317175" y="15544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C46D"/>
                </a:solidFill>
                <a:latin typeface="Miriam Libre"/>
                <a:cs typeface="Miriam Libre"/>
              </a:rPr>
              <a:t>1977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4892040" y="1572768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נולד בכפר סבא, ובגיל 9 התחיל לנגן באקורדיון.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92040" y="2395728"/>
            <a:ext cx="665957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17175" y="250545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C46D"/>
                </a:solidFill>
                <a:latin typeface="Miriam Libre"/>
                <a:cs typeface="Miriam Libre"/>
              </a:rPr>
              <a:t>2002</a:t>
            </a:r>
            <a:endParaRPr lang="he-IL" sz="2400"/>
          </a:p>
        </p:txBody>
      </p:sp>
      <p:sp>
        <p:nvSpPr>
          <p:cNvPr id="10" name="TextBox 9"/>
          <p:cNvSpPr txBox="1"/>
          <p:nvPr/>
        </p:nvSpPr>
        <p:spPr>
          <a:xfrm>
            <a:off x="4892040" y="2523744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יצא האלבום הראשון של ״הפרויקט״, עם זמרים ישראלים ממוצא אתיופי.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92040" y="3346704"/>
            <a:ext cx="665957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17175" y="345643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C46D"/>
                </a:solidFill>
                <a:latin typeface="Miriam Libre"/>
                <a:cs typeface="Miriam Libre"/>
              </a:rPr>
              <a:t>2010</a:t>
            </a:r>
            <a:endParaRPr lang="he-IL" sz="2400"/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הופיע בטקס פרס נובל לשלום באוסלו.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92040" y="4297680"/>
            <a:ext cx="665957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17175" y="440740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C46D"/>
                </a:solidFill>
                <a:latin typeface="Miriam Libre"/>
                <a:cs typeface="Miriam Libre"/>
              </a:rPr>
              <a:t>2020</a:t>
            </a:r>
            <a:endParaRPr lang="he-IL" sz="2400"/>
          </a:p>
        </p:txBody>
      </p:sp>
      <p:sp>
        <p:nvSpPr>
          <p:cNvPr id="16" name="TextBox 15"/>
          <p:cNvSpPr txBox="1"/>
          <p:nvPr/>
        </p:nvSpPr>
        <p:spPr>
          <a:xfrm>
            <a:off x="4892040" y="4425696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הדליק משואה בטקס יום העצמאות בהר הרצל.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92040" y="5248656"/>
            <a:ext cx="665957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17175" y="53583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C46D"/>
                </a:solidFill>
                <a:latin typeface="Miriam Libre"/>
                <a:cs typeface="Miriam Libre"/>
              </a:rPr>
              <a:t>2023</a:t>
            </a:r>
            <a:endParaRPr lang="he-IL" sz="2400"/>
          </a:p>
        </p:txBody>
      </p:sp>
      <p:sp>
        <p:nvSpPr>
          <p:cNvPr id="19" name="TextBox 18"/>
          <p:cNvSpPr txBox="1"/>
          <p:nvPr/>
        </p:nvSpPr>
        <p:spPr>
          <a:xfrm>
            <a:off x="4892040" y="5376672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ב״תחזור״ שיתף לראשונה פעולה עם הזמרת רוני דלומי.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489204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9B1BF"/>
                </a:solidFill>
                <a:latin typeface="Assistant"/>
                <a:cs typeface="Assistant"/>
              </a:rPr>
              <a:t>03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F1ECE0"/>
                </a:solidFill>
                <a:latin typeface="Miriam Libre"/>
                <a:cs typeface="Miriam Libre"/>
              </a:rPr>
              <a:t>מילות השיר</a:t>
            </a:r>
            <a:endParaRPr lang="he-IL" sz="4200"/>
          </a:p>
        </p:txBody>
      </p:sp>
      <p:sp>
        <p:nvSpPr>
          <p:cNvPr id="4" name="Lyrics placeholder"/>
          <p:cNvSpPr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  <a:ln w="15875">
            <a:solidFill>
              <a:srgbClr val="26324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" name="Lyrics"/>
          <p:cNvSpPr txBox="1"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spcAft>
                <a:spcPts val="800"/>
              </a:spcAft>
              <a:buNone/>
            </a:pPr>
            <a:r>
              <a:rPr lang="he-IL" altLang="en-US" sz="2600" b="0">
                <a:solidFill>
                  <a:srgbClr val="A9B1BF"/>
                </a:solidFill>
                <a:latin typeface="Miriam Libre"/>
                <a:cs typeface="Miriam Libre"/>
              </a:rPr>
              <a:t>כאן יודבקו מילות השיר המלאות</a:t>
            </a:r>
            <a:endParaRPr lang="he-IL" sz="2600"/>
          </a:p>
          <a:p>
            <a:pPr algn="ctr" rtl="1">
              <a:buNone/>
            </a:pPr>
            <a:r>
              <a:rPr lang="he-IL" altLang="en-US" sz="1800" b="0">
                <a:solidFill>
                  <a:srgbClr val="A9B1BF"/>
                </a:solidFill>
                <a:latin typeface="Assistant Light"/>
                <a:cs typeface="Assistant Light"/>
              </a:rPr>
              <a:t>לפי חלוקת הבתים והשורות המקורית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400" b="0">
                <a:solidFill>
                  <a:srgbClr val="A9B1BF"/>
                </a:solidFill>
                <a:latin typeface="Assistant Light"/>
                <a:cs typeface="Assistant Light"/>
              </a:rPr>
              <a:t>מילים ולחן: עידן רייכל ואבי אוחיון · שירה: רוני דלומי · יצא ב-31 באוקטובר 2023</a:t>
            </a:r>
            <a:endParaRPr lang="he-IL" sz="14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9B1BF"/>
                </a:solidFill>
                <a:latin typeface="Assistant"/>
                <a:cs typeface="Assistant"/>
              </a:rPr>
              <a:t>04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A9B1BF"/>
                </a:solidFill>
                <a:latin typeface="Assistant SemiBold"/>
                <a:cs typeface="Assistant SemiBold"/>
              </a:rPr>
              <a:t>מושג ראשון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77240"/>
            <a:ext cx="5516575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400" b="0">
                <a:solidFill>
                  <a:srgbClr val="F2C46D"/>
                </a:solidFill>
                <a:latin typeface="Miriam Libre"/>
                <a:cs typeface="Miriam Libre"/>
              </a:rPr>
              <a:t>מטאפורה</a:t>
            </a:r>
            <a:endParaRPr lang="he-IL" sz="5400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A9B1BF"/>
                </a:solidFill>
                <a:latin typeface="Assistant Light"/>
                <a:cs typeface="Assistant Light"/>
              </a:rPr>
              <a:t>תיאור של דבר אחד באמצעות דבר מעולם אחר, בלי מילת דימוי כמו ״כמו״ או ״כְּ״.</a:t>
            </a:r>
            <a:endParaRPr lang="he-IL" sz="20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2011680"/>
            <a:ext cx="1091153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40080" y="2194560"/>
            <a:ext cx="10911535" cy="16916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1ECE0"/>
                </a:solidFill>
                <a:latin typeface="Miriam Libre"/>
                <a:cs typeface="Miriam Libre"/>
              </a:rPr>
              <a:t>אני </a:t>
            </a:r>
            <a:r>
              <a:rPr lang="he-IL" altLang="en-US" sz="3200" b="0">
                <a:solidFill>
                  <a:srgbClr val="F2C46D"/>
                </a:solidFill>
                <a:latin typeface="Miriam Libre"/>
                <a:cs typeface="Miriam Libre"/>
              </a:rPr>
              <a:t>מגדל של אור</a:t>
            </a:r>
            <a:endParaRPr lang="he-IL" sz="32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1ECE0"/>
                </a:solidFill>
                <a:latin typeface="Miriam Libre"/>
                <a:cs typeface="Miriam Libre"/>
              </a:rPr>
              <a:t>ממרחקים ששוב תופיע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C46D"/>
                </a:solidFill>
                <a:latin typeface="Assistant SemiBold"/>
                <a:cs typeface="Assistant SemiBol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הדוברת אומרת שהיא ״מגדל של אור״, כמו מגדלור שמאיר לספינות את הדרך לנמל.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C46D"/>
                </a:solidFill>
                <a:latin typeface="Assistant SemiBold"/>
                <a:cs typeface="Assistant SemiBol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היא לא רק מחכה, היא מאירה לו את הדרך הביתה. המטאפורה הפכה גם לשם של האלבום.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9B1BF"/>
                </a:solidFill>
                <a:latin typeface="Assistant"/>
                <a:cs typeface="Assistant"/>
              </a:rPr>
              <a:t>05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A9B1BF"/>
                </a:solidFill>
                <a:latin typeface="Assistant SemiBold"/>
                <a:cs typeface="Assistant SemiBold"/>
              </a:rPr>
              <a:t>מושג שני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77240"/>
            <a:ext cx="5516575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400" b="0">
                <a:solidFill>
                  <a:srgbClr val="F2C46D"/>
                </a:solidFill>
                <a:latin typeface="Miriam Libre"/>
                <a:cs typeface="Miriam Libre"/>
              </a:rPr>
              <a:t>דימוי</a:t>
            </a:r>
            <a:endParaRPr lang="he-IL" sz="5400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A9B1BF"/>
                </a:solidFill>
                <a:latin typeface="Assistant Light"/>
                <a:cs typeface="Assistant Light"/>
              </a:rPr>
              <a:t>השוואה בין שני דברים בעזרת מילת דימוי, כמו ״כמו״ או ״כְּ״.</a:t>
            </a:r>
            <a:endParaRPr lang="he-IL" sz="20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2011680"/>
            <a:ext cx="1091153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40080" y="2194560"/>
            <a:ext cx="10911535" cy="16916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1ECE0"/>
                </a:solidFill>
                <a:latin typeface="Miriam Libre"/>
                <a:cs typeface="Miriam Libre"/>
              </a:rPr>
              <a:t>הימים והלילות</a:t>
            </a:r>
            <a:endParaRPr lang="he-IL" sz="32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2C46D"/>
                </a:solidFill>
                <a:latin typeface="Miriam Libre"/>
                <a:cs typeface="Miriam Libre"/>
              </a:rPr>
              <a:t>כמו</a:t>
            </a:r>
            <a:r>
              <a:rPr lang="he-IL" altLang="en-US" sz="3200" b="0">
                <a:solidFill>
                  <a:srgbClr val="F1ECE0"/>
                </a:solidFill>
                <a:latin typeface="Miriam Libre"/>
                <a:cs typeface="Miriam Libre"/>
              </a:rPr>
              <a:t> הפנים שבתמונות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C46D"/>
                </a:solidFill>
                <a:latin typeface="Assistant SemiBold"/>
                <a:cs typeface="Assistant SemiBol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הימים מושווים לפנים בתמונות, בעזרת המילה ״כמו״: הם קפואים ולא זזים.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C46D"/>
                </a:solidFill>
                <a:latin typeface="Assistant SemiBold"/>
                <a:cs typeface="Assistant SemiBol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1ECE0"/>
                </a:solidFill>
                <a:latin typeface="Assistant Light"/>
                <a:cs typeface="Assistant Light"/>
              </a:rPr>
              <a:t>הדימוי מזכיר את תמונות החטופים שנתלו בכל מקום. הזמן עוצר, כמו תמונה, עד שיחזרו.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9B1BF"/>
                </a:solidFill>
                <a:latin typeface="Assistant"/>
                <a:cs typeface="Assistant"/>
              </a:rPr>
              <a:t>06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F1ECE0"/>
                </a:solidFill>
                <a:latin typeface="Miriam Libre"/>
                <a:cs typeface="Miriam Libre"/>
              </a:rPr>
              <a:t>מילים שמעוררות את המלחמה</a:t>
            </a:r>
            <a:endParaRPr lang="he-IL" sz="4200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A9B1BF"/>
                </a:solidFill>
                <a:latin typeface="Assistant Light"/>
                <a:cs typeface="Assistant Light"/>
              </a:rPr>
              <a:t>השיר לא מזכיר את המלחמה במילים ישירות, אבל הוא מעורר את ההמתנה לחטופים</a:t>
            </a:r>
            <a:endParaRPr lang="he-IL" sz="2000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2895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45000"/>
              </a:lnSpc>
              <a:buNone/>
            </a:pPr>
            <a:r>
              <a:rPr lang="he-IL" altLang="en-US" sz="4000" b="0">
                <a:solidFill>
                  <a:srgbClr val="F2C46D"/>
                </a:solidFill>
                <a:latin typeface="Miriam Libre"/>
                <a:cs typeface="Miriam Libre"/>
              </a:rPr>
              <a:t>תחזור</a:t>
            </a:r>
            <a:r>
              <a:rPr lang="he-IL" altLang="en-US" sz="4000" b="0">
                <a:solidFill>
                  <a:srgbClr val="A9B1BF"/>
                </a:solidFill>
                <a:latin typeface="Assistant Light"/>
                <a:cs typeface="Assistant Light"/>
              </a:rPr>
              <a:t>   ·   </a:t>
            </a:r>
            <a:r>
              <a:rPr lang="he-IL" altLang="en-US" sz="4000" b="0">
                <a:solidFill>
                  <a:srgbClr val="F1ECE0"/>
                </a:solidFill>
                <a:latin typeface="Miriam Libre"/>
                <a:cs typeface="Miriam Libre"/>
              </a:rPr>
              <a:t>כשאתה לא כאן</a:t>
            </a:r>
            <a:r>
              <a:rPr lang="he-IL" altLang="en-US" sz="4000" b="0">
                <a:solidFill>
                  <a:srgbClr val="A9B1BF"/>
                </a:solidFill>
                <a:latin typeface="Assistant Light"/>
                <a:cs typeface="Assistant Light"/>
              </a:rPr>
              <a:t>   ·   </a:t>
            </a:r>
            <a:r>
              <a:rPr lang="he-IL" altLang="en-US" sz="4000" b="0">
                <a:solidFill>
                  <a:srgbClr val="F2C46D"/>
                </a:solidFill>
                <a:latin typeface="Miriam Libre"/>
                <a:cs typeface="Miriam Libre"/>
              </a:rPr>
              <a:t>הכול עוצר מלכת</a:t>
            </a:r>
            <a:r>
              <a:rPr lang="he-IL" altLang="en-US" sz="4000" b="0">
                <a:solidFill>
                  <a:srgbClr val="A9B1BF"/>
                </a:solidFill>
                <a:latin typeface="Assistant Light"/>
                <a:cs typeface="Assistant Light"/>
              </a:rPr>
              <a:t>   ·   </a:t>
            </a:r>
            <a:r>
              <a:rPr lang="he-IL" altLang="en-US" sz="4000" b="0">
                <a:solidFill>
                  <a:srgbClr val="F1ECE0"/>
                </a:solidFill>
                <a:latin typeface="Miriam Libre"/>
                <a:cs typeface="Miriam Libre"/>
              </a:rPr>
              <a:t>הפנים שבתמונות</a:t>
            </a:r>
            <a:r>
              <a:rPr lang="he-IL" altLang="en-US" sz="4000" b="0">
                <a:solidFill>
                  <a:srgbClr val="A9B1BF"/>
                </a:solidFill>
                <a:latin typeface="Assistant Light"/>
                <a:cs typeface="Assistant Light"/>
              </a:rPr>
              <a:t>   ·   </a:t>
            </a:r>
            <a:r>
              <a:rPr lang="he-IL" altLang="en-US" sz="4000" b="0">
                <a:solidFill>
                  <a:srgbClr val="F2C46D"/>
                </a:solidFill>
                <a:latin typeface="Miriam Libre"/>
                <a:cs typeface="Miriam Libre"/>
              </a:rPr>
              <a:t>קוראת לך מתוך הלילה</a:t>
            </a:r>
            <a:r>
              <a:rPr lang="he-IL" altLang="en-US" sz="4000" b="0">
                <a:solidFill>
                  <a:srgbClr val="A9B1BF"/>
                </a:solidFill>
                <a:latin typeface="Assistant Light"/>
                <a:cs typeface="Assistant Light"/>
              </a:rPr>
              <a:t>   ·   </a:t>
            </a:r>
            <a:r>
              <a:rPr lang="he-IL" altLang="en-US" sz="4000" b="0">
                <a:solidFill>
                  <a:srgbClr val="F1ECE0"/>
                </a:solidFill>
                <a:latin typeface="Miriam Libre"/>
                <a:cs typeface="Miriam Libre"/>
              </a:rPr>
              <a:t>ממרחקים</a:t>
            </a:r>
            <a:r>
              <a:rPr lang="he-IL" altLang="en-US" sz="4000" b="0">
                <a:solidFill>
                  <a:srgbClr val="A9B1BF"/>
                </a:solidFill>
                <a:latin typeface="Assistant Light"/>
                <a:cs typeface="Assistant Light"/>
              </a:rPr>
              <a:t>   ·   </a:t>
            </a:r>
            <a:r>
              <a:rPr lang="he-IL" altLang="en-US" sz="4000" b="0">
                <a:solidFill>
                  <a:srgbClr val="F2C46D"/>
                </a:solidFill>
                <a:latin typeface="Miriam Libre"/>
                <a:cs typeface="Miriam Libre"/>
              </a:rPr>
              <a:t>בלי להודיע</a:t>
            </a:r>
            <a:r>
              <a:rPr lang="he-IL" altLang="en-US" sz="4000" b="0">
                <a:solidFill>
                  <a:srgbClr val="A9B1BF"/>
                </a:solidFill>
                <a:latin typeface="Assistant Light"/>
                <a:cs typeface="Assistant Light"/>
              </a:rPr>
              <a:t>   ·   </a:t>
            </a:r>
            <a:r>
              <a:rPr lang="he-IL" altLang="en-US" sz="4000" b="0">
                <a:solidFill>
                  <a:srgbClr val="F1ECE0"/>
                </a:solidFill>
                <a:latin typeface="Miriam Libre"/>
                <a:cs typeface="Miriam Libre"/>
              </a:rPr>
              <a:t>מגדל של אור</a:t>
            </a:r>
            <a:endParaRPr lang="he-IL" sz="4000"/>
          </a:p>
        </p:txBody>
      </p:sp>
      <p:sp>
        <p:nvSpPr>
          <p:cNvPr id="6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9B1BF"/>
                </a:solidFill>
                <a:latin typeface="Assistant"/>
                <a:cs typeface="Assistant"/>
              </a:rPr>
              <a:t>07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F1ECE0"/>
                </a:solidFill>
                <a:latin typeface="Miriam Libre"/>
                <a:cs typeface="Miriam Libre"/>
              </a:rPr>
              <a:t>האירועים שהמילים מעוררות</a:t>
            </a:r>
            <a:endParaRPr lang="he-IL" sz="4200"/>
          </a:p>
        </p:txBody>
      </p:sp>
      <p:pic>
        <p:nvPicPr>
          <p:cNvPr id="4" name="Event photo" descr="ev_table.jpg"/>
          <p:cNvPicPr>
            <a:picLocks noChangeAspect="1"/>
          </p:cNvPicPr>
          <p:nvPr/>
        </p:nvPicPr>
        <p:blipFill>
          <a:blip r:embed="rId3"/>
          <a:srcRect t="27305" b="33373"/>
          <a:stretch>
            <a:fillRect/>
          </a:stretch>
        </p:blipFill>
        <p:spPr>
          <a:xfrm>
            <a:off x="640080" y="1554480"/>
            <a:ext cx="45720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79145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A9B1BF"/>
                </a:solidFill>
                <a:latin typeface="Assistant"/>
                <a:cs typeface="Assistant"/>
              </a:rPr>
              <a:t>צילום: Chenspec, ויקישיתוף, CC BY-SA 4.0</a:t>
            </a:r>
            <a:endParaRPr lang="he-IL" sz="1000"/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600" b="0">
                <a:solidFill>
                  <a:srgbClr val="A9B1BF"/>
                </a:solidFill>
                <a:latin typeface="Assistant Light"/>
                <a:cs typeface="Assistant Light"/>
              </a:rPr>
              <a:t>מיצב שולחן השבת הריק בכיכר החטופים, מרץ 2024. כל כיסא מחכה למישהו שיחזור.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10088575" y="150876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F2C46D"/>
                </a:solidFill>
                <a:latin typeface="Assistant SemiBold"/>
                <a:cs typeface="Assistant SemiBold"/>
              </a:rPr>
              <a:t>7.10.2023</a:t>
            </a:r>
            <a:endParaRPr lang="he-IL" sz="1800"/>
          </a:p>
        </p:txBody>
      </p:sp>
      <p:sp>
        <p:nvSpPr>
          <p:cNvPr id="8" name="TextBox 7"/>
          <p:cNvSpPr txBox="1"/>
          <p:nvPr/>
        </p:nvSpPr>
        <p:spPr>
          <a:xfrm>
            <a:off x="5715000" y="1508760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1ECE0"/>
                </a:solidFill>
                <a:latin typeface="Assistant Light"/>
                <a:cs typeface="Assistant Light"/>
              </a:rPr>
              <a:t>251 בני אדם נחטפים לרצועת עזה.</a:t>
            </a:r>
            <a:endParaRPr lang="he-IL" sz="2100"/>
          </a:p>
        </p:txBody>
      </p:sp>
      <p:cxnSp>
        <p:nvCxnSpPr>
          <p:cNvPr id="9" name="Connector 8"/>
          <p:cNvCxnSpPr/>
          <p:nvPr/>
        </p:nvCxnSpPr>
        <p:spPr>
          <a:xfrm>
            <a:off x="5715000" y="2368296"/>
            <a:ext cx="583661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10088575" y="2459736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F2C46D"/>
                </a:solidFill>
                <a:latin typeface="Assistant SemiBold"/>
                <a:cs typeface="Assistant SemiBold"/>
              </a:rPr>
              <a:t>31.10.2023</a:t>
            </a:r>
            <a:endParaRPr lang="he-IL" sz="1800"/>
          </a:p>
        </p:txBody>
      </p:sp>
      <p:sp>
        <p:nvSpPr>
          <p:cNvPr id="11" name="TextBox 10"/>
          <p:cNvSpPr txBox="1"/>
          <p:nvPr/>
        </p:nvSpPr>
        <p:spPr>
          <a:xfrm>
            <a:off x="5715000" y="2459736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1ECE0"/>
                </a:solidFill>
                <a:latin typeface="Assistant Light"/>
                <a:cs typeface="Assistant Light"/>
              </a:rPr>
              <a:t>״תחזור״ יוצא, ומוקדש לחטופים ולנרצחים.</a:t>
            </a:r>
            <a:endParaRPr lang="he-IL" sz="2100"/>
          </a:p>
        </p:txBody>
      </p:sp>
      <p:cxnSp>
        <p:nvCxnSpPr>
          <p:cNvPr id="12" name="Connector 11"/>
          <p:cNvCxnSpPr/>
          <p:nvPr/>
        </p:nvCxnSpPr>
        <p:spPr>
          <a:xfrm>
            <a:off x="5715000" y="3319272"/>
            <a:ext cx="583661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10088575" y="3410712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F2C46D"/>
                </a:solidFill>
                <a:latin typeface="Assistant SemiBold"/>
                <a:cs typeface="Assistant SemiBold"/>
              </a:rPr>
              <a:t>פברואר 2024</a:t>
            </a:r>
            <a:endParaRPr lang="he-IL" sz="1800"/>
          </a:p>
        </p:txBody>
      </p:sp>
      <p:sp>
        <p:nvSpPr>
          <p:cNvPr id="14" name="TextBox 13"/>
          <p:cNvSpPr txBox="1"/>
          <p:nvPr/>
        </p:nvSpPr>
        <p:spPr>
          <a:xfrm>
            <a:off x="5715000" y="3410712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1ECE0"/>
                </a:solidFill>
                <a:latin typeface="Assistant Light"/>
                <a:cs typeface="Assistant Light"/>
              </a:rPr>
              <a:t>השיר נכנס לאלבום ״מגדל של אור״.</a:t>
            </a:r>
            <a:endParaRPr lang="he-IL" sz="2100"/>
          </a:p>
        </p:txBody>
      </p:sp>
      <p:cxnSp>
        <p:nvCxnSpPr>
          <p:cNvPr id="15" name="Connector 14"/>
          <p:cNvCxnSpPr/>
          <p:nvPr/>
        </p:nvCxnSpPr>
        <p:spPr>
          <a:xfrm>
            <a:off x="5715000" y="4270248"/>
            <a:ext cx="583661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10088575" y="4361688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F2C46D"/>
                </a:solidFill>
                <a:latin typeface="Assistant SemiBold"/>
                <a:cs typeface="Assistant SemiBold"/>
              </a:rPr>
              <a:t>7.7.2024</a:t>
            </a:r>
            <a:endParaRPr lang="he-IL" sz="1800"/>
          </a:p>
        </p:txBody>
      </p:sp>
      <p:sp>
        <p:nvSpPr>
          <p:cNvPr id="17" name="TextBox 16"/>
          <p:cNvSpPr txBox="1"/>
          <p:nvPr/>
        </p:nvSpPr>
        <p:spPr>
          <a:xfrm>
            <a:off x="5715000" y="4361688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1ECE0"/>
                </a:solidFill>
                <a:latin typeface="Assistant Light"/>
                <a:cs typeface="Assistant Light"/>
              </a:rPr>
              <a:t>גלגלצ מתחילה להשמיע אותו כל יום ב-17:00, כקריאה להחזרתם.</a:t>
            </a:r>
            <a:endParaRPr lang="he-IL" sz="2100"/>
          </a:p>
        </p:txBody>
      </p:sp>
      <p:cxnSp>
        <p:nvCxnSpPr>
          <p:cNvPr id="18" name="Connector 17"/>
          <p:cNvCxnSpPr/>
          <p:nvPr/>
        </p:nvCxnSpPr>
        <p:spPr>
          <a:xfrm>
            <a:off x="5715000" y="5221224"/>
            <a:ext cx="5836615" cy="0"/>
          </a:xfrm>
          <a:prstGeom prst="line">
            <a:avLst/>
          </a:prstGeom>
          <a:ln w="9525">
            <a:solidFill>
              <a:srgbClr val="263247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10088575" y="5312664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F2C46D"/>
                </a:solidFill>
                <a:latin typeface="Assistant SemiBold"/>
                <a:cs typeface="Assistant SemiBold"/>
              </a:rPr>
              <a:t>ההצלחה</a:t>
            </a:r>
            <a:endParaRPr lang="he-IL" sz="1800"/>
          </a:p>
        </p:txBody>
      </p:sp>
      <p:sp>
        <p:nvSpPr>
          <p:cNvPr id="20" name="TextBox 19"/>
          <p:cNvSpPr txBox="1"/>
          <p:nvPr/>
        </p:nvSpPr>
        <p:spPr>
          <a:xfrm>
            <a:off x="5715000" y="5312664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1ECE0"/>
                </a:solidFill>
                <a:latin typeface="Assistant Light"/>
                <a:cs typeface="Assistant Light"/>
              </a:rPr>
              <a:t>השיר מגיע למקום השני במצעד מדיה פורסט.</a:t>
            </a:r>
            <a:endParaRPr lang="he-IL" sz="2100"/>
          </a:p>
        </p:txBody>
      </p:sp>
      <p:sp>
        <p:nvSpPr>
          <p:cNvPr id="2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9B1BF"/>
                </a:solidFill>
                <a:latin typeface="Assistant"/>
                <a:cs typeface="Assistant"/>
              </a:rPr>
              <a:t>08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280160"/>
            <a:ext cx="10911535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600" b="0">
                <a:solidFill>
                  <a:srgbClr val="F1ECE0"/>
                </a:solidFill>
                <a:latin typeface="Assistant SemiBold"/>
                <a:cs typeface="Assistant SemiBold"/>
              </a:rPr>
              <a:t>״תחזור״ הוא מגדל של אור</a:t>
            </a:r>
            <a:endParaRPr lang="he-IL" sz="36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4000" b="0">
                <a:solidFill>
                  <a:srgbClr val="F2C46D"/>
                </a:solidFill>
                <a:latin typeface="Miriam Libre"/>
                <a:cs typeface="Miriam Libre"/>
              </a:rPr>
              <a:t>לכל מי שעוד לא חזר.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400" b="0">
                <a:solidFill>
                  <a:srgbClr val="F1ECE0"/>
                </a:solidFill>
                <a:latin typeface="Miriam Libre"/>
                <a:cs typeface="Miriam Libre"/>
              </a:rPr>
              <a:t>כל עוד מישהו מחכה, האור דולק.</a:t>
            </a:r>
            <a:endParaRPr lang="he-IL" sz="34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9B1BF"/>
                </a:solidFill>
                <a:latin typeface="Assistant"/>
                <a:cs typeface="Assistant"/>
              </a:rPr>
              <a:t>09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