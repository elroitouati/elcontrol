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over photo" descr="hba_stage_2019_dolev_ccbysa4.jpg"/>
          <p:cNvPicPr>
            <a:picLocks noChangeAspect="1"/>
          </p:cNvPicPr>
          <p:nvPr/>
        </p:nvPicPr>
        <p:blipFill>
          <a:blip r:embed="rId3"/>
          <a:srcRect l="25354" r="25354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510528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Heebo"/>
                <a:cs typeface="Heebo"/>
              </a:rPr>
              <a:t>צילום: דולב, ויקישיתוף, CC BY-SA 4.0</a:t>
            </a:r>
            <a:endParaRPr lang="he-IL" sz="1000"/>
          </a:p>
        </p:txBody>
      </p:sp>
      <p:sp>
        <p:nvSpPr>
          <p:cNvPr id="5" name="TextBox 4"/>
          <p:cNvSpPr txBox="1"/>
          <p:nvPr/>
        </p:nvSpPr>
        <p:spPr>
          <a:xfrm>
            <a:off x="5760720" y="731520"/>
            <a:ext cx="579089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2147A8"/>
                </a:solidFill>
                <a:latin typeface="Heebo"/>
                <a:cs typeface="Heebo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6" name="Title"/>
          <p:cNvSpPr txBox="1"/>
          <p:nvPr/>
        </p:nvSpPr>
        <p:spPr>
          <a:xfrm>
            <a:off x="5760720" y="1417320"/>
            <a:ext cx="5790895" cy="21945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12800" b="0">
                <a:solidFill>
                  <a:srgbClr val="14204A"/>
                </a:solidFill>
                <a:latin typeface="Frank Ruhl Libre Medium"/>
                <a:cs typeface="Frank Ruhl Libre Medium"/>
              </a:rPr>
              <a:t>מולדת</a:t>
            </a:r>
            <a:endParaRPr lang="he-IL" sz="12800"/>
          </a:p>
        </p:txBody>
      </p:sp>
      <p:sp>
        <p:nvSpPr>
          <p:cNvPr id="7" name="TextBox 6"/>
          <p:cNvSpPr txBox="1"/>
          <p:nvPr/>
        </p:nvSpPr>
        <p:spPr>
          <a:xfrm>
            <a:off x="5760720" y="3703320"/>
            <a:ext cx="579089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2147A8"/>
                </a:solidFill>
                <a:latin typeface="Frank Ruhl Libre Light"/>
                <a:cs typeface="Frank Ruhl Libre Light"/>
              </a:rPr>
              <a:t>חנן בן ארי</a:t>
            </a:r>
            <a:endParaRPr lang="he-IL" sz="3400"/>
          </a:p>
        </p:txBody>
      </p:sp>
      <p:sp>
        <p:nvSpPr>
          <p:cNvPr id="8" name="TextBox 7"/>
          <p:cNvSpPr txBox="1"/>
          <p:nvPr/>
        </p:nvSpPr>
        <p:spPr>
          <a:xfrm>
            <a:off x="5760720" y="4434840"/>
            <a:ext cx="57908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he-IL" altLang="en-US" sz="2200" b="0">
                <a:solidFill>
                  <a:srgbClr val="5C6378"/>
                </a:solidFill>
                <a:latin typeface="Heebo Light"/>
                <a:cs typeface="Heebo Light"/>
              </a:rPr>
              <a:t>שיר אהבה למדינה שנפצעה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5760720" y="5669280"/>
            <a:ext cx="579089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5C6378"/>
                </a:solidFill>
                <a:latin typeface="Heebo Light"/>
                <a:cs typeface="Heebo Light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14204A"/>
                </a:solidFill>
                <a:latin typeface="Frank Ruhl Libre Medium"/>
                <a:cs typeface="Frank Ruhl Libre Medium"/>
              </a:rPr>
              <a:t>הקטע שבחרנו</a:t>
            </a:r>
            <a:endParaRPr lang="he-IL" sz="4200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14204A"/>
                </a:solidFill>
                <a:latin typeface="Frank Ruhl Libre"/>
                <a:cs typeface="Frank Ruhl Libre"/>
              </a:rPr>
              <a:t>הנביאים חזו לך אחרת</a:t>
            </a:r>
            <a:endParaRPr lang="he-IL" sz="30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147A8"/>
                </a:solidFill>
                <a:latin typeface="Frank Ruhl Libre"/>
                <a:cs typeface="Frank Ruhl Libre"/>
              </a:rPr>
              <a:t>מישהו נרדם במשמרת</a:t>
            </a:r>
            <a:endParaRPr lang="he-IL" sz="30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14204A"/>
                </a:solidFill>
                <a:latin typeface="Frank Ruhl Libre"/>
                <a:cs typeface="Frank Ruhl Libre"/>
              </a:rPr>
              <a:t>איפה החלום</a:t>
            </a:r>
            <a:endParaRPr lang="he-IL" sz="30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14204A"/>
                </a:solidFill>
                <a:latin typeface="Frank Ruhl Libre"/>
                <a:cs typeface="Frank Ruhl Libre"/>
              </a:rPr>
              <a:t>אין אמת ואין שלום</a:t>
            </a:r>
            <a:endParaRPr lang="he-IL" sz="3000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l" rtl="1">
              <a:buNone/>
            </a:pPr>
            <a:r>
              <a:rPr lang="he-IL" altLang="en-US" sz="1600" b="0">
                <a:solidFill>
                  <a:srgbClr val="5C6378"/>
                </a:solidFill>
                <a:latin typeface="Heebo Light"/>
                <a:cs typeface="Heebo Light"/>
              </a:rPr>
              <a:t>״מולדת״, חנן בן ארי</a:t>
            </a:r>
            <a:endParaRPr lang="he-IL" sz="16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3547872"/>
            <a:ext cx="1091153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355080" y="3822191"/>
            <a:ext cx="5196535" cy="253288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147A8"/>
                </a:solidFill>
                <a:latin typeface="Heebo"/>
                <a:cs typeface="Heebo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בארבע השורות האלה הדובר מפסיק לשיר שיר אהבה רגיל ומתחיל לשאול שאלות קשות. ״מישהו נרדם במשמרת״ נשמע כאילו נכתב על 7 באוקטובר, למרות שהשיר נכתב עוד לפני המלחמה.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822191"/>
            <a:ext cx="5257800" cy="253288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147A8"/>
                </a:solidFill>
                <a:latin typeface="Heebo"/>
                <a:cs typeface="Heebo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השורה ״מישהו נרדם במשמרת״ גרמה לנו לחשוב על אחריות. כל אחד מאיתנו עומד מתישהו ״במשמרת״ של מישהו אחר, בכיתה, בתנועה ובעתיד בצבא, והשיר מזכיר כמה זה חשוב.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hba_portrait_yarden_rokach_ccbysa3.jpg"/>
          <p:cNvPicPr>
            <a:picLocks noChangeAspect="1"/>
          </p:cNvPicPr>
          <p:nvPr/>
        </p:nvPicPr>
        <p:blipFill>
          <a:blip r:embed="rId3"/>
          <a:srcRect t="2399" b="13595"/>
          <a:stretch>
            <a:fillRect/>
          </a:stretch>
        </p:blipFill>
        <p:spPr>
          <a:xfrm>
            <a:off x="640080" y="1417320"/>
            <a:ext cx="3657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624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5C6378"/>
                </a:solidFill>
                <a:latin typeface="Heebo"/>
                <a:cs typeface="Heebo"/>
              </a:rPr>
              <a:t>צילום: ירדן רוקח,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14204A"/>
                </a:solidFill>
                <a:latin typeface="Frank Ruhl Libre Medium"/>
                <a:cs typeface="Frank Ruhl Libre Medium"/>
              </a:rPr>
              <a:t>חנן בן ארי</a:t>
            </a:r>
            <a:endParaRPr lang="he-IL" sz="4200"/>
          </a:p>
        </p:txBody>
      </p:sp>
      <p:sp>
        <p:nvSpPr>
          <p:cNvPr id="6" name="TextBox 5"/>
          <p:cNvSpPr txBox="1"/>
          <p:nvPr/>
        </p:nvSpPr>
        <p:spPr>
          <a:xfrm>
            <a:off x="1031717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147A8"/>
                </a:solidFill>
                <a:latin typeface="Frank Ruhl Libre Light"/>
                <a:cs typeface="Frank Ruhl Libre Light"/>
              </a:rPr>
              <a:t>1988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4846320" y="1572768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נולד בקרני שומרון, והתחיל להלחין כבר בגיל 13.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46320" y="2395728"/>
            <a:ext cx="670529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1717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147A8"/>
                </a:solidFill>
                <a:latin typeface="Frank Ruhl Libre Light"/>
                <a:cs typeface="Frank Ruhl Libre Light"/>
              </a:rPr>
              <a:t>2013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4846320" y="2523744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יצר את ״מתבגרים״, מופע חינוכי להורים ולבני נוער.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46320" y="3346704"/>
            <a:ext cx="670529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1717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147A8"/>
                </a:solidFill>
                <a:latin typeface="Frank Ruhl Libre Light"/>
                <a:cs typeface="Frank Ruhl Libre Light"/>
              </a:rPr>
              <a:t>2016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4846320" y="3474720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אלבום הבכורה ״אייזון״ הגיע למעמד של אלבום זהב.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46320" y="4297680"/>
            <a:ext cx="670529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1717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147A8"/>
                </a:solidFill>
                <a:latin typeface="Frank Ruhl Libre Light"/>
                <a:cs typeface="Frank Ruhl Libre Light"/>
              </a:rPr>
              <a:t>2021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4846320" y="4425696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נבחר לזמר השנה בכאן גימל וזכה בפרס אקו״ם לכותב השנה.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46320" y="5248656"/>
            <a:ext cx="670529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1717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147A8"/>
                </a:solidFill>
                <a:latin typeface="Frank Ruhl Libre Light"/>
                <a:cs typeface="Frank Ruhl Libre Light"/>
              </a:rPr>
              <a:t>2023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4846320" y="5376672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ב-12 בדצמבר היה הזמר הישראלי הראשון שהופיע לחיילים בתוך רצועת עזה.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14204A"/>
                </a:solidFill>
                <a:latin typeface="Frank Ruhl Libre Medium"/>
                <a:cs typeface="Frank Ruhl Libre Medium"/>
              </a:rPr>
              <a:t>מילות השיר</a:t>
            </a:r>
            <a:endParaRPr lang="he-IL" sz="42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CDD2DD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5C6378"/>
                </a:solidFill>
                <a:latin typeface="Frank Ruhl Libre Light"/>
                <a:cs typeface="Frank Ruhl Libre Light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5C6378"/>
                </a:solidFill>
                <a:latin typeface="Heebo Light"/>
                <a:cs typeface="Heebo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5C6378"/>
                </a:solidFill>
                <a:latin typeface="Heebo Light"/>
                <a:cs typeface="Heebo Light"/>
              </a:rPr>
              <a:t>מילים ולחן: חנן בן ארי · הפקה ועיבוד: תומר בירן · יצא ב-16 באוקטובר 2023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5C6378"/>
                </a:solidFill>
                <a:latin typeface="Heebo"/>
                <a:cs typeface="Heebo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77240"/>
            <a:ext cx="5516575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0">
                <a:solidFill>
                  <a:srgbClr val="2147A8"/>
                </a:solidFill>
                <a:latin typeface="Frank Ruhl Libre Medium"/>
                <a:cs typeface="Frank Ruhl Libre Medium"/>
              </a:rPr>
              <a:t>האנשה</a:t>
            </a:r>
            <a:endParaRPr lang="he-IL" sz="5400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5C6378"/>
                </a:solidFill>
                <a:latin typeface="Heebo Light"/>
                <a:cs typeface="Heebo Light"/>
              </a:rPr>
              <a:t>ייחוס תכונות או פעולות של בני אדם לדבר שאינו אדם.</a:t>
            </a:r>
            <a:endParaRPr lang="he-IL" sz="20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2011680"/>
            <a:ext cx="1091153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40080" y="2194560"/>
            <a:ext cx="10911535" cy="16916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היפיפיה </a:t>
            </a:r>
            <a:r>
              <a:rPr lang="he-IL" altLang="en-US" sz="3200" b="0">
                <a:solidFill>
                  <a:srgbClr val="2147A8"/>
                </a:solidFill>
                <a:latin typeface="Frank Ruhl Libre"/>
                <a:cs typeface="Frank Ruhl Libre"/>
              </a:rPr>
              <a:t>הנרדמת</a:t>
            </a:r>
            <a:endParaRPr lang="he-IL" sz="32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עד מתי תהיי </a:t>
            </a:r>
            <a:r>
              <a:rPr lang="he-IL" altLang="en-US" sz="3200" b="0">
                <a:solidFill>
                  <a:srgbClr val="2147A8"/>
                </a:solidFill>
                <a:latin typeface="Frank Ruhl Libre"/>
                <a:cs typeface="Frank Ruhl Libre"/>
              </a:rPr>
              <a:t>מדממת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147A8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המולדת מתוארת כמו אישה: היא ״יפיפיה״, היא ״נרדמת״ והיא ״מדממת״, כמו אדם שנפצע.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147A8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ההאנשה הופכת את המדינה לאהובה פצועה. כך הכאב על המלחמה מרגיש אישי, כמו כאב על מישהו קרוב.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5C6378"/>
                </a:solidFill>
                <a:latin typeface="Heebo"/>
                <a:cs typeface="Heebo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77240"/>
            <a:ext cx="5516575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0">
                <a:solidFill>
                  <a:srgbClr val="2147A8"/>
                </a:solidFill>
                <a:latin typeface="Frank Ruhl Libre Medium"/>
                <a:cs typeface="Frank Ruhl Libre Medium"/>
              </a:rPr>
              <a:t>ניגוד</a:t>
            </a:r>
            <a:endParaRPr lang="he-IL" sz="5400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5C6378"/>
                </a:solidFill>
                <a:latin typeface="Heebo Light"/>
                <a:cs typeface="Heebo Light"/>
              </a:rPr>
              <a:t>העמדה של שני דברים הפוכים זה מול זה, כדי להבליט את ההבדל ביניהם.</a:t>
            </a:r>
            <a:endParaRPr lang="he-IL" sz="20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2011680"/>
            <a:ext cx="1091153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40080" y="2194560"/>
            <a:ext cx="10911535" cy="16916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גם על סף </a:t>
            </a:r>
            <a:r>
              <a:rPr lang="he-IL" altLang="en-US" sz="3200" b="0">
                <a:solidFill>
                  <a:srgbClr val="2147A8"/>
                </a:solidFill>
                <a:latin typeface="Frank Ruhl Libre"/>
                <a:cs typeface="Frank Ruhl Libre"/>
              </a:rPr>
              <a:t>תהום</a:t>
            </a:r>
            <a:endParaRPr lang="he-IL" sz="32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גם בתוך </a:t>
            </a:r>
            <a:r>
              <a:rPr lang="he-IL" altLang="en-US" sz="3200" b="0">
                <a:solidFill>
                  <a:srgbClr val="2147A8"/>
                </a:solidFill>
                <a:latin typeface="Frank Ruhl Libre"/>
                <a:cs typeface="Frank Ruhl Libre"/>
              </a:rPr>
              <a:t>הגיהנום</a:t>
            </a:r>
            <a:endParaRPr lang="he-IL" sz="32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את </a:t>
            </a:r>
            <a:r>
              <a:rPr lang="he-IL" altLang="en-US" sz="3200" b="0">
                <a:solidFill>
                  <a:srgbClr val="2147A8"/>
                </a:solidFill>
                <a:latin typeface="Frank Ruhl Libre"/>
                <a:cs typeface="Frank Ruhl Libre"/>
              </a:rPr>
              <a:t>גן עדן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147A8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״גיהנום״ ו״תהום״ עומדים מול ״גן עדן״. המקום הכי נורא והמקום הכי טוב נמצאים באותו בית.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147A8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14204A"/>
                </a:solidFill>
                <a:latin typeface="Heebo Light"/>
                <a:cs typeface="Heebo Light"/>
              </a:rPr>
              <a:t>גם כשהמצב הכי קשה, האהבה למולדת לא משתנה. זה מסר של נאמנות, שחוזר גם במילים ״נשאר לך נאמן לעולם״.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14204A"/>
                </a:solidFill>
                <a:latin typeface="Frank Ruhl Libre Medium"/>
                <a:cs typeface="Frank Ruhl Libre Medium"/>
              </a:rPr>
              <a:t>מילים שמעוררות את המלחמה</a:t>
            </a:r>
            <a:endParaRPr lang="he-IL" sz="42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5C6378"/>
                </a:solidFill>
                <a:latin typeface="Heebo Light"/>
                <a:cs typeface="Heebo Light"/>
              </a:rPr>
              <a:t>צירופים מהשיר שמחזירים אותנו אל הימים הראשונים של המלחמה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10774375" y="196596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01</a:t>
            </a:r>
            <a:endParaRPr lang="he-IL" sz="2600"/>
          </a:p>
        </p:txBody>
      </p:sp>
      <p:sp>
        <p:nvSpPr>
          <p:cNvPr id="6" name="TextBox 5"/>
          <p:cNvSpPr txBox="1"/>
          <p:nvPr/>
        </p:nvSpPr>
        <p:spPr>
          <a:xfrm>
            <a:off x="6461607" y="1965960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מדממת</a:t>
            </a:r>
            <a:endParaRPr lang="he-IL" sz="3200"/>
          </a:p>
        </p:txBody>
      </p:sp>
      <p:cxnSp>
        <p:nvCxnSpPr>
          <p:cNvPr id="7" name="Connector 6"/>
          <p:cNvCxnSpPr/>
          <p:nvPr/>
        </p:nvCxnSpPr>
        <p:spPr>
          <a:xfrm>
            <a:off x="6461607" y="2880360"/>
            <a:ext cx="5090008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774375" y="2990088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02</a:t>
            </a:r>
            <a:endParaRPr lang="he-IL" sz="2600"/>
          </a:p>
        </p:txBody>
      </p:sp>
      <p:sp>
        <p:nvSpPr>
          <p:cNvPr id="9" name="TextBox 8"/>
          <p:cNvSpPr txBox="1"/>
          <p:nvPr/>
        </p:nvSpPr>
        <p:spPr>
          <a:xfrm>
            <a:off x="6461607" y="2990088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נרדם במשמרת</a:t>
            </a:r>
            <a:endParaRPr lang="he-IL" sz="3200"/>
          </a:p>
        </p:txBody>
      </p:sp>
      <p:cxnSp>
        <p:nvCxnSpPr>
          <p:cNvPr id="10" name="Connector 9"/>
          <p:cNvCxnSpPr/>
          <p:nvPr/>
        </p:nvCxnSpPr>
        <p:spPr>
          <a:xfrm>
            <a:off x="6461607" y="3904488"/>
            <a:ext cx="5090008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0774375" y="4014216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03</a:t>
            </a:r>
            <a:endParaRPr lang="he-IL" sz="2600"/>
          </a:p>
        </p:txBody>
      </p:sp>
      <p:sp>
        <p:nvSpPr>
          <p:cNvPr id="12" name="TextBox 11"/>
          <p:cNvSpPr txBox="1"/>
          <p:nvPr/>
        </p:nvSpPr>
        <p:spPr>
          <a:xfrm>
            <a:off x="6461607" y="4014216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אין שלום</a:t>
            </a:r>
            <a:endParaRPr lang="he-IL" sz="3200"/>
          </a:p>
        </p:txBody>
      </p:sp>
      <p:cxnSp>
        <p:nvCxnSpPr>
          <p:cNvPr id="13" name="Connector 12"/>
          <p:cNvCxnSpPr/>
          <p:nvPr/>
        </p:nvCxnSpPr>
        <p:spPr>
          <a:xfrm>
            <a:off x="6461607" y="4928616"/>
            <a:ext cx="5090008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0774375" y="5038344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04</a:t>
            </a:r>
            <a:endParaRPr lang="he-IL" sz="2600"/>
          </a:p>
        </p:txBody>
      </p:sp>
      <p:sp>
        <p:nvSpPr>
          <p:cNvPr id="15" name="TextBox 14"/>
          <p:cNvSpPr txBox="1"/>
          <p:nvPr/>
        </p:nvSpPr>
        <p:spPr>
          <a:xfrm>
            <a:off x="6461607" y="5038344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רק סדק</a:t>
            </a:r>
            <a:endParaRPr lang="he-IL" sz="3200"/>
          </a:p>
        </p:txBody>
      </p:sp>
      <p:sp>
        <p:nvSpPr>
          <p:cNvPr id="16" name="TextBox 15"/>
          <p:cNvSpPr txBox="1"/>
          <p:nvPr/>
        </p:nvSpPr>
        <p:spPr>
          <a:xfrm>
            <a:off x="4952847" y="196596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05</a:t>
            </a:r>
            <a:endParaRPr lang="he-IL" sz="2600"/>
          </a:p>
        </p:txBody>
      </p:sp>
      <p:sp>
        <p:nvSpPr>
          <p:cNvPr id="17" name="TextBox 16"/>
          <p:cNvSpPr txBox="1"/>
          <p:nvPr/>
        </p:nvSpPr>
        <p:spPr>
          <a:xfrm>
            <a:off x="640080" y="1965960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סף תהום</a:t>
            </a:r>
            <a:endParaRPr lang="he-IL" sz="3200"/>
          </a:p>
        </p:txBody>
      </p:sp>
      <p:cxnSp>
        <p:nvCxnSpPr>
          <p:cNvPr id="18" name="Connector 17"/>
          <p:cNvCxnSpPr/>
          <p:nvPr/>
        </p:nvCxnSpPr>
        <p:spPr>
          <a:xfrm>
            <a:off x="640080" y="2880360"/>
            <a:ext cx="5090007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952847" y="2990088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06</a:t>
            </a:r>
            <a:endParaRPr lang="he-IL" sz="2600"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בתוך הגיהנום</a:t>
            </a:r>
            <a:endParaRPr lang="he-IL" sz="3200"/>
          </a:p>
        </p:txBody>
      </p:sp>
      <p:cxnSp>
        <p:nvCxnSpPr>
          <p:cNvPr id="21" name="Connector 20"/>
          <p:cNvCxnSpPr/>
          <p:nvPr/>
        </p:nvCxnSpPr>
        <p:spPr>
          <a:xfrm>
            <a:off x="640080" y="3904488"/>
            <a:ext cx="5090007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952847" y="4014216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07</a:t>
            </a:r>
            <a:endParaRPr lang="he-IL" sz="2600"/>
          </a:p>
        </p:txBody>
      </p:sp>
      <p:sp>
        <p:nvSpPr>
          <p:cNvPr id="23" name="TextBox 22"/>
          <p:cNvSpPr txBox="1"/>
          <p:nvPr/>
        </p:nvSpPr>
        <p:spPr>
          <a:xfrm>
            <a:off x="640080" y="4014216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בצר</a:t>
            </a:r>
            <a:endParaRPr lang="he-IL" sz="3200"/>
          </a:p>
        </p:txBody>
      </p:sp>
      <p:cxnSp>
        <p:nvCxnSpPr>
          <p:cNvPr id="24" name="Connector 23"/>
          <p:cNvCxnSpPr/>
          <p:nvPr/>
        </p:nvCxnSpPr>
        <p:spPr>
          <a:xfrm>
            <a:off x="640080" y="4928616"/>
            <a:ext cx="5090007" cy="0"/>
          </a:xfrm>
          <a:prstGeom prst="line">
            <a:avLst/>
          </a:prstGeom>
          <a:ln w="9525">
            <a:solidFill>
              <a:srgbClr val="CDD2DD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4952847" y="5038344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147A8"/>
                </a:solidFill>
                <a:latin typeface="Frank Ruhl Libre Light"/>
                <a:cs typeface="Frank Ruhl Libre Light"/>
              </a:rPr>
              <a:t>08</a:t>
            </a:r>
            <a:endParaRPr lang="he-IL" sz="2600"/>
          </a:p>
        </p:txBody>
      </p:sp>
      <p:sp>
        <p:nvSpPr>
          <p:cNvPr id="26" name="TextBox 25"/>
          <p:cNvSpPr txBox="1"/>
          <p:nvPr/>
        </p:nvSpPr>
        <p:spPr>
          <a:xfrm>
            <a:off x="640080" y="5038344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14204A"/>
                </a:solidFill>
                <a:latin typeface="Frank Ruhl Libre"/>
                <a:cs typeface="Frank Ruhl Libre"/>
              </a:rPr>
              <a:t>לעולם לא נשבר</a:t>
            </a:r>
            <a:endParaRPr lang="he-IL" sz="3200"/>
          </a:p>
        </p:txBody>
      </p:sp>
      <p:sp>
        <p:nvSpPr>
          <p:cNvPr id="2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200" b="0">
                <a:solidFill>
                  <a:srgbClr val="14204A"/>
                </a:solidFill>
                <a:latin typeface="Frank Ruhl Libre Medium"/>
                <a:cs typeface="Frank Ruhl Libre Medium"/>
              </a:rPr>
              <a:t>האירועים שהמילים מעוררות</a:t>
            </a:r>
            <a:endParaRPr lang="he-IL" sz="4200"/>
          </a:p>
        </p:txBody>
      </p:sp>
      <p:pic>
        <p:nvPicPr>
          <p:cNvPr id="4" name="Event photo" descr="hostages_square_mar2024_chenspec_ccbysa4.jpg"/>
          <p:cNvPicPr>
            <a:picLocks noChangeAspect="1"/>
          </p:cNvPicPr>
          <p:nvPr/>
        </p:nvPicPr>
        <p:blipFill>
          <a:blip r:embed="rId3"/>
          <a:srcRect t="30065" b="20044"/>
          <a:stretch>
            <a:fillRect/>
          </a:stretch>
        </p:blipFill>
        <p:spPr>
          <a:xfrm>
            <a:off x="0" y="1325880"/>
            <a:ext cx="12191695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3383280"/>
            <a:ext cx="7528255" cy="5029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5C6378"/>
                </a:solidFill>
                <a:latin typeface="Heebo Light"/>
                <a:cs typeface="Heebo Light"/>
              </a:rPr>
              <a:t>שלט ״ושבו בנים לגבולם״ בכיכר החטופים, מרץ 2024. השיר מדבר על בית שנפגע, והשלט מבקש שכולם יחזרו אליו.</a:t>
            </a:r>
            <a:endParaRPr lang="he-IL" sz="1600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5C6378"/>
                </a:solidFill>
                <a:latin typeface="Heebo"/>
                <a:cs typeface="Heebo"/>
              </a:rPr>
              <a:t>צילום: Chenspec, ויקישיתוף, CC BY-SA 4.0</a:t>
            </a:r>
            <a:endParaRPr lang="he-IL" sz="1000"/>
          </a:p>
        </p:txBody>
      </p:sp>
      <p:sp>
        <p:nvSpPr>
          <p:cNvPr id="7" name="TextBox 6"/>
          <p:cNvSpPr txBox="1"/>
          <p:nvPr/>
        </p:nvSpPr>
        <p:spPr>
          <a:xfrm>
            <a:off x="6370167" y="3977639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147A8"/>
                </a:solidFill>
                <a:latin typeface="Heebo"/>
                <a:cs typeface="Heebo"/>
              </a:rPr>
              <a:t>7 באוקטובר 2023  </a:t>
            </a:r>
            <a:r>
              <a:rPr lang="he-IL" altLang="en-US" sz="2100" b="0">
                <a:solidFill>
                  <a:srgbClr val="14204A"/>
                </a:solidFill>
                <a:latin typeface="Heebo Light"/>
                <a:cs typeface="Heebo Light"/>
              </a:rPr>
              <a:t>חמאס תוקף את יישובי הדרום, ופורצת מלחמת ״חרבות ברזל״.</a:t>
            </a:r>
            <a:endParaRPr lang="he-IL" sz="2100"/>
          </a:p>
        </p:txBody>
      </p:sp>
      <p:sp>
        <p:nvSpPr>
          <p:cNvPr id="8" name="TextBox 7"/>
          <p:cNvSpPr txBox="1"/>
          <p:nvPr/>
        </p:nvSpPr>
        <p:spPr>
          <a:xfrm>
            <a:off x="6370167" y="4764024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147A8"/>
                </a:solidFill>
                <a:latin typeface="Heebo"/>
                <a:cs typeface="Heebo"/>
              </a:rPr>
              <a:t>שבוע אחרי  </a:t>
            </a:r>
            <a:r>
              <a:rPr lang="he-IL" altLang="en-US" sz="2100" b="0">
                <a:solidFill>
                  <a:srgbClr val="14204A"/>
                </a:solidFill>
                <a:latin typeface="Heebo Light"/>
                <a:cs typeface="Heebo Light"/>
              </a:rPr>
              <a:t>בן ארי מחליט להוציא שיר שכתב והלחין עוד לפני המלחמה.</a:t>
            </a:r>
            <a:endParaRPr lang="he-IL" sz="2100"/>
          </a:p>
        </p:txBody>
      </p:sp>
      <p:sp>
        <p:nvSpPr>
          <p:cNvPr id="9" name="TextBox 8"/>
          <p:cNvSpPr txBox="1"/>
          <p:nvPr/>
        </p:nvSpPr>
        <p:spPr>
          <a:xfrm>
            <a:off x="6370167" y="5550407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147A8"/>
                </a:solidFill>
                <a:latin typeface="Heebo"/>
                <a:cs typeface="Heebo"/>
              </a:rPr>
              <a:t>16 באוקטובר  </a:t>
            </a:r>
            <a:r>
              <a:rPr lang="he-IL" altLang="en-US" sz="2100" b="0">
                <a:solidFill>
                  <a:srgbClr val="14204A"/>
                </a:solidFill>
                <a:latin typeface="Heebo Light"/>
                <a:cs typeface="Heebo Light"/>
              </a:rPr>
              <a:t>״מולדת״ יוצא, עם קליפ של מתנדבים ולוחמי מילואים.</a:t>
            </a:r>
            <a:endParaRPr lang="he-IL" sz="2100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147A8"/>
                </a:solidFill>
                <a:latin typeface="Heebo"/>
                <a:cs typeface="Heebo"/>
              </a:rPr>
              <a:t>ההקדשה  </a:t>
            </a:r>
            <a:r>
              <a:rPr lang="he-IL" altLang="en-US" sz="2100" b="0">
                <a:solidFill>
                  <a:srgbClr val="14204A"/>
                </a:solidFill>
                <a:latin typeface="Heebo Light"/>
                <a:cs typeface="Heebo Light"/>
              </a:rPr>
              <a:t>הוא מקדיש אותו למדינה ״שנקים מחדש כשכל זה יגמר״.</a:t>
            </a:r>
            <a:endParaRPr lang="he-IL" sz="2100"/>
          </a:p>
        </p:txBody>
      </p:sp>
      <p:sp>
        <p:nvSpPr>
          <p:cNvPr id="11" name="TextBox 10"/>
          <p:cNvSpPr txBox="1"/>
          <p:nvPr/>
        </p:nvSpPr>
        <p:spPr>
          <a:xfrm>
            <a:off x="640080" y="4764024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147A8"/>
                </a:solidFill>
                <a:latin typeface="Heebo"/>
                <a:cs typeface="Heebo"/>
              </a:rPr>
              <a:t>ההצלחה  </a:t>
            </a:r>
            <a:r>
              <a:rPr lang="he-IL" altLang="en-US" sz="2100" b="0">
                <a:solidFill>
                  <a:srgbClr val="14204A"/>
                </a:solidFill>
                <a:latin typeface="Heebo Light"/>
                <a:cs typeface="Heebo Light"/>
              </a:rPr>
              <a:t>השיר מגיע למקום הראשון במצעד ההשמעות של מדיה פורסט.</a:t>
            </a:r>
            <a:endParaRPr lang="he-IL" sz="2100"/>
          </a:p>
        </p:txBody>
      </p:sp>
      <p:sp>
        <p:nvSpPr>
          <p:cNvPr id="12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2801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600" b="0">
                <a:solidFill>
                  <a:srgbClr val="14204A"/>
                </a:solidFill>
                <a:latin typeface="Heebo"/>
                <a:cs typeface="Heebo"/>
              </a:rPr>
              <a:t>גם כשהמולדת מדממת,</a:t>
            </a:r>
            <a:endParaRPr lang="he-IL" sz="36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4000" b="0">
                <a:solidFill>
                  <a:srgbClr val="2147A8"/>
                </a:solidFill>
                <a:latin typeface="Frank Ruhl Libre Medium"/>
                <a:cs typeface="Frank Ruhl Libre Medium"/>
              </a:rPr>
              <a:t>חנן בן ארי לא מפסיק לשיר לה.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400" b="0">
                <a:solidFill>
                  <a:srgbClr val="14204A"/>
                </a:solidFill>
                <a:latin typeface="Frank Ruhl Libre Light"/>
                <a:cs typeface="Frank Ruhl Libre Light"/>
              </a:rPr>
              <a:t>זה מה שהופך את השיר לשיר אהבה.</a:t>
            </a:r>
            <a:endParaRPr lang="he-IL" sz="34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5C6378"/>
                </a:solidFill>
                <a:latin typeface="Heebo"/>
                <a:cs typeface="Heebo"/>
              </a:rPr>
              <a:t>09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