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Cover photo" descr="hba_stage_2019_dolev_ccbysa4.jpg"/>
          <p:cNvPicPr>
            <a:picLocks noChangeAspect="1"/>
          </p:cNvPicPr>
          <p:nvPr/>
        </p:nvPicPr>
        <p:blipFill>
          <a:blip r:embed="rId3"/>
          <a:srcRect l="25354" r="25354"/>
          <a:stretch>
            <a:fillRect/>
          </a:stretch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8600" y="6510528"/>
            <a:ext cx="4754879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EEEEEE"/>
                </a:solidFill>
                <a:latin typeface="Heebo"/>
                <a:cs typeface="Heebo"/>
              </a:rPr>
              <a:t>צילום: דולב, ויקישיתוף, CC BY-SA 4.0</a:t>
            </a:r>
            <a:endParaRPr lang="he-IL" sz="1000"/>
          </a:p>
        </p:txBody>
      </p:sp>
      <p:sp>
        <p:nvSpPr>
          <p:cNvPr id="5" name="TextBox 4"/>
          <p:cNvSpPr txBox="1"/>
          <p:nvPr/>
        </p:nvSpPr>
        <p:spPr>
          <a:xfrm>
            <a:off x="5760720" y="731520"/>
            <a:ext cx="579089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2147A8"/>
                </a:solidFill>
                <a:latin typeface="Heebo"/>
                <a:cs typeface="Heebo"/>
              </a:rPr>
              <a:t>הערכה חלופית בספרות · שכבה ט׳</a:t>
            </a:r>
            <a:endParaRPr lang="he-IL" sz="1800"/>
          </a:p>
        </p:txBody>
      </p:sp>
      <p:sp>
        <p:nvSpPr>
          <p:cNvPr id="6" name="Title"/>
          <p:cNvSpPr txBox="1"/>
          <p:nvPr/>
        </p:nvSpPr>
        <p:spPr>
          <a:xfrm>
            <a:off x="5760720" y="1417320"/>
            <a:ext cx="5790895" cy="21945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lnSpc>
                <a:spcPct val="90000"/>
              </a:lnSpc>
              <a:buNone/>
            </a:pPr>
            <a:r>
              <a:rPr lang="he-IL" altLang="en-US" sz="12800" b="0">
                <a:solidFill>
                  <a:srgbClr val="14204A"/>
                </a:solidFill>
                <a:latin typeface="Frank Ruhl Libre Medium"/>
                <a:cs typeface="Frank Ruhl Libre Medium"/>
              </a:rPr>
              <a:t>מולדת</a:t>
            </a:r>
            <a:endParaRPr lang="he-IL" sz="12800"/>
          </a:p>
        </p:txBody>
      </p:sp>
      <p:sp>
        <p:nvSpPr>
          <p:cNvPr id="7" name="TextBox 6"/>
          <p:cNvSpPr txBox="1"/>
          <p:nvPr/>
        </p:nvSpPr>
        <p:spPr>
          <a:xfrm>
            <a:off x="5760720" y="3703320"/>
            <a:ext cx="5790895" cy="7315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2147A8"/>
                </a:solidFill>
                <a:latin typeface="Frank Ruhl Libre Light"/>
                <a:cs typeface="Frank Ruhl Libre Light"/>
              </a:rPr>
              <a:t>חנן בן ארי</a:t>
            </a:r>
            <a:endParaRPr lang="he-IL" sz="3400"/>
          </a:p>
        </p:txBody>
      </p:sp>
      <p:sp>
        <p:nvSpPr>
          <p:cNvPr id="8" name="TextBox 7"/>
          <p:cNvSpPr txBox="1"/>
          <p:nvPr/>
        </p:nvSpPr>
        <p:spPr>
          <a:xfrm>
            <a:off x="5760720" y="4434840"/>
            <a:ext cx="5790895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5000"/>
              </a:lnSpc>
              <a:buNone/>
            </a:pPr>
            <a:r>
              <a:rPr lang="he-IL" altLang="en-US" sz="2200" b="0">
                <a:solidFill>
                  <a:srgbClr val="5C6378"/>
                </a:solidFill>
                <a:latin typeface="Heebo Light"/>
                <a:cs typeface="Heebo Light"/>
              </a:rPr>
              <a:t>שיר אהבה למדינה שנפצעה</a:t>
            </a:r>
            <a:endParaRPr lang="he-IL" sz="2200"/>
          </a:p>
        </p:txBody>
      </p:sp>
      <p:sp>
        <p:nvSpPr>
          <p:cNvPr id="9" name="TextBox 8"/>
          <p:cNvSpPr txBox="1"/>
          <p:nvPr/>
        </p:nvSpPr>
        <p:spPr>
          <a:xfrm>
            <a:off x="5760720" y="5669280"/>
            <a:ext cx="579089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200" b="0">
                <a:solidFill>
                  <a:srgbClr val="14204A"/>
                </a:solidFill>
                <a:latin typeface="Heebo"/>
                <a:cs typeface="Heebo"/>
              </a:rPr>
              <a:t>שילה בן דוד</a:t>
            </a:r>
            <a:endParaRPr lang="he-IL" sz="220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14204A"/>
                </a:solidFill>
                <a:latin typeface="Frank Ruhl Libre Medium"/>
                <a:cs typeface="Frank Ruhl Libre Medium"/>
              </a:rPr>
              <a:t>הקטע שבחרנו</a:t>
            </a:r>
            <a:endParaRPr lang="he-IL" sz="4200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14204A"/>
                </a:solidFill>
                <a:latin typeface="Frank Ruhl Libre"/>
                <a:cs typeface="Frank Ruhl Libre"/>
              </a:rPr>
              <a:t>הנביאים חזו לך אחרת</a:t>
            </a:r>
            <a:endParaRPr lang="he-IL" sz="3000"/>
          </a:p>
          <a:p>
            <a:pPr algn="r" rtl="1">
              <a:lnSpc>
                <a:spcPct val="100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2147A8"/>
                </a:solidFill>
                <a:latin typeface="Frank Ruhl Libre"/>
                <a:cs typeface="Frank Ruhl Libre"/>
              </a:rPr>
              <a:t>מישהו נרדם במשמרת</a:t>
            </a:r>
            <a:endParaRPr lang="he-IL" sz="3000"/>
          </a:p>
          <a:p>
            <a:pPr algn="r" rtl="1">
              <a:lnSpc>
                <a:spcPct val="100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14204A"/>
                </a:solidFill>
                <a:latin typeface="Frank Ruhl Libre"/>
                <a:cs typeface="Frank Ruhl Libre"/>
              </a:rPr>
              <a:t>איפה החלום</a:t>
            </a:r>
            <a:endParaRPr lang="he-IL" sz="3000"/>
          </a:p>
          <a:p>
            <a:pPr algn="r" rtl="1">
              <a:lnSpc>
                <a:spcPct val="100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14204A"/>
                </a:solidFill>
                <a:latin typeface="Frank Ruhl Libre"/>
                <a:cs typeface="Frank Ruhl Libre"/>
              </a:rPr>
              <a:t>אין אמת ואין שלום</a:t>
            </a:r>
            <a:endParaRPr lang="he-IL" sz="3000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l" rtl="1">
              <a:buNone/>
            </a:pPr>
            <a:r>
              <a:rPr lang="he-IL" altLang="en-US" sz="1600" b="0">
                <a:solidFill>
                  <a:srgbClr val="5C6378"/>
                </a:solidFill>
                <a:latin typeface="Heebo Light"/>
                <a:cs typeface="Heebo Light"/>
              </a:rPr>
              <a:t>״מולדת״, חנן בן ארי</a:t>
            </a:r>
            <a:endParaRPr lang="he-IL" sz="1600"/>
          </a:p>
        </p:txBody>
      </p:sp>
      <p:cxnSp>
        <p:nvCxnSpPr>
          <p:cNvPr id="6" name="Connector 5"/>
          <p:cNvCxnSpPr/>
          <p:nvPr/>
        </p:nvCxnSpPr>
        <p:spPr>
          <a:xfrm>
            <a:off x="640080" y="3547872"/>
            <a:ext cx="10911535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6355080" y="3822191"/>
            <a:ext cx="5196535" cy="253288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147A8"/>
                </a:solidFill>
                <a:latin typeface="Heebo"/>
                <a:cs typeface="Heebo"/>
              </a:rPr>
              <a:t>למה בחרנו בקטע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בארבע השורות האלה הדובר מפסיק לשיר שיר אהבה רגיל ומתחיל לשאול שאלות קשות. ״מישהו נרדם במשמרת״ נשמע כאילו נכתב על 7 באוקטובר, למרות שהשיר נכתב עוד לפני המלחמה.</a:t>
            </a:r>
            <a:endParaRPr lang="he-IL" sz="2200"/>
          </a:p>
        </p:txBody>
      </p:sp>
      <p:sp>
        <p:nvSpPr>
          <p:cNvPr id="8" name="TextBox 7"/>
          <p:cNvSpPr txBox="1"/>
          <p:nvPr/>
        </p:nvSpPr>
        <p:spPr>
          <a:xfrm>
            <a:off x="640080" y="3822191"/>
            <a:ext cx="5257800" cy="253288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147A8"/>
                </a:solidFill>
                <a:latin typeface="Heebo"/>
                <a:cs typeface="Heebo"/>
              </a:rPr>
              <a:t>החיבור האישי שלנו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השורה ״מישהו נרדם במשמרת״ גרמה לנו לחשוב על אחריות. כל אחד מאיתנו עומד מתישהו ״במשמרת״ של מישהו אחר, בכיתה, בתנועה ובעתיד בצבא, והשיר מזכיר כמה זה חשוב.</a:t>
            </a:r>
            <a:endParaRPr lang="he-IL" sz="2200"/>
          </a:p>
        </p:txBody>
      </p:sp>
      <p:sp>
        <p:nvSpPr>
          <p:cNvPr id="9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C6378"/>
                </a:solidFill>
                <a:latin typeface="Heebo"/>
                <a:cs typeface="Heebo"/>
              </a:rPr>
              <a:t>02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rtist photo" descr="hba_portrait_yarden_rokach_ccbysa3.jpg"/>
          <p:cNvPicPr>
            <a:picLocks noChangeAspect="1"/>
          </p:cNvPicPr>
          <p:nvPr/>
        </p:nvPicPr>
        <p:blipFill>
          <a:blip r:embed="rId3"/>
          <a:srcRect t="2399" b="13595"/>
          <a:stretch>
            <a:fillRect/>
          </a:stretch>
        </p:blipFill>
        <p:spPr>
          <a:xfrm>
            <a:off x="640080" y="1417320"/>
            <a:ext cx="36576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062472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5C6378"/>
                </a:solidFill>
                <a:latin typeface="Heebo"/>
                <a:cs typeface="Heebo"/>
              </a:rPr>
              <a:t>צילום: ירדן רוקח, ויקישיתוף, CC BY-SA 3.0</a:t>
            </a:r>
            <a:endParaRPr lang="he-IL" sz="1000"/>
          </a:p>
        </p:txBody>
      </p:sp>
      <p:sp>
        <p:nvSpPr>
          <p:cNvPr id="5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14204A"/>
                </a:solidFill>
                <a:latin typeface="Frank Ruhl Libre Medium"/>
                <a:cs typeface="Frank Ruhl Libre Medium"/>
              </a:rPr>
              <a:t>חנן בן ארי</a:t>
            </a:r>
            <a:endParaRPr lang="he-IL" sz="4200"/>
          </a:p>
        </p:txBody>
      </p:sp>
      <p:sp>
        <p:nvSpPr>
          <p:cNvPr id="6" name="TextBox 5"/>
          <p:cNvSpPr txBox="1"/>
          <p:nvPr/>
        </p:nvSpPr>
        <p:spPr>
          <a:xfrm>
            <a:off x="10317175" y="155448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2147A8"/>
                </a:solidFill>
                <a:latin typeface="Frank Ruhl Libre Light"/>
                <a:cs typeface="Frank Ruhl Libre Light"/>
              </a:rPr>
              <a:t>1988</a:t>
            </a:r>
            <a:endParaRPr lang="he-IL" sz="2400"/>
          </a:p>
        </p:txBody>
      </p:sp>
      <p:sp>
        <p:nvSpPr>
          <p:cNvPr id="7" name="TextBox 6"/>
          <p:cNvSpPr txBox="1"/>
          <p:nvPr/>
        </p:nvSpPr>
        <p:spPr>
          <a:xfrm>
            <a:off x="4846320" y="1572768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נולד בקרני שומרון, והתחיל להלחין כבר בגיל 13.</a:t>
            </a:r>
            <a:endParaRPr lang="he-IL" sz="2200"/>
          </a:p>
        </p:txBody>
      </p:sp>
      <p:cxnSp>
        <p:nvCxnSpPr>
          <p:cNvPr id="8" name="Connector 7"/>
          <p:cNvCxnSpPr/>
          <p:nvPr/>
        </p:nvCxnSpPr>
        <p:spPr>
          <a:xfrm>
            <a:off x="4846320" y="2395728"/>
            <a:ext cx="6705295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10317175" y="2505456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2147A8"/>
                </a:solidFill>
                <a:latin typeface="Frank Ruhl Libre Light"/>
                <a:cs typeface="Frank Ruhl Libre Light"/>
              </a:rPr>
              <a:t>2013</a:t>
            </a:r>
            <a:endParaRPr lang="he-IL" sz="2400"/>
          </a:p>
        </p:txBody>
      </p:sp>
      <p:sp>
        <p:nvSpPr>
          <p:cNvPr id="10" name="TextBox 9"/>
          <p:cNvSpPr txBox="1"/>
          <p:nvPr/>
        </p:nvSpPr>
        <p:spPr>
          <a:xfrm>
            <a:off x="4846320" y="2523744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יצר את ״מתבגרים״, מופע חינוכי להורים ולבני נוער.</a:t>
            </a:r>
            <a:endParaRPr lang="he-IL" sz="2200"/>
          </a:p>
        </p:txBody>
      </p:sp>
      <p:cxnSp>
        <p:nvCxnSpPr>
          <p:cNvPr id="11" name="Connector 10"/>
          <p:cNvCxnSpPr/>
          <p:nvPr/>
        </p:nvCxnSpPr>
        <p:spPr>
          <a:xfrm>
            <a:off x="4846320" y="3346704"/>
            <a:ext cx="6705295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10317175" y="3456432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2147A8"/>
                </a:solidFill>
                <a:latin typeface="Frank Ruhl Libre Light"/>
                <a:cs typeface="Frank Ruhl Libre Light"/>
              </a:rPr>
              <a:t>2016</a:t>
            </a:r>
            <a:endParaRPr lang="he-IL" sz="2400"/>
          </a:p>
        </p:txBody>
      </p:sp>
      <p:sp>
        <p:nvSpPr>
          <p:cNvPr id="13" name="TextBox 12"/>
          <p:cNvSpPr txBox="1"/>
          <p:nvPr/>
        </p:nvSpPr>
        <p:spPr>
          <a:xfrm>
            <a:off x="4846320" y="3474720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אלבום הבכורה ״אייזון״ הגיע למעמד של אלבום זהב.</a:t>
            </a:r>
            <a:endParaRPr lang="he-IL" sz="2200"/>
          </a:p>
        </p:txBody>
      </p:sp>
      <p:cxnSp>
        <p:nvCxnSpPr>
          <p:cNvPr id="14" name="Connector 13"/>
          <p:cNvCxnSpPr/>
          <p:nvPr/>
        </p:nvCxnSpPr>
        <p:spPr>
          <a:xfrm>
            <a:off x="4846320" y="4297680"/>
            <a:ext cx="6705295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10317175" y="4407408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2147A8"/>
                </a:solidFill>
                <a:latin typeface="Frank Ruhl Libre Light"/>
                <a:cs typeface="Frank Ruhl Libre Light"/>
              </a:rPr>
              <a:t>2021</a:t>
            </a:r>
            <a:endParaRPr lang="he-IL" sz="2400"/>
          </a:p>
        </p:txBody>
      </p:sp>
      <p:sp>
        <p:nvSpPr>
          <p:cNvPr id="16" name="TextBox 15"/>
          <p:cNvSpPr txBox="1"/>
          <p:nvPr/>
        </p:nvSpPr>
        <p:spPr>
          <a:xfrm>
            <a:off x="4846320" y="4425696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נבחר לזמר השנה בכאן גימל וזכה בפרס אקו״ם לכותב השנה.</a:t>
            </a:r>
            <a:endParaRPr lang="he-IL" sz="2200"/>
          </a:p>
        </p:txBody>
      </p:sp>
      <p:cxnSp>
        <p:nvCxnSpPr>
          <p:cNvPr id="17" name="Connector 16"/>
          <p:cNvCxnSpPr/>
          <p:nvPr/>
        </p:nvCxnSpPr>
        <p:spPr>
          <a:xfrm>
            <a:off x="4846320" y="5248656"/>
            <a:ext cx="6705295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10317175" y="5358384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2147A8"/>
                </a:solidFill>
                <a:latin typeface="Frank Ruhl Libre Light"/>
                <a:cs typeface="Frank Ruhl Libre Light"/>
              </a:rPr>
              <a:t>2023</a:t>
            </a:r>
            <a:endParaRPr lang="he-IL" sz="2400"/>
          </a:p>
        </p:txBody>
      </p:sp>
      <p:sp>
        <p:nvSpPr>
          <p:cNvPr id="19" name="TextBox 18"/>
          <p:cNvSpPr txBox="1"/>
          <p:nvPr/>
        </p:nvSpPr>
        <p:spPr>
          <a:xfrm>
            <a:off x="4846320" y="5376672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ב-12 בדצמבר היה הזמר הישראלי הראשון שהופיע לחיילים בתוך רצועת עזה.</a:t>
            </a:r>
            <a:endParaRPr lang="he-IL" sz="2200"/>
          </a:p>
        </p:txBody>
      </p:sp>
      <p:sp>
        <p:nvSpPr>
          <p:cNvPr id="2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C6378"/>
                </a:solidFill>
                <a:latin typeface="Heebo"/>
                <a:cs typeface="Heebo"/>
              </a:rPr>
              <a:t>03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14204A"/>
                </a:solidFill>
                <a:latin typeface="Frank Ruhl Libre Medium"/>
                <a:cs typeface="Frank Ruhl Libre Medium"/>
              </a:rPr>
              <a:t>מילות השיר</a:t>
            </a:r>
            <a:endParaRPr lang="he-IL" sz="4200"/>
          </a:p>
        </p:txBody>
      </p:sp>
      <p:sp>
        <p:nvSpPr>
          <p:cNvPr id="4" name="Lyrics placeholder"/>
          <p:cNvSpPr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  <a:ln w="15875">
            <a:solidFill>
              <a:srgbClr val="CDD2DD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5" name="Lyrics"/>
          <p:cNvSpPr txBox="1"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spcAft>
                <a:spcPts val="800"/>
              </a:spcAft>
              <a:buNone/>
            </a:pPr>
            <a:r>
              <a:rPr lang="he-IL" altLang="en-US" sz="2600" b="0">
                <a:solidFill>
                  <a:srgbClr val="5C6378"/>
                </a:solidFill>
                <a:latin typeface="Frank Ruhl Libre Light"/>
                <a:cs typeface="Frank Ruhl Libre Light"/>
              </a:rPr>
              <a:t>כאן יודבקו מילות השיר המלאות</a:t>
            </a:r>
            <a:endParaRPr lang="he-IL" sz="2600"/>
          </a:p>
          <a:p>
            <a:pPr algn="ctr" rtl="1">
              <a:buNone/>
            </a:pPr>
            <a:r>
              <a:rPr lang="he-IL" altLang="en-US" sz="1800" b="0">
                <a:solidFill>
                  <a:srgbClr val="5C6378"/>
                </a:solidFill>
                <a:latin typeface="Heebo Light"/>
                <a:cs typeface="Heebo Light"/>
              </a:rPr>
              <a:t>לפי חלוקת הבתים והשורות המקורית</a:t>
            </a:r>
            <a:endParaRPr lang="he-IL" sz="1800"/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400" b="0">
                <a:solidFill>
                  <a:srgbClr val="5C6378"/>
                </a:solidFill>
                <a:latin typeface="Heebo Light"/>
                <a:cs typeface="Heebo Light"/>
              </a:rPr>
              <a:t>מילים ולחן: חנן בן ארי · הפקה ועיבוד: תומר בירן · יצא ב-16 באוקטובר 2023</a:t>
            </a:r>
            <a:endParaRPr lang="he-IL" sz="1400"/>
          </a:p>
        </p:txBody>
      </p:sp>
      <p:sp>
        <p:nvSpPr>
          <p:cNvPr id="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C6378"/>
                </a:solidFill>
                <a:latin typeface="Heebo"/>
                <a:cs typeface="Heebo"/>
              </a:rPr>
              <a:t>04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5C6378"/>
                </a:solidFill>
                <a:latin typeface="Heebo"/>
                <a:cs typeface="Heebo"/>
              </a:rPr>
              <a:t>מושג ראשון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035040" y="777240"/>
            <a:ext cx="5516575" cy="1005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400" b="0">
                <a:solidFill>
                  <a:srgbClr val="2147A8"/>
                </a:solidFill>
                <a:latin typeface="Frank Ruhl Libre Medium"/>
                <a:cs typeface="Frank Ruhl Libre Medium"/>
              </a:rPr>
              <a:t>האנשה</a:t>
            </a:r>
            <a:endParaRPr lang="he-IL" sz="5400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5120640" cy="1005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lnSpc>
                <a:spcPct val="104000"/>
              </a:lnSpc>
              <a:buNone/>
            </a:pPr>
            <a:r>
              <a:rPr lang="he-IL" altLang="en-US" sz="2000" b="0">
                <a:solidFill>
                  <a:srgbClr val="5C6378"/>
                </a:solidFill>
                <a:latin typeface="Heebo Light"/>
                <a:cs typeface="Heebo Light"/>
              </a:rPr>
              <a:t>ייחוס תכונות או פעולות של בני אדם לדבר שאינו אדם.</a:t>
            </a:r>
            <a:endParaRPr lang="he-IL" sz="2000"/>
          </a:p>
        </p:txBody>
      </p:sp>
      <p:cxnSp>
        <p:nvCxnSpPr>
          <p:cNvPr id="6" name="Connector 5"/>
          <p:cNvCxnSpPr/>
          <p:nvPr/>
        </p:nvCxnSpPr>
        <p:spPr>
          <a:xfrm>
            <a:off x="640080" y="2011680"/>
            <a:ext cx="10911535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640080" y="2194560"/>
            <a:ext cx="10911535" cy="16916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היפיפיה </a:t>
            </a:r>
            <a:r>
              <a:rPr lang="he-IL" altLang="en-US" sz="3200" b="0">
                <a:solidFill>
                  <a:srgbClr val="2147A8"/>
                </a:solidFill>
                <a:latin typeface="Frank Ruhl Libre"/>
                <a:cs typeface="Frank Ruhl Libre"/>
              </a:rPr>
              <a:t>הנרדמת</a:t>
            </a:r>
            <a:endParaRPr lang="he-IL" sz="32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עד מתי תהיי </a:t>
            </a:r>
            <a:r>
              <a:rPr lang="he-IL" altLang="en-US" sz="3200" b="0">
                <a:solidFill>
                  <a:srgbClr val="2147A8"/>
                </a:solidFill>
                <a:latin typeface="Frank Ruhl Libre"/>
                <a:cs typeface="Frank Ruhl Libre"/>
              </a:rPr>
              <a:t>מדממת</a:t>
            </a:r>
            <a:endParaRPr lang="he-IL" sz="32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069080"/>
            <a:ext cx="10911535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297680"/>
            <a:ext cx="5196535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147A8"/>
                </a:solidFill>
                <a:latin typeface="Heebo"/>
                <a:cs typeface="Heebo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המולדת מתוארת כמו אישה: היא ״יפיפיה״, היא ״נרדמת״ והיא ״מדממת״, כמו אדם שנפצע.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147A8"/>
                </a:solidFill>
                <a:latin typeface="Heebo"/>
                <a:cs typeface="Heebo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ההאנשה הופכת את המדינה לאהובה פצועה. כך הכאב על המלחמה מרגיש אישי, כמו כאב על מישהו קרוב.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C6378"/>
                </a:solidFill>
                <a:latin typeface="Heebo"/>
                <a:cs typeface="Heebo"/>
              </a:rPr>
              <a:t>05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5C6378"/>
                </a:solidFill>
                <a:latin typeface="Heebo"/>
                <a:cs typeface="Heebo"/>
              </a:rPr>
              <a:t>מושג שני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035040" y="777240"/>
            <a:ext cx="5516575" cy="1005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400" b="0">
                <a:solidFill>
                  <a:srgbClr val="2147A8"/>
                </a:solidFill>
                <a:latin typeface="Frank Ruhl Libre Medium"/>
                <a:cs typeface="Frank Ruhl Libre Medium"/>
              </a:rPr>
              <a:t>ניגוד</a:t>
            </a:r>
            <a:endParaRPr lang="he-IL" sz="5400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5120640" cy="1005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lnSpc>
                <a:spcPct val="104000"/>
              </a:lnSpc>
              <a:buNone/>
            </a:pPr>
            <a:r>
              <a:rPr lang="he-IL" altLang="en-US" sz="2000" b="0">
                <a:solidFill>
                  <a:srgbClr val="5C6378"/>
                </a:solidFill>
                <a:latin typeface="Heebo Light"/>
                <a:cs typeface="Heebo Light"/>
              </a:rPr>
              <a:t>העמדה של שני דברים הפוכים זה מול זה, כדי להבליט את ההבדל ביניהם.</a:t>
            </a:r>
            <a:endParaRPr lang="he-IL" sz="2000"/>
          </a:p>
        </p:txBody>
      </p:sp>
      <p:cxnSp>
        <p:nvCxnSpPr>
          <p:cNvPr id="6" name="Connector 5"/>
          <p:cNvCxnSpPr/>
          <p:nvPr/>
        </p:nvCxnSpPr>
        <p:spPr>
          <a:xfrm>
            <a:off x="640080" y="2011680"/>
            <a:ext cx="10911535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640080" y="2194560"/>
            <a:ext cx="10911535" cy="16916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גם על סף </a:t>
            </a:r>
            <a:r>
              <a:rPr lang="he-IL" altLang="en-US" sz="3200" b="0">
                <a:solidFill>
                  <a:srgbClr val="2147A8"/>
                </a:solidFill>
                <a:latin typeface="Frank Ruhl Libre"/>
                <a:cs typeface="Frank Ruhl Libre"/>
              </a:rPr>
              <a:t>תהום</a:t>
            </a:r>
            <a:endParaRPr lang="he-IL" sz="32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גם בתוך </a:t>
            </a:r>
            <a:r>
              <a:rPr lang="he-IL" altLang="en-US" sz="3200" b="0">
                <a:solidFill>
                  <a:srgbClr val="2147A8"/>
                </a:solidFill>
                <a:latin typeface="Frank Ruhl Libre"/>
                <a:cs typeface="Frank Ruhl Libre"/>
              </a:rPr>
              <a:t>הגיהנום</a:t>
            </a:r>
            <a:endParaRPr lang="he-IL" sz="32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את </a:t>
            </a:r>
            <a:r>
              <a:rPr lang="he-IL" altLang="en-US" sz="3200" b="0">
                <a:solidFill>
                  <a:srgbClr val="2147A8"/>
                </a:solidFill>
                <a:latin typeface="Frank Ruhl Libre"/>
                <a:cs typeface="Frank Ruhl Libre"/>
              </a:rPr>
              <a:t>גן עדן</a:t>
            </a:r>
            <a:endParaRPr lang="he-IL" sz="32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069080"/>
            <a:ext cx="10911535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297680"/>
            <a:ext cx="5196535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147A8"/>
                </a:solidFill>
                <a:latin typeface="Heebo"/>
                <a:cs typeface="Heebo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״גיהנום״ ו״תהום״ עומדים מול ״גן עדן״. המקום הכי נורא והמקום הכי טוב נמצאים באותו בית.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147A8"/>
                </a:solidFill>
                <a:latin typeface="Heebo"/>
                <a:cs typeface="Heebo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גם כשהמצב הכי קשה, האהבה למולדת לא משתנה. זה מסר של נאמנות, שחוזר גם במילים ״נשאר לך נאמן לעולם״.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C6378"/>
                </a:solidFill>
                <a:latin typeface="Heebo"/>
                <a:cs typeface="Heebo"/>
              </a:rPr>
              <a:t>06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14204A"/>
                </a:solidFill>
                <a:latin typeface="Frank Ruhl Libre Medium"/>
                <a:cs typeface="Frank Ruhl Libre Medium"/>
              </a:rPr>
              <a:t>מילים שמעוררות את המלחמה</a:t>
            </a:r>
            <a:endParaRPr lang="he-IL" sz="4200"/>
          </a:p>
        </p:txBody>
      </p:sp>
      <p:sp>
        <p:nvSpPr>
          <p:cNvPr id="4" name="TextBox 3"/>
          <p:cNvSpPr txBox="1"/>
          <p:nvPr/>
        </p:nvSpPr>
        <p:spPr>
          <a:xfrm>
            <a:off x="640080" y="129844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5C6378"/>
                </a:solidFill>
                <a:latin typeface="Heebo Light"/>
                <a:cs typeface="Heebo Light"/>
              </a:rPr>
              <a:t>צירופים מהשיר שמחזירים אותנו אל הימים הראשונים של המלחמה</a:t>
            </a:r>
            <a:endParaRPr lang="he-IL" sz="2000"/>
          </a:p>
        </p:txBody>
      </p:sp>
      <p:sp>
        <p:nvSpPr>
          <p:cNvPr id="5" name="TextBox 4"/>
          <p:cNvSpPr txBox="1"/>
          <p:nvPr/>
        </p:nvSpPr>
        <p:spPr>
          <a:xfrm>
            <a:off x="10774375" y="1965960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147A8"/>
                </a:solidFill>
                <a:latin typeface="Frank Ruhl Libre Light"/>
                <a:cs typeface="Frank Ruhl Libre Light"/>
              </a:rPr>
              <a:t>01</a:t>
            </a:r>
            <a:endParaRPr lang="he-IL" sz="2600"/>
          </a:p>
        </p:txBody>
      </p:sp>
      <p:sp>
        <p:nvSpPr>
          <p:cNvPr id="6" name="TextBox 5"/>
          <p:cNvSpPr txBox="1"/>
          <p:nvPr/>
        </p:nvSpPr>
        <p:spPr>
          <a:xfrm>
            <a:off x="6461607" y="1965960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מדממת</a:t>
            </a:r>
            <a:endParaRPr lang="he-IL" sz="3200"/>
          </a:p>
        </p:txBody>
      </p:sp>
      <p:cxnSp>
        <p:nvCxnSpPr>
          <p:cNvPr id="7" name="Connector 6"/>
          <p:cNvCxnSpPr/>
          <p:nvPr/>
        </p:nvCxnSpPr>
        <p:spPr>
          <a:xfrm>
            <a:off x="6461607" y="2880360"/>
            <a:ext cx="5090008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10774375" y="2990088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147A8"/>
                </a:solidFill>
                <a:latin typeface="Frank Ruhl Libre Light"/>
                <a:cs typeface="Frank Ruhl Libre Light"/>
              </a:rPr>
              <a:t>02</a:t>
            </a:r>
            <a:endParaRPr lang="he-IL" sz="2600"/>
          </a:p>
        </p:txBody>
      </p:sp>
      <p:sp>
        <p:nvSpPr>
          <p:cNvPr id="9" name="TextBox 8"/>
          <p:cNvSpPr txBox="1"/>
          <p:nvPr/>
        </p:nvSpPr>
        <p:spPr>
          <a:xfrm>
            <a:off x="6461607" y="2990088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נרדם במשמרת</a:t>
            </a:r>
            <a:endParaRPr lang="he-IL" sz="3200"/>
          </a:p>
        </p:txBody>
      </p:sp>
      <p:cxnSp>
        <p:nvCxnSpPr>
          <p:cNvPr id="10" name="Connector 9"/>
          <p:cNvCxnSpPr/>
          <p:nvPr/>
        </p:nvCxnSpPr>
        <p:spPr>
          <a:xfrm>
            <a:off x="6461607" y="3904488"/>
            <a:ext cx="5090008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10774375" y="4014216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147A8"/>
                </a:solidFill>
                <a:latin typeface="Frank Ruhl Libre Light"/>
                <a:cs typeface="Frank Ruhl Libre Light"/>
              </a:rPr>
              <a:t>03</a:t>
            </a:r>
            <a:endParaRPr lang="he-IL" sz="2600"/>
          </a:p>
        </p:txBody>
      </p:sp>
      <p:sp>
        <p:nvSpPr>
          <p:cNvPr id="12" name="TextBox 11"/>
          <p:cNvSpPr txBox="1"/>
          <p:nvPr/>
        </p:nvSpPr>
        <p:spPr>
          <a:xfrm>
            <a:off x="6461607" y="4014216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אין שלום</a:t>
            </a:r>
            <a:endParaRPr lang="he-IL" sz="3200"/>
          </a:p>
        </p:txBody>
      </p:sp>
      <p:cxnSp>
        <p:nvCxnSpPr>
          <p:cNvPr id="13" name="Connector 12"/>
          <p:cNvCxnSpPr/>
          <p:nvPr/>
        </p:nvCxnSpPr>
        <p:spPr>
          <a:xfrm>
            <a:off x="6461607" y="4928616"/>
            <a:ext cx="5090008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10774375" y="5038344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147A8"/>
                </a:solidFill>
                <a:latin typeface="Frank Ruhl Libre Light"/>
                <a:cs typeface="Frank Ruhl Libre Light"/>
              </a:rPr>
              <a:t>04</a:t>
            </a:r>
            <a:endParaRPr lang="he-IL" sz="2600"/>
          </a:p>
        </p:txBody>
      </p:sp>
      <p:sp>
        <p:nvSpPr>
          <p:cNvPr id="15" name="TextBox 14"/>
          <p:cNvSpPr txBox="1"/>
          <p:nvPr/>
        </p:nvSpPr>
        <p:spPr>
          <a:xfrm>
            <a:off x="6461607" y="5038344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רק סדק</a:t>
            </a:r>
            <a:endParaRPr lang="he-IL" sz="3200"/>
          </a:p>
        </p:txBody>
      </p:sp>
      <p:sp>
        <p:nvSpPr>
          <p:cNvPr id="16" name="TextBox 15"/>
          <p:cNvSpPr txBox="1"/>
          <p:nvPr/>
        </p:nvSpPr>
        <p:spPr>
          <a:xfrm>
            <a:off x="4952847" y="1965960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147A8"/>
                </a:solidFill>
                <a:latin typeface="Frank Ruhl Libre Light"/>
                <a:cs typeface="Frank Ruhl Libre Light"/>
              </a:rPr>
              <a:t>05</a:t>
            </a:r>
            <a:endParaRPr lang="he-IL" sz="2600"/>
          </a:p>
        </p:txBody>
      </p:sp>
      <p:sp>
        <p:nvSpPr>
          <p:cNvPr id="17" name="TextBox 16"/>
          <p:cNvSpPr txBox="1"/>
          <p:nvPr/>
        </p:nvSpPr>
        <p:spPr>
          <a:xfrm>
            <a:off x="640080" y="1965960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סף תהום</a:t>
            </a:r>
            <a:endParaRPr lang="he-IL" sz="3200"/>
          </a:p>
        </p:txBody>
      </p:sp>
      <p:cxnSp>
        <p:nvCxnSpPr>
          <p:cNvPr id="18" name="Connector 17"/>
          <p:cNvCxnSpPr/>
          <p:nvPr/>
        </p:nvCxnSpPr>
        <p:spPr>
          <a:xfrm>
            <a:off x="640080" y="2880360"/>
            <a:ext cx="5090007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4952847" y="2990088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147A8"/>
                </a:solidFill>
                <a:latin typeface="Frank Ruhl Libre Light"/>
                <a:cs typeface="Frank Ruhl Libre Light"/>
              </a:rPr>
              <a:t>06</a:t>
            </a:r>
            <a:endParaRPr lang="he-IL" sz="2600"/>
          </a:p>
        </p:txBody>
      </p:sp>
      <p:sp>
        <p:nvSpPr>
          <p:cNvPr id="20" name="TextBox 19"/>
          <p:cNvSpPr txBox="1"/>
          <p:nvPr/>
        </p:nvSpPr>
        <p:spPr>
          <a:xfrm>
            <a:off x="640080" y="2990088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בתוך הגיהנום</a:t>
            </a:r>
            <a:endParaRPr lang="he-IL" sz="3200"/>
          </a:p>
        </p:txBody>
      </p:sp>
      <p:cxnSp>
        <p:nvCxnSpPr>
          <p:cNvPr id="21" name="Connector 20"/>
          <p:cNvCxnSpPr/>
          <p:nvPr/>
        </p:nvCxnSpPr>
        <p:spPr>
          <a:xfrm>
            <a:off x="640080" y="3904488"/>
            <a:ext cx="5090007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4952847" y="4014216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147A8"/>
                </a:solidFill>
                <a:latin typeface="Frank Ruhl Libre Light"/>
                <a:cs typeface="Frank Ruhl Libre Light"/>
              </a:rPr>
              <a:t>07</a:t>
            </a:r>
            <a:endParaRPr lang="he-IL" sz="2600"/>
          </a:p>
        </p:txBody>
      </p:sp>
      <p:sp>
        <p:nvSpPr>
          <p:cNvPr id="23" name="TextBox 22"/>
          <p:cNvSpPr txBox="1"/>
          <p:nvPr/>
        </p:nvSpPr>
        <p:spPr>
          <a:xfrm>
            <a:off x="640080" y="4014216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בצר</a:t>
            </a:r>
            <a:endParaRPr lang="he-IL" sz="3200"/>
          </a:p>
        </p:txBody>
      </p:sp>
      <p:cxnSp>
        <p:nvCxnSpPr>
          <p:cNvPr id="24" name="Connector 23"/>
          <p:cNvCxnSpPr/>
          <p:nvPr/>
        </p:nvCxnSpPr>
        <p:spPr>
          <a:xfrm>
            <a:off x="640080" y="4928616"/>
            <a:ext cx="5090007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4952847" y="5038344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147A8"/>
                </a:solidFill>
                <a:latin typeface="Frank Ruhl Libre Light"/>
                <a:cs typeface="Frank Ruhl Libre Light"/>
              </a:rPr>
              <a:t>08</a:t>
            </a:r>
            <a:endParaRPr lang="he-IL" sz="2600"/>
          </a:p>
        </p:txBody>
      </p:sp>
      <p:sp>
        <p:nvSpPr>
          <p:cNvPr id="26" name="TextBox 25"/>
          <p:cNvSpPr txBox="1"/>
          <p:nvPr/>
        </p:nvSpPr>
        <p:spPr>
          <a:xfrm>
            <a:off x="640080" y="5038344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לעולם לא נשבר</a:t>
            </a:r>
            <a:endParaRPr lang="he-IL" sz="3200"/>
          </a:p>
        </p:txBody>
      </p:sp>
      <p:sp>
        <p:nvSpPr>
          <p:cNvPr id="2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C6378"/>
                </a:solidFill>
                <a:latin typeface="Heebo"/>
                <a:cs typeface="Heebo"/>
              </a:rPr>
              <a:t>07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14204A"/>
                </a:solidFill>
                <a:latin typeface="Frank Ruhl Libre Medium"/>
                <a:cs typeface="Frank Ruhl Libre Medium"/>
              </a:rPr>
              <a:t>האירועים שהמילים מעוררות</a:t>
            </a:r>
            <a:endParaRPr lang="he-IL" sz="4200"/>
          </a:p>
        </p:txBody>
      </p:sp>
      <p:pic>
        <p:nvPicPr>
          <p:cNvPr id="4" name="Event photo" descr="hostages_square_mar2024_chenspec_ccbysa4.jpg"/>
          <p:cNvPicPr>
            <a:picLocks noChangeAspect="1"/>
          </p:cNvPicPr>
          <p:nvPr/>
        </p:nvPicPr>
        <p:blipFill>
          <a:blip r:embed="rId3"/>
          <a:srcRect t="30065" b="20044"/>
          <a:stretch>
            <a:fillRect/>
          </a:stretch>
        </p:blipFill>
        <p:spPr>
          <a:xfrm>
            <a:off x="0" y="1325880"/>
            <a:ext cx="12191695" cy="2011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23360" y="3383280"/>
            <a:ext cx="7528255" cy="5029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buNone/>
            </a:pPr>
            <a:r>
              <a:rPr lang="he-IL" altLang="en-US" sz="1600" b="0">
                <a:solidFill>
                  <a:srgbClr val="5C6378"/>
                </a:solidFill>
                <a:latin typeface="Heebo Light"/>
                <a:cs typeface="Heebo Light"/>
              </a:rPr>
              <a:t>שלט ״ושבו בנים לגבולם״ בכיכר החטופים, מרץ 2024. השיר מדבר על בית שנפגע, והשלט מבקש שכולם יחזרו אליו.</a:t>
            </a:r>
            <a:endParaRPr lang="he-IL" sz="1600"/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5C6378"/>
                </a:solidFill>
                <a:latin typeface="Heebo"/>
                <a:cs typeface="Heebo"/>
              </a:rPr>
              <a:t>צילום: Chenspec, ויקישיתוף, CC BY-SA 4.0</a:t>
            </a:r>
            <a:endParaRPr lang="he-IL" sz="1000"/>
          </a:p>
        </p:txBody>
      </p:sp>
      <p:sp>
        <p:nvSpPr>
          <p:cNvPr id="7" name="TextBox 6"/>
          <p:cNvSpPr txBox="1"/>
          <p:nvPr/>
        </p:nvSpPr>
        <p:spPr>
          <a:xfrm>
            <a:off x="6370167" y="3977639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2147A8"/>
                </a:solidFill>
                <a:latin typeface="Heebo"/>
                <a:cs typeface="Heebo"/>
              </a:rPr>
              <a:t>7 באוקטובר 2023  </a:t>
            </a:r>
            <a:r>
              <a:rPr lang="he-IL" altLang="en-US" sz="2100" b="0">
                <a:solidFill>
                  <a:srgbClr val="14204A"/>
                </a:solidFill>
                <a:latin typeface="Heebo Light"/>
                <a:cs typeface="Heebo Light"/>
              </a:rPr>
              <a:t>חמאס תוקף את יישובי הדרום, ופורצת מלחמת ״חרבות ברזל״.</a:t>
            </a:r>
            <a:endParaRPr lang="he-IL" sz="2100"/>
          </a:p>
        </p:txBody>
      </p:sp>
      <p:sp>
        <p:nvSpPr>
          <p:cNvPr id="8" name="TextBox 7"/>
          <p:cNvSpPr txBox="1"/>
          <p:nvPr/>
        </p:nvSpPr>
        <p:spPr>
          <a:xfrm>
            <a:off x="6370167" y="4764024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2147A8"/>
                </a:solidFill>
                <a:latin typeface="Heebo"/>
                <a:cs typeface="Heebo"/>
              </a:rPr>
              <a:t>שבוע אחרי  </a:t>
            </a:r>
            <a:r>
              <a:rPr lang="he-IL" altLang="en-US" sz="2100" b="0">
                <a:solidFill>
                  <a:srgbClr val="14204A"/>
                </a:solidFill>
                <a:latin typeface="Heebo Light"/>
                <a:cs typeface="Heebo Light"/>
              </a:rPr>
              <a:t>בן ארי מחליט להוציא שיר שכתב והלחין עוד לפני המלחמה.</a:t>
            </a:r>
            <a:endParaRPr lang="he-IL" sz="2100"/>
          </a:p>
        </p:txBody>
      </p:sp>
      <p:sp>
        <p:nvSpPr>
          <p:cNvPr id="9" name="TextBox 8"/>
          <p:cNvSpPr txBox="1"/>
          <p:nvPr/>
        </p:nvSpPr>
        <p:spPr>
          <a:xfrm>
            <a:off x="6370167" y="5550407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2147A8"/>
                </a:solidFill>
                <a:latin typeface="Heebo"/>
                <a:cs typeface="Heebo"/>
              </a:rPr>
              <a:t>16 באוקטובר  </a:t>
            </a:r>
            <a:r>
              <a:rPr lang="he-IL" altLang="en-US" sz="2100" b="0">
                <a:solidFill>
                  <a:srgbClr val="14204A"/>
                </a:solidFill>
                <a:latin typeface="Heebo Light"/>
                <a:cs typeface="Heebo Light"/>
              </a:rPr>
              <a:t>״מולדת״ יוצא, עם קליפ של מתנדבים ולוחמי מילואים.</a:t>
            </a:r>
            <a:endParaRPr lang="he-IL" sz="2100"/>
          </a:p>
        </p:txBody>
      </p:sp>
      <p:sp>
        <p:nvSpPr>
          <p:cNvPr id="10" name="TextBox 9"/>
          <p:cNvSpPr txBox="1"/>
          <p:nvPr/>
        </p:nvSpPr>
        <p:spPr>
          <a:xfrm>
            <a:off x="640080" y="3977639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2147A8"/>
                </a:solidFill>
                <a:latin typeface="Heebo"/>
                <a:cs typeface="Heebo"/>
              </a:rPr>
              <a:t>ההקדשה  </a:t>
            </a:r>
            <a:r>
              <a:rPr lang="he-IL" altLang="en-US" sz="2100" b="0">
                <a:solidFill>
                  <a:srgbClr val="14204A"/>
                </a:solidFill>
                <a:latin typeface="Heebo Light"/>
                <a:cs typeface="Heebo Light"/>
              </a:rPr>
              <a:t>הוא מקדיש אותו למדינה ״שנקים מחדש כשכל זה יגמר״.</a:t>
            </a:r>
            <a:endParaRPr lang="he-IL" sz="2100"/>
          </a:p>
        </p:txBody>
      </p:sp>
      <p:sp>
        <p:nvSpPr>
          <p:cNvPr id="11" name="TextBox 10"/>
          <p:cNvSpPr txBox="1"/>
          <p:nvPr/>
        </p:nvSpPr>
        <p:spPr>
          <a:xfrm>
            <a:off x="640080" y="4764024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2147A8"/>
                </a:solidFill>
                <a:latin typeface="Heebo"/>
                <a:cs typeface="Heebo"/>
              </a:rPr>
              <a:t>ההצלחה  </a:t>
            </a:r>
            <a:r>
              <a:rPr lang="he-IL" altLang="en-US" sz="2100" b="0">
                <a:solidFill>
                  <a:srgbClr val="14204A"/>
                </a:solidFill>
                <a:latin typeface="Heebo Light"/>
                <a:cs typeface="Heebo Light"/>
              </a:rPr>
              <a:t>השיר מגיע למקום הראשון במצעד ההשמעות של מדיה פורסט.</a:t>
            </a:r>
            <a:endParaRPr lang="he-IL" sz="2100"/>
          </a:p>
        </p:txBody>
      </p:sp>
      <p:sp>
        <p:nvSpPr>
          <p:cNvPr id="12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C6378"/>
                </a:solidFill>
                <a:latin typeface="Heebo"/>
                <a:cs typeface="Heebo"/>
              </a:rPr>
              <a:t>08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1280160"/>
            <a:ext cx="10911535" cy="4206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3600" b="0">
                <a:solidFill>
                  <a:srgbClr val="14204A"/>
                </a:solidFill>
                <a:latin typeface="Heebo"/>
                <a:cs typeface="Heebo"/>
              </a:rPr>
              <a:t>גם כשהמולדת מדממת,</a:t>
            </a:r>
            <a:endParaRPr lang="he-IL" sz="3600"/>
          </a:p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4000" b="0">
                <a:solidFill>
                  <a:srgbClr val="2147A8"/>
                </a:solidFill>
                <a:latin typeface="Frank Ruhl Libre Medium"/>
                <a:cs typeface="Frank Ruhl Libre Medium"/>
              </a:rPr>
              <a:t>חנן בן ארי לא מפסיק לשיר לה.</a:t>
            </a:r>
            <a:endParaRPr lang="he-IL" sz="4000"/>
          </a:p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3400" b="0">
                <a:solidFill>
                  <a:srgbClr val="14204A"/>
                </a:solidFill>
                <a:latin typeface="Frank Ruhl Libre Light"/>
                <a:cs typeface="Frank Ruhl Libre Light"/>
              </a:rPr>
              <a:t>זה מה שהופך את השיר לשיר אהבה.</a:t>
            </a:r>
            <a:endParaRPr lang="he-IL" sz="3400"/>
          </a:p>
        </p:txBody>
      </p:sp>
      <p:sp>
        <p:nvSpPr>
          <p:cNvPr id="4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C6378"/>
                </a:solidFill>
                <a:latin typeface="Heebo"/>
                <a:cs typeface="Heebo"/>
              </a:rPr>
              <a:t>09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