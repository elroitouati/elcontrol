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685800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1800" b="0">
                <a:solidFill>
                  <a:srgbClr val="2D5CC2"/>
                </a:solidFill>
                <a:latin typeface="Varela Round"/>
                <a:cs typeface="Varela Round"/>
              </a:rPr>
              <a:t>הערכה חלופית בספרות · שכבה ט׳</a:t>
            </a:r>
            <a:endParaRPr lang="he-IL" sz="1800"/>
          </a:p>
        </p:txBody>
      </p:sp>
      <p:sp>
        <p:nvSpPr>
          <p:cNvPr id="4" name="Title"/>
          <p:cNvSpPr txBox="1"/>
          <p:nvPr/>
        </p:nvSpPr>
        <p:spPr>
          <a:xfrm>
            <a:off x="640080" y="1371600"/>
            <a:ext cx="10911535" cy="228600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lnSpc>
                <a:spcPct val="90000"/>
              </a:lnSpc>
              <a:buNone/>
            </a:pPr>
            <a:r>
              <a:rPr lang="he-IL" altLang="en-US" sz="7800" b="0">
                <a:solidFill>
                  <a:srgbClr val="22304D"/>
                </a:solidFill>
                <a:latin typeface="Playpen Sans Hebrew"/>
                <a:cs typeface="Playpen Sans Hebrew"/>
              </a:rPr>
              <a:t>ילדה קטנה כותבת מכתב</a:t>
            </a:r>
            <a:endParaRPr lang="he-IL" sz="7800"/>
          </a:p>
        </p:txBody>
      </p:sp>
      <p:sp>
        <p:nvSpPr>
          <p:cNvPr id="5" name="TextBox 4"/>
          <p:cNvSpPr txBox="1"/>
          <p:nvPr/>
        </p:nvSpPr>
        <p:spPr>
          <a:xfrm>
            <a:off x="640080" y="3749039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3400" b="0">
                <a:solidFill>
                  <a:srgbClr val="2D5CC2"/>
                </a:solidFill>
                <a:latin typeface="Playpen Sans Hebrew Light"/>
                <a:cs typeface="Playpen Sans Hebrew Light"/>
              </a:rPr>
              <a:t>אמיר דדון</a:t>
            </a:r>
            <a:endParaRPr lang="he-IL" sz="3400"/>
          </a:p>
        </p:txBody>
      </p:sp>
      <p:sp>
        <p:nvSpPr>
          <p:cNvPr id="6" name="TextBox 5"/>
          <p:cNvSpPr txBox="1"/>
          <p:nvPr/>
        </p:nvSpPr>
        <p:spPr>
          <a:xfrm>
            <a:off x="640080" y="448056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200" b="0">
                <a:solidFill>
                  <a:srgbClr val="66708A"/>
                </a:solidFill>
                <a:latin typeface="Varela Round"/>
                <a:cs typeface="Varela Round"/>
              </a:rPr>
              <a:t>מכתב לאלוהים מתוך המלחמה</a:t>
            </a:r>
            <a:endParaRPr lang="he-IL" sz="2200"/>
          </a:p>
        </p:txBody>
      </p:sp>
      <p:sp>
        <p:nvSpPr>
          <p:cNvPr id="7" name="TextBox 6"/>
          <p:cNvSpPr txBox="1"/>
          <p:nvPr/>
        </p:nvSpPr>
        <p:spPr>
          <a:xfrm>
            <a:off x="640080" y="5669280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000" b="0">
                <a:solidFill>
                  <a:srgbClr val="66708A"/>
                </a:solidFill>
                <a:latin typeface="Varela Round"/>
                <a:cs typeface="Varela Round"/>
              </a:rPr>
              <a:t>שמות המגישים</a:t>
            </a:r>
            <a:endParaRPr lang="he-IL" sz="2000"/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Quote panel"/>
          <p:cNvSpPr/>
          <p:nvPr/>
        </p:nvSpPr>
        <p:spPr>
          <a:xfrm>
            <a:off x="0" y="0"/>
            <a:ext cx="5852160" cy="6858000"/>
          </a:xfrm>
          <a:prstGeom prst="rect">
            <a:avLst/>
          </a:prstGeom>
          <a:solidFill>
            <a:srgbClr val="FFF0B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1800" b="0">
                <a:solidFill>
                  <a:srgbClr val="3A3320"/>
                </a:solidFill>
                <a:latin typeface="Varela Round"/>
                <a:cs typeface="Varela Round"/>
              </a:rPr>
              <a:t>הקטע שבחרנו</a:t>
            </a:r>
            <a:endParaRPr lang="he-IL" sz="1800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4754880" cy="420624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  <a:buNone/>
            </a:pPr>
            <a:r>
              <a:rPr lang="he-IL" altLang="en-US" sz="2400" b="0">
                <a:solidFill>
                  <a:srgbClr val="3A3320"/>
                </a:solidFill>
                <a:latin typeface="Playpen Sans Hebrew Light"/>
                <a:cs typeface="Playpen Sans Hebrew Light"/>
              </a:rPr>
              <a:t>העיניים כבר ריקות מדמעות</a:t>
            </a:r>
            <a:endParaRPr lang="he-IL" sz="2400"/>
          </a:p>
          <a:p>
            <a:pPr algn="r" rtl="1">
              <a:lnSpc>
                <a:spcPct val="112000"/>
              </a:lnSpc>
              <a:spcAft>
                <a:spcPts val="400"/>
              </a:spcAft>
              <a:buNone/>
            </a:pPr>
            <a:r>
              <a:rPr lang="he-IL" altLang="en-US" sz="2400" b="0">
                <a:solidFill>
                  <a:srgbClr val="2D5CC2"/>
                </a:solidFill>
                <a:latin typeface="Playpen Sans Hebrew Light"/>
                <a:cs typeface="Playpen Sans Hebrew Light"/>
              </a:rPr>
              <a:t>התייבשנו</a:t>
            </a:r>
            <a:r>
              <a:rPr lang="he-IL" altLang="en-US" sz="2400" b="0">
                <a:solidFill>
                  <a:srgbClr val="3A3320"/>
                </a:solidFill>
                <a:latin typeface="Playpen Sans Hebrew Light"/>
                <a:cs typeface="Playpen Sans Hebrew Light"/>
              </a:rPr>
              <a:t> כבר מרוב מלחמות</a:t>
            </a:r>
            <a:endParaRPr lang="he-IL" sz="2400"/>
          </a:p>
          <a:p>
            <a:pPr algn="r" rtl="1">
              <a:lnSpc>
                <a:spcPct val="112000"/>
              </a:lnSpc>
              <a:spcAft>
                <a:spcPts val="400"/>
              </a:spcAft>
              <a:buNone/>
            </a:pPr>
            <a:r>
              <a:rPr lang="he-IL" altLang="en-US" sz="2400" b="0">
                <a:solidFill>
                  <a:srgbClr val="3A3320"/>
                </a:solidFill>
                <a:latin typeface="Playpen Sans Hebrew Light"/>
                <a:cs typeface="Playpen Sans Hebrew Light"/>
              </a:rPr>
              <a:t>מה יהיה מחר נתחיל מחדש</a:t>
            </a:r>
            <a:endParaRPr lang="he-IL" sz="2400"/>
          </a:p>
          <a:p>
            <a:pPr algn="r" rtl="1">
              <a:lnSpc>
                <a:spcPct val="112000"/>
              </a:lnSpc>
              <a:spcAft>
                <a:spcPts val="400"/>
              </a:spcAft>
              <a:buNone/>
            </a:pPr>
            <a:r>
              <a:rPr lang="he-IL" altLang="en-US" sz="2400" b="0">
                <a:solidFill>
                  <a:srgbClr val="2D5CC2"/>
                </a:solidFill>
                <a:latin typeface="Playpen Sans Hebrew Light"/>
                <a:cs typeface="Playpen Sans Hebrew Light"/>
              </a:rPr>
              <a:t>ילדה קטנה כותבת מכתב</a:t>
            </a:r>
            <a:endParaRPr lang="he-IL" sz="2400"/>
          </a:p>
        </p:txBody>
      </p:sp>
      <p:sp>
        <p:nvSpPr>
          <p:cNvPr id="6" name="TextBox 5"/>
          <p:cNvSpPr txBox="1"/>
          <p:nvPr/>
        </p:nvSpPr>
        <p:spPr>
          <a:xfrm>
            <a:off x="548640" y="58521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1600" b="0">
                <a:solidFill>
                  <a:srgbClr val="3A3320"/>
                </a:solidFill>
                <a:latin typeface="Varela Round"/>
                <a:cs typeface="Varela Round"/>
              </a:rPr>
              <a:t>״ילדה קטנה כותבת מכתב״, אמיר דדון</a:t>
            </a:r>
            <a:endParaRPr lang="he-IL" sz="1600"/>
          </a:p>
        </p:txBody>
      </p:sp>
      <p:sp>
        <p:nvSpPr>
          <p:cNvPr id="7" name="Title"/>
          <p:cNvSpPr txBox="1"/>
          <p:nvPr/>
        </p:nvSpPr>
        <p:spPr>
          <a:xfrm>
            <a:off x="6492240" y="457200"/>
            <a:ext cx="5059375" cy="86868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3400" b="0">
                <a:solidFill>
                  <a:srgbClr val="22304D"/>
                </a:solidFill>
                <a:latin typeface="Playpen Sans Hebrew"/>
                <a:cs typeface="Playpen Sans Hebrew"/>
              </a:rPr>
              <a:t>למה דווקא הקטע הזה</a:t>
            </a:r>
            <a:endParaRPr lang="he-IL" sz="3400"/>
          </a:p>
        </p:txBody>
      </p:sp>
      <p:sp>
        <p:nvSpPr>
          <p:cNvPr id="8" name="TextBox 7"/>
          <p:cNvSpPr txBox="1"/>
          <p:nvPr/>
        </p:nvSpPr>
        <p:spPr>
          <a:xfrm>
            <a:off x="6492240" y="1600200"/>
            <a:ext cx="5059375" cy="22860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spcAft>
                <a:spcPts val="400"/>
              </a:spcAft>
              <a:buNone/>
            </a:pPr>
            <a:r>
              <a:rPr lang="he-IL" altLang="en-US" sz="2200" b="0">
                <a:solidFill>
                  <a:srgbClr val="2D5CC2"/>
                </a:solidFill>
                <a:latin typeface="Varela Round"/>
                <a:cs typeface="Varela Round"/>
              </a:rPr>
              <a:t>למה בחרנו בקטע</a:t>
            </a:r>
            <a:endParaRPr lang="he-IL" sz="2200"/>
          </a:p>
          <a:p>
            <a:pPr algn="r" rtl="1">
              <a:lnSpc>
                <a:spcPct val="108000"/>
              </a:lnSpc>
              <a:buNone/>
            </a:pPr>
            <a:r>
              <a:rPr lang="he-IL" altLang="en-US" sz="2200" b="0">
                <a:solidFill>
                  <a:srgbClr val="22304D"/>
                </a:solidFill>
                <a:latin typeface="Varela Round"/>
                <a:cs typeface="Varela Round"/>
              </a:rPr>
              <a:t>בשורות האלה המבוגרים כבר ״התייבשו״ מבכי, ודווקא הילדה ממשיכה לכתוב ולקוות. בחרנו בקטע כי הוא מראה שתקווה יכולה לבוא מהקטנים.</a:t>
            </a:r>
            <a:endParaRPr lang="he-IL" sz="2200"/>
          </a:p>
        </p:txBody>
      </p:sp>
      <p:sp>
        <p:nvSpPr>
          <p:cNvPr id="9" name="TextBox 8"/>
          <p:cNvSpPr txBox="1"/>
          <p:nvPr/>
        </p:nvSpPr>
        <p:spPr>
          <a:xfrm>
            <a:off x="6492240" y="3977639"/>
            <a:ext cx="5059375" cy="237744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spcAft>
                <a:spcPts val="400"/>
              </a:spcAft>
              <a:buNone/>
            </a:pPr>
            <a:r>
              <a:rPr lang="he-IL" altLang="en-US" sz="2200" b="0">
                <a:solidFill>
                  <a:srgbClr val="2D5CC2"/>
                </a:solidFill>
                <a:latin typeface="Varela Round"/>
                <a:cs typeface="Varela Round"/>
              </a:rPr>
              <a:t>החיבור האישי שלנו</a:t>
            </a:r>
            <a:endParaRPr lang="he-IL" sz="2200"/>
          </a:p>
          <a:p>
            <a:pPr algn="r" rtl="1">
              <a:lnSpc>
                <a:spcPct val="108000"/>
              </a:lnSpc>
              <a:buNone/>
            </a:pPr>
            <a:r>
              <a:rPr lang="he-IL" altLang="en-US" sz="2200" b="0">
                <a:solidFill>
                  <a:srgbClr val="22304D"/>
                </a:solidFill>
                <a:latin typeface="Varela Round"/>
                <a:cs typeface="Varela Round"/>
              </a:rPr>
              <a:t>רבים מאיתנו כתבו בזמן המלחמה מכתב לחייל או ציור למשפחה של חטוף. השיר החזיר אותנו לרגעים האלה, כשהדבר היחיד שיכולנו לעשות היה לכתוב.</a:t>
            </a:r>
            <a:endParaRPr lang="he-IL" sz="2200"/>
          </a:p>
        </p:txBody>
      </p:sp>
      <p:sp>
        <p:nvSpPr>
          <p:cNvPr id="10" name="Slide number"/>
          <p:cNvSpPr txBox="1"/>
          <p:nvPr/>
        </p:nvSpPr>
        <p:spPr>
          <a:xfrm>
            <a:off x="640080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66708A"/>
                </a:solidFill>
                <a:latin typeface="Varela Round"/>
                <a:cs typeface="Varela Round"/>
              </a:rPr>
              <a:t>2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rtist photo" descr="dadon.png"/>
          <p:cNvPicPr>
            <a:picLocks noChangeAspect="1"/>
          </p:cNvPicPr>
          <p:nvPr/>
        </p:nvPicPr>
        <p:blipFill>
          <a:blip r:embed="rId3"/>
          <a:srcRect l="10000" r="10000"/>
          <a:stretch>
            <a:fillRect/>
          </a:stretch>
        </p:blipFill>
        <p:spPr>
          <a:xfrm>
            <a:off x="640080" y="1417320"/>
            <a:ext cx="36576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062472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1">
              <a:buNone/>
            </a:pPr>
            <a:r>
              <a:rPr lang="he-IL" altLang="en-US" sz="1000" b="0">
                <a:solidFill>
                  <a:srgbClr val="66708A"/>
                </a:solidFill>
                <a:latin typeface="Varela Round"/>
                <a:cs typeface="Varela Round"/>
              </a:rPr>
              <a:t>צילום: אייל אלישע, ויקישיתוף, CC BY-SA 3.0</a:t>
            </a:r>
            <a:endParaRPr lang="he-IL" sz="1000"/>
          </a:p>
        </p:txBody>
      </p:sp>
      <p:sp>
        <p:nvSpPr>
          <p:cNvPr id="5" name="Title"/>
          <p:cNvSpPr txBox="1"/>
          <p:nvPr/>
        </p:nvSpPr>
        <p:spPr>
          <a:xfrm>
            <a:off x="640080" y="457200"/>
            <a:ext cx="10911535" cy="86868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4000" b="0">
                <a:solidFill>
                  <a:srgbClr val="22304D"/>
                </a:solidFill>
                <a:latin typeface="Playpen Sans Hebrew"/>
                <a:cs typeface="Playpen Sans Hebrew"/>
              </a:rPr>
              <a:t>אמיר דדון</a:t>
            </a:r>
            <a:endParaRPr lang="he-IL" sz="4000"/>
          </a:p>
        </p:txBody>
      </p:sp>
      <p:sp>
        <p:nvSpPr>
          <p:cNvPr id="6" name="TextBox 5"/>
          <p:cNvSpPr txBox="1"/>
          <p:nvPr/>
        </p:nvSpPr>
        <p:spPr>
          <a:xfrm>
            <a:off x="10317175" y="1554480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400" b="0">
                <a:solidFill>
                  <a:srgbClr val="2D5CC2"/>
                </a:solidFill>
                <a:latin typeface="Playpen Sans Hebrew Light"/>
                <a:cs typeface="Playpen Sans Hebrew Light"/>
              </a:rPr>
              <a:t>1975</a:t>
            </a:r>
            <a:endParaRPr lang="he-IL" sz="2400"/>
          </a:p>
        </p:txBody>
      </p:sp>
      <p:sp>
        <p:nvSpPr>
          <p:cNvPr id="7" name="TextBox 6"/>
          <p:cNvSpPr txBox="1"/>
          <p:nvPr/>
        </p:nvSpPr>
        <p:spPr>
          <a:xfrm>
            <a:off x="4846320" y="1572768"/>
            <a:ext cx="5242255" cy="841248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200" b="0">
                <a:solidFill>
                  <a:srgbClr val="22304D"/>
                </a:solidFill>
                <a:latin typeface="Varela Round"/>
                <a:cs typeface="Varela Round"/>
              </a:rPr>
              <a:t>נולד בבאר שבע, ובגיל ההתבגרות עבר לגור באילת.</a:t>
            </a:r>
            <a:endParaRPr lang="he-IL" sz="2200"/>
          </a:p>
        </p:txBody>
      </p:sp>
      <p:cxnSp>
        <p:nvCxnSpPr>
          <p:cNvPr id="8" name="Connector 7"/>
          <p:cNvCxnSpPr/>
          <p:nvPr/>
        </p:nvCxnSpPr>
        <p:spPr>
          <a:xfrm>
            <a:off x="4846320" y="2395728"/>
            <a:ext cx="6705295" cy="0"/>
          </a:xfrm>
          <a:prstGeom prst="line">
            <a:avLst/>
          </a:prstGeom>
          <a:ln w="9525">
            <a:solidFill>
              <a:srgbClr val="D6DCE8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10317175" y="2505456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400" b="0">
                <a:solidFill>
                  <a:srgbClr val="2D5CC2"/>
                </a:solidFill>
                <a:latin typeface="Playpen Sans Hebrew Light"/>
                <a:cs typeface="Playpen Sans Hebrew Light"/>
              </a:rPr>
              <a:t>1994</a:t>
            </a:r>
            <a:endParaRPr lang="he-IL" sz="2400"/>
          </a:p>
        </p:txBody>
      </p:sp>
      <p:sp>
        <p:nvSpPr>
          <p:cNvPr id="10" name="TextBox 9"/>
          <p:cNvSpPr txBox="1"/>
          <p:nvPr/>
        </p:nvSpPr>
        <p:spPr>
          <a:xfrm>
            <a:off x="4846320" y="2523744"/>
            <a:ext cx="5242255" cy="841248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200" b="0">
                <a:solidFill>
                  <a:srgbClr val="22304D"/>
                </a:solidFill>
                <a:latin typeface="Varela Round"/>
                <a:cs typeface="Varela Round"/>
              </a:rPr>
              <a:t>התגייס ושירת כלוחם בחטיבת גבעתי.</a:t>
            </a:r>
            <a:endParaRPr lang="he-IL" sz="2200"/>
          </a:p>
        </p:txBody>
      </p:sp>
      <p:cxnSp>
        <p:nvCxnSpPr>
          <p:cNvPr id="11" name="Connector 10"/>
          <p:cNvCxnSpPr/>
          <p:nvPr/>
        </p:nvCxnSpPr>
        <p:spPr>
          <a:xfrm>
            <a:off x="4846320" y="3346704"/>
            <a:ext cx="6705295" cy="0"/>
          </a:xfrm>
          <a:prstGeom prst="line">
            <a:avLst/>
          </a:prstGeom>
          <a:ln w="9525">
            <a:solidFill>
              <a:srgbClr val="D6DCE8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10317175" y="3456432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400" b="0">
                <a:solidFill>
                  <a:srgbClr val="2D5CC2"/>
                </a:solidFill>
                <a:latin typeface="Playpen Sans Hebrew Light"/>
                <a:cs typeface="Playpen Sans Hebrew Light"/>
              </a:rPr>
              <a:t>2010</a:t>
            </a:r>
            <a:endParaRPr lang="he-IL" sz="2400"/>
          </a:p>
        </p:txBody>
      </p:sp>
      <p:sp>
        <p:nvSpPr>
          <p:cNvPr id="13" name="TextBox 12"/>
          <p:cNvSpPr txBox="1"/>
          <p:nvPr/>
        </p:nvSpPr>
        <p:spPr>
          <a:xfrm>
            <a:off x="4846320" y="3474720"/>
            <a:ext cx="5242255" cy="841248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200" b="0">
                <a:solidFill>
                  <a:srgbClr val="22304D"/>
                </a:solidFill>
                <a:latin typeface="Varela Round"/>
                <a:cs typeface="Varela Round"/>
              </a:rPr>
              <a:t>אלבום הבכורה שלו יצא, עם הלהיט ״אור גדול״.</a:t>
            </a:r>
            <a:endParaRPr lang="he-IL" sz="2200"/>
          </a:p>
        </p:txBody>
      </p:sp>
      <p:cxnSp>
        <p:nvCxnSpPr>
          <p:cNvPr id="14" name="Connector 13"/>
          <p:cNvCxnSpPr/>
          <p:nvPr/>
        </p:nvCxnSpPr>
        <p:spPr>
          <a:xfrm>
            <a:off x="4846320" y="4297680"/>
            <a:ext cx="6705295" cy="0"/>
          </a:xfrm>
          <a:prstGeom prst="line">
            <a:avLst/>
          </a:prstGeom>
          <a:ln w="9525">
            <a:solidFill>
              <a:srgbClr val="D6DCE8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10317175" y="4407408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400" b="0">
                <a:solidFill>
                  <a:srgbClr val="2D5CC2"/>
                </a:solidFill>
                <a:latin typeface="Playpen Sans Hebrew Light"/>
                <a:cs typeface="Playpen Sans Hebrew Light"/>
              </a:rPr>
              <a:t>2016</a:t>
            </a:r>
            <a:endParaRPr lang="he-IL" sz="2400"/>
          </a:p>
        </p:txBody>
      </p:sp>
      <p:sp>
        <p:nvSpPr>
          <p:cNvPr id="16" name="TextBox 15"/>
          <p:cNvSpPr txBox="1"/>
          <p:nvPr/>
        </p:nvSpPr>
        <p:spPr>
          <a:xfrm>
            <a:off x="4846320" y="4425696"/>
            <a:ext cx="5242255" cy="841248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200" b="0">
                <a:solidFill>
                  <a:srgbClr val="22304D"/>
                </a:solidFill>
                <a:latin typeface="Varela Round"/>
                <a:cs typeface="Varela Round"/>
              </a:rPr>
              <a:t>גילם את ז׳אן ולז׳אן ב״עלובי החיים״ וזכה בפרס השחקן במחזמר.</a:t>
            </a:r>
            <a:endParaRPr lang="he-IL" sz="2200"/>
          </a:p>
        </p:txBody>
      </p:sp>
      <p:cxnSp>
        <p:nvCxnSpPr>
          <p:cNvPr id="17" name="Connector 16"/>
          <p:cNvCxnSpPr/>
          <p:nvPr/>
        </p:nvCxnSpPr>
        <p:spPr>
          <a:xfrm>
            <a:off x="4846320" y="5248656"/>
            <a:ext cx="6705295" cy="0"/>
          </a:xfrm>
          <a:prstGeom prst="line">
            <a:avLst/>
          </a:prstGeom>
          <a:ln w="9525">
            <a:solidFill>
              <a:srgbClr val="D6DCE8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10317175" y="5358384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400" b="0">
                <a:solidFill>
                  <a:srgbClr val="2D5CC2"/>
                </a:solidFill>
                <a:latin typeface="Playpen Sans Hebrew Light"/>
                <a:cs typeface="Playpen Sans Hebrew Light"/>
              </a:rPr>
              <a:t>2023</a:t>
            </a:r>
            <a:endParaRPr lang="he-IL" sz="2400"/>
          </a:p>
        </p:txBody>
      </p:sp>
      <p:sp>
        <p:nvSpPr>
          <p:cNvPr id="19" name="TextBox 18"/>
          <p:cNvSpPr txBox="1"/>
          <p:nvPr/>
        </p:nvSpPr>
        <p:spPr>
          <a:xfrm>
            <a:off x="4846320" y="5376672"/>
            <a:ext cx="5242255" cy="841248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200" b="0">
                <a:solidFill>
                  <a:srgbClr val="22304D"/>
                </a:solidFill>
                <a:latin typeface="Varela Round"/>
                <a:cs typeface="Varela Round"/>
              </a:rPr>
              <a:t>הופיע בגלגלצ עם הכנר מרדכי שנוולד, שנפצע קשה במלחמה.</a:t>
            </a:r>
            <a:endParaRPr lang="he-IL" sz="2200"/>
          </a:p>
        </p:txBody>
      </p:sp>
      <p:sp>
        <p:nvSpPr>
          <p:cNvPr id="20" name="Slide number"/>
          <p:cNvSpPr txBox="1"/>
          <p:nvPr/>
        </p:nvSpPr>
        <p:spPr>
          <a:xfrm>
            <a:off x="640080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66708A"/>
                </a:solidFill>
                <a:latin typeface="Varela Round"/>
                <a:cs typeface="Varela Round"/>
              </a:rPr>
              <a:t>3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640080" y="457200"/>
            <a:ext cx="10911535" cy="86868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4000" b="0">
                <a:solidFill>
                  <a:srgbClr val="22304D"/>
                </a:solidFill>
                <a:latin typeface="Playpen Sans Hebrew"/>
                <a:cs typeface="Playpen Sans Hebrew"/>
              </a:rPr>
              <a:t>מילות השיר</a:t>
            </a:r>
            <a:endParaRPr lang="he-IL" sz="4000"/>
          </a:p>
        </p:txBody>
      </p:sp>
      <p:sp>
        <p:nvSpPr>
          <p:cNvPr id="4" name="Lyrics placeholder"/>
          <p:cNvSpPr/>
          <p:nvPr/>
        </p:nvSpPr>
        <p:spPr>
          <a:xfrm>
            <a:off x="640080" y="1463040"/>
            <a:ext cx="10911535" cy="4434840"/>
          </a:xfrm>
          <a:prstGeom prst="rect">
            <a:avLst/>
          </a:prstGeom>
          <a:noFill/>
          <a:ln w="15875">
            <a:solidFill>
              <a:srgbClr val="D6DCE8"/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5" name="Lyrics"/>
          <p:cNvSpPr txBox="1"/>
          <p:nvPr/>
        </p:nvSpPr>
        <p:spPr>
          <a:xfrm>
            <a:off x="640080" y="1463040"/>
            <a:ext cx="10911535" cy="443484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ctr" rtl="1">
              <a:spcAft>
                <a:spcPts val="800"/>
              </a:spcAft>
              <a:buNone/>
            </a:pPr>
            <a:r>
              <a:rPr lang="he-IL" altLang="en-US" sz="2600" b="0">
                <a:solidFill>
                  <a:srgbClr val="66708A"/>
                </a:solidFill>
                <a:latin typeface="Playpen Sans Hebrew Light"/>
                <a:cs typeface="Playpen Sans Hebrew Light"/>
              </a:rPr>
              <a:t>כאן יודבקו מילות השיר המלאות</a:t>
            </a:r>
            <a:endParaRPr lang="he-IL" sz="2600"/>
          </a:p>
          <a:p>
            <a:pPr algn="ctr" rtl="1">
              <a:buNone/>
            </a:pPr>
            <a:r>
              <a:rPr lang="he-IL" altLang="en-US" sz="1800" b="0">
                <a:solidFill>
                  <a:srgbClr val="66708A"/>
                </a:solidFill>
                <a:latin typeface="Varela Round"/>
                <a:cs typeface="Varela Round"/>
              </a:rPr>
              <a:t>לפי חלוקת הבתים והשורות המקורית</a:t>
            </a:r>
            <a:endParaRPr lang="he-IL" sz="1800"/>
          </a:p>
        </p:txBody>
      </p:sp>
      <p:sp>
        <p:nvSpPr>
          <p:cNvPr id="6" name="TextBox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1400" b="0">
                <a:solidFill>
                  <a:srgbClr val="66708A"/>
                </a:solidFill>
                <a:latin typeface="Varela Round"/>
                <a:cs typeface="Varela Round"/>
              </a:rPr>
              <a:t>ביצוע: אמיר דדון · יצא ב-3 ביוני 2024</a:t>
            </a:r>
            <a:endParaRPr lang="he-IL" sz="1400"/>
          </a:p>
        </p:txBody>
      </p:sp>
      <p:sp>
        <p:nvSpPr>
          <p:cNvPr id="7" name="Slide number"/>
          <p:cNvSpPr txBox="1"/>
          <p:nvPr/>
        </p:nvSpPr>
        <p:spPr>
          <a:xfrm>
            <a:off x="640080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66708A"/>
                </a:solidFill>
                <a:latin typeface="Varela Round"/>
                <a:cs typeface="Varela Round"/>
              </a:rPr>
              <a:t>4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1800" b="0">
                <a:solidFill>
                  <a:srgbClr val="66708A"/>
                </a:solidFill>
                <a:latin typeface="Varela Round"/>
                <a:cs typeface="Varela Round"/>
              </a:rPr>
              <a:t>מושג ראשון</a:t>
            </a:r>
            <a:endParaRPr lang="he-IL" sz="1800"/>
          </a:p>
        </p:txBody>
      </p:sp>
      <p:sp>
        <p:nvSpPr>
          <p:cNvPr id="4" name="Title"/>
          <p:cNvSpPr txBox="1"/>
          <p:nvPr/>
        </p:nvSpPr>
        <p:spPr>
          <a:xfrm>
            <a:off x="6035040" y="777240"/>
            <a:ext cx="5516575" cy="100584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5400" b="0">
                <a:solidFill>
                  <a:srgbClr val="2D5CC2"/>
                </a:solidFill>
                <a:latin typeface="Playpen Sans Hebrew"/>
                <a:cs typeface="Playpen Sans Hebrew"/>
              </a:rPr>
              <a:t>מטאפורה</a:t>
            </a:r>
            <a:endParaRPr lang="he-IL" sz="5400"/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5120640" cy="100584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1">
              <a:lnSpc>
                <a:spcPct val="104000"/>
              </a:lnSpc>
              <a:buNone/>
            </a:pPr>
            <a:r>
              <a:rPr lang="he-IL" altLang="en-US" sz="2000" b="0">
                <a:solidFill>
                  <a:srgbClr val="66708A"/>
                </a:solidFill>
                <a:latin typeface="Varela Round"/>
                <a:cs typeface="Varela Round"/>
              </a:rPr>
              <a:t>תיאור של דבר אחד באמצעות דבר מעולם אחר, בלי מילת דימוי כמו ״כמו״ או ״כְּ״.</a:t>
            </a:r>
            <a:endParaRPr lang="he-IL" sz="2000"/>
          </a:p>
        </p:txBody>
      </p:sp>
      <p:cxnSp>
        <p:nvCxnSpPr>
          <p:cNvPr id="6" name="Connector 5"/>
          <p:cNvCxnSpPr/>
          <p:nvPr/>
        </p:nvCxnSpPr>
        <p:spPr>
          <a:xfrm>
            <a:off x="640080" y="2011680"/>
            <a:ext cx="10911535" cy="0"/>
          </a:xfrm>
          <a:prstGeom prst="line">
            <a:avLst/>
          </a:prstGeom>
          <a:ln w="9525">
            <a:solidFill>
              <a:srgbClr val="D6DCE8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640080" y="2194560"/>
            <a:ext cx="10911535" cy="169164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ctr" rtl="1">
              <a:lnSpc>
                <a:spcPct val="112000"/>
              </a:lnSpc>
              <a:spcAft>
                <a:spcPts val="400"/>
              </a:spcAft>
              <a:buNone/>
            </a:pPr>
            <a:r>
              <a:rPr lang="he-IL" altLang="en-US" sz="3000" b="0">
                <a:solidFill>
                  <a:srgbClr val="22304D"/>
                </a:solidFill>
                <a:latin typeface="Playpen Sans Hebrew Light"/>
                <a:cs typeface="Playpen Sans Hebrew Light"/>
              </a:rPr>
              <a:t>מפליגים שנים</a:t>
            </a:r>
            <a:endParaRPr lang="he-IL" sz="3000"/>
          </a:p>
          <a:p>
            <a:pPr algn="ctr" rtl="1">
              <a:lnSpc>
                <a:spcPct val="112000"/>
              </a:lnSpc>
              <a:spcAft>
                <a:spcPts val="400"/>
              </a:spcAft>
              <a:buNone/>
            </a:pPr>
            <a:r>
              <a:rPr lang="he-IL" altLang="en-US" sz="3000" b="0">
                <a:solidFill>
                  <a:srgbClr val="2D5CC2"/>
                </a:solidFill>
                <a:latin typeface="Playpen Sans Hebrew Light"/>
                <a:cs typeface="Playpen Sans Hebrew Light"/>
              </a:rPr>
              <a:t>בים בלי חוף</a:t>
            </a:r>
            <a:endParaRPr lang="he-IL" sz="3000"/>
          </a:p>
        </p:txBody>
      </p:sp>
      <p:cxnSp>
        <p:nvCxnSpPr>
          <p:cNvPr id="8" name="Connector 7"/>
          <p:cNvCxnSpPr/>
          <p:nvPr/>
        </p:nvCxnSpPr>
        <p:spPr>
          <a:xfrm>
            <a:off x="640080" y="4069080"/>
            <a:ext cx="10911535" cy="0"/>
          </a:xfrm>
          <a:prstGeom prst="line">
            <a:avLst/>
          </a:prstGeom>
          <a:ln w="9525">
            <a:solidFill>
              <a:srgbClr val="D6DCE8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6355080" y="4297680"/>
            <a:ext cx="5196535" cy="20116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spcAft>
                <a:spcPts val="400"/>
              </a:spcAft>
              <a:buNone/>
            </a:pPr>
            <a:r>
              <a:rPr lang="he-IL" altLang="en-US" sz="2200" b="0">
                <a:solidFill>
                  <a:srgbClr val="2D5CC2"/>
                </a:solidFill>
                <a:latin typeface="Varela Round"/>
                <a:cs typeface="Varela Round"/>
              </a:rPr>
              <a:t>איך זה מופיע בשיר</a:t>
            </a:r>
            <a:endParaRPr lang="he-IL" sz="2200"/>
          </a:p>
          <a:p>
            <a:pPr algn="r" rtl="1">
              <a:lnSpc>
                <a:spcPct val="104000"/>
              </a:lnSpc>
              <a:buNone/>
            </a:pPr>
            <a:r>
              <a:rPr lang="he-IL" altLang="en-US" sz="2200" b="0">
                <a:solidFill>
                  <a:srgbClr val="22304D"/>
                </a:solidFill>
                <a:latin typeface="Varela Round"/>
                <a:cs typeface="Varela Round"/>
              </a:rPr>
              <a:t>החיים בצל המלחמה מתוארים כהפלגה בים שאין לו חוף. מפליגים ומפליגים, ולא מגיעים.</a:t>
            </a:r>
            <a:endParaRPr lang="he-IL" sz="2200"/>
          </a:p>
        </p:txBody>
      </p:sp>
      <p:sp>
        <p:nvSpPr>
          <p:cNvPr id="10" name="TextBox 9"/>
          <p:cNvSpPr txBox="1"/>
          <p:nvPr/>
        </p:nvSpPr>
        <p:spPr>
          <a:xfrm>
            <a:off x="640080" y="4297680"/>
            <a:ext cx="5257800" cy="20116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spcAft>
                <a:spcPts val="400"/>
              </a:spcAft>
              <a:buNone/>
            </a:pPr>
            <a:r>
              <a:rPr lang="he-IL" altLang="en-US" sz="2200" b="0">
                <a:solidFill>
                  <a:srgbClr val="2D5CC2"/>
                </a:solidFill>
                <a:latin typeface="Varela Round"/>
                <a:cs typeface="Varela Round"/>
              </a:rPr>
              <a:t>מה זה מוסיף למשמעות</a:t>
            </a:r>
            <a:endParaRPr lang="he-IL" sz="2200"/>
          </a:p>
          <a:p>
            <a:pPr algn="r" rtl="1">
              <a:lnSpc>
                <a:spcPct val="104000"/>
              </a:lnSpc>
              <a:buNone/>
            </a:pPr>
            <a:r>
              <a:rPr lang="he-IL" altLang="en-US" sz="2200" b="0">
                <a:solidFill>
                  <a:srgbClr val="22304D"/>
                </a:solidFill>
                <a:latin typeface="Varela Round"/>
                <a:cs typeface="Varela Round"/>
              </a:rPr>
              <a:t>המטאפורה מראה עייפות ותחושה שאין סוף. בגלל זה הילדה כל כך מחפשת ״אור בקצה״.</a:t>
            </a:r>
            <a:endParaRPr lang="he-IL" sz="2200"/>
          </a:p>
        </p:txBody>
      </p:sp>
      <p:sp>
        <p:nvSpPr>
          <p:cNvPr id="11" name="Slide number"/>
          <p:cNvSpPr txBox="1"/>
          <p:nvPr/>
        </p:nvSpPr>
        <p:spPr>
          <a:xfrm>
            <a:off x="640080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66708A"/>
                </a:solidFill>
                <a:latin typeface="Varela Round"/>
                <a:cs typeface="Varela Round"/>
              </a:rPr>
              <a:t>5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1800" b="0">
                <a:solidFill>
                  <a:srgbClr val="66708A"/>
                </a:solidFill>
                <a:latin typeface="Varela Round"/>
                <a:cs typeface="Varela Round"/>
              </a:rPr>
              <a:t>מושג שני</a:t>
            </a:r>
            <a:endParaRPr lang="he-IL" sz="1800"/>
          </a:p>
        </p:txBody>
      </p:sp>
      <p:sp>
        <p:nvSpPr>
          <p:cNvPr id="4" name="Title"/>
          <p:cNvSpPr txBox="1"/>
          <p:nvPr/>
        </p:nvSpPr>
        <p:spPr>
          <a:xfrm>
            <a:off x="6035040" y="777240"/>
            <a:ext cx="5516575" cy="100584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5400" b="0">
                <a:solidFill>
                  <a:srgbClr val="2D5CC2"/>
                </a:solidFill>
                <a:latin typeface="Playpen Sans Hebrew"/>
                <a:cs typeface="Playpen Sans Hebrew"/>
              </a:rPr>
              <a:t>שאלה רטורית</a:t>
            </a:r>
            <a:endParaRPr lang="he-IL" sz="5400"/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5120640" cy="100584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1">
              <a:lnSpc>
                <a:spcPct val="104000"/>
              </a:lnSpc>
              <a:buNone/>
            </a:pPr>
            <a:r>
              <a:rPr lang="he-IL" altLang="en-US" sz="2000" b="0">
                <a:solidFill>
                  <a:srgbClr val="66708A"/>
                </a:solidFill>
                <a:latin typeface="Varela Round"/>
                <a:cs typeface="Varela Round"/>
              </a:rPr>
              <a:t>שאלה שלא מחכים לה לתשובה. היא באה להביע רגש או לעורר מחשבה.</a:t>
            </a:r>
            <a:endParaRPr lang="he-IL" sz="2000"/>
          </a:p>
        </p:txBody>
      </p:sp>
      <p:cxnSp>
        <p:nvCxnSpPr>
          <p:cNvPr id="6" name="Connector 5"/>
          <p:cNvCxnSpPr/>
          <p:nvPr/>
        </p:nvCxnSpPr>
        <p:spPr>
          <a:xfrm>
            <a:off x="640080" y="2011680"/>
            <a:ext cx="10911535" cy="0"/>
          </a:xfrm>
          <a:prstGeom prst="line">
            <a:avLst/>
          </a:prstGeom>
          <a:ln w="9525">
            <a:solidFill>
              <a:srgbClr val="D6DCE8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640080" y="2194560"/>
            <a:ext cx="10911535" cy="169164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ctr" rtl="1">
              <a:lnSpc>
                <a:spcPct val="112000"/>
              </a:lnSpc>
              <a:spcAft>
                <a:spcPts val="400"/>
              </a:spcAft>
              <a:buNone/>
            </a:pPr>
            <a:r>
              <a:rPr lang="he-IL" altLang="en-US" sz="3000" b="0">
                <a:solidFill>
                  <a:srgbClr val="2D5CC2"/>
                </a:solidFill>
                <a:latin typeface="Playpen Sans Hebrew Light"/>
                <a:cs typeface="Playpen Sans Hebrew Light"/>
              </a:rPr>
              <a:t>איפה</a:t>
            </a:r>
            <a:r>
              <a:rPr lang="he-IL" altLang="en-US" sz="3000" b="0">
                <a:solidFill>
                  <a:srgbClr val="22304D"/>
                </a:solidFill>
                <a:latin typeface="Playpen Sans Hebrew Light"/>
                <a:cs typeface="Playpen Sans Hebrew Light"/>
              </a:rPr>
              <a:t> האור בקצה</a:t>
            </a:r>
            <a:endParaRPr lang="he-IL" sz="3000"/>
          </a:p>
          <a:p>
            <a:pPr algn="ctr" rtl="1">
              <a:lnSpc>
                <a:spcPct val="112000"/>
              </a:lnSpc>
              <a:spcAft>
                <a:spcPts val="400"/>
              </a:spcAft>
              <a:buNone/>
            </a:pPr>
            <a:r>
              <a:rPr lang="he-IL" altLang="en-US" sz="3000" b="0">
                <a:solidFill>
                  <a:srgbClr val="2D5CC2"/>
                </a:solidFill>
                <a:latin typeface="Playpen Sans Hebrew Light"/>
                <a:cs typeface="Playpen Sans Hebrew Light"/>
              </a:rPr>
              <a:t>מה ייצא</a:t>
            </a:r>
            <a:r>
              <a:rPr lang="he-IL" altLang="en-US" sz="3000" b="0">
                <a:solidFill>
                  <a:srgbClr val="22304D"/>
                </a:solidFill>
                <a:latin typeface="Playpen Sans Hebrew Light"/>
                <a:cs typeface="Playpen Sans Hebrew Light"/>
              </a:rPr>
              <a:t> מהשיגעון</a:t>
            </a:r>
            <a:endParaRPr lang="he-IL" sz="3000"/>
          </a:p>
          <a:p>
            <a:pPr algn="ctr" rtl="1">
              <a:lnSpc>
                <a:spcPct val="112000"/>
              </a:lnSpc>
              <a:spcAft>
                <a:spcPts val="400"/>
              </a:spcAft>
              <a:buNone/>
            </a:pPr>
            <a:r>
              <a:rPr lang="he-IL" altLang="en-US" sz="3000" b="0">
                <a:solidFill>
                  <a:srgbClr val="2D5CC2"/>
                </a:solidFill>
                <a:latin typeface="Playpen Sans Hebrew Light"/>
                <a:cs typeface="Playpen Sans Hebrew Light"/>
              </a:rPr>
              <a:t>מה עם הקשת</a:t>
            </a:r>
            <a:r>
              <a:rPr lang="he-IL" altLang="en-US" sz="3000" b="0">
                <a:solidFill>
                  <a:srgbClr val="22304D"/>
                </a:solidFill>
                <a:latin typeface="Playpen Sans Hebrew Light"/>
                <a:cs typeface="Playpen Sans Hebrew Light"/>
              </a:rPr>
              <a:t> אחרי המבול</a:t>
            </a:r>
            <a:endParaRPr lang="he-IL" sz="3000"/>
          </a:p>
        </p:txBody>
      </p:sp>
      <p:cxnSp>
        <p:nvCxnSpPr>
          <p:cNvPr id="8" name="Connector 7"/>
          <p:cNvCxnSpPr/>
          <p:nvPr/>
        </p:nvCxnSpPr>
        <p:spPr>
          <a:xfrm>
            <a:off x="640080" y="4069080"/>
            <a:ext cx="10911535" cy="0"/>
          </a:xfrm>
          <a:prstGeom prst="line">
            <a:avLst/>
          </a:prstGeom>
          <a:ln w="9525">
            <a:solidFill>
              <a:srgbClr val="D6DCE8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6355080" y="4297680"/>
            <a:ext cx="5196535" cy="20116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spcAft>
                <a:spcPts val="400"/>
              </a:spcAft>
              <a:buNone/>
            </a:pPr>
            <a:r>
              <a:rPr lang="he-IL" altLang="en-US" sz="2200" b="0">
                <a:solidFill>
                  <a:srgbClr val="2D5CC2"/>
                </a:solidFill>
                <a:latin typeface="Varela Round"/>
                <a:cs typeface="Varela Round"/>
              </a:rPr>
              <a:t>איך זה מופיע בשיר</a:t>
            </a:r>
            <a:endParaRPr lang="he-IL" sz="2200"/>
          </a:p>
          <a:p>
            <a:pPr algn="r" rtl="1">
              <a:lnSpc>
                <a:spcPct val="104000"/>
              </a:lnSpc>
              <a:buNone/>
            </a:pPr>
            <a:r>
              <a:rPr lang="he-IL" altLang="en-US" sz="2200" b="0">
                <a:solidFill>
                  <a:srgbClr val="22304D"/>
                </a:solidFill>
                <a:latin typeface="Varela Round"/>
                <a:cs typeface="Varela Round"/>
              </a:rPr>
              <a:t>השיר מלא בשאלות שאין להן תשובה. ״הקשת אחרי המבול״ מזכירה את הקשת שאלוהים הבטיח לנח.</a:t>
            </a:r>
            <a:endParaRPr lang="he-IL" sz="2200"/>
          </a:p>
        </p:txBody>
      </p:sp>
      <p:sp>
        <p:nvSpPr>
          <p:cNvPr id="10" name="TextBox 9"/>
          <p:cNvSpPr txBox="1"/>
          <p:nvPr/>
        </p:nvSpPr>
        <p:spPr>
          <a:xfrm>
            <a:off x="640080" y="4297680"/>
            <a:ext cx="5257800" cy="20116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spcAft>
                <a:spcPts val="400"/>
              </a:spcAft>
              <a:buNone/>
            </a:pPr>
            <a:r>
              <a:rPr lang="he-IL" altLang="en-US" sz="2200" b="0">
                <a:solidFill>
                  <a:srgbClr val="2D5CC2"/>
                </a:solidFill>
                <a:latin typeface="Varela Round"/>
                <a:cs typeface="Varela Round"/>
              </a:rPr>
              <a:t>מה זה מוסיף למשמעות</a:t>
            </a:r>
            <a:endParaRPr lang="he-IL" sz="2200"/>
          </a:p>
          <a:p>
            <a:pPr algn="r" rtl="1">
              <a:lnSpc>
                <a:spcPct val="104000"/>
              </a:lnSpc>
              <a:buNone/>
            </a:pPr>
            <a:r>
              <a:rPr lang="he-IL" altLang="en-US" sz="2200" b="0">
                <a:solidFill>
                  <a:srgbClr val="22304D"/>
                </a:solidFill>
                <a:latin typeface="Varela Round"/>
                <a:cs typeface="Varela Round"/>
              </a:rPr>
              <a:t>השאלות מביעות בלבול וגעגוע לשקט. בסוף השיר השאלה הופכת לתשובה: ״הנה האור בקצה״.</a:t>
            </a:r>
            <a:endParaRPr lang="he-IL" sz="2200"/>
          </a:p>
        </p:txBody>
      </p:sp>
      <p:sp>
        <p:nvSpPr>
          <p:cNvPr id="11" name="Slide number"/>
          <p:cNvSpPr txBox="1"/>
          <p:nvPr/>
        </p:nvSpPr>
        <p:spPr>
          <a:xfrm>
            <a:off x="640080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66708A"/>
                </a:solidFill>
                <a:latin typeface="Varela Round"/>
                <a:cs typeface="Varela Round"/>
              </a:rPr>
              <a:t>6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640080" y="457200"/>
            <a:ext cx="10911535" cy="86868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4000" b="0">
                <a:solidFill>
                  <a:srgbClr val="22304D"/>
                </a:solidFill>
                <a:latin typeface="Playpen Sans Hebrew"/>
                <a:cs typeface="Playpen Sans Hebrew"/>
              </a:rPr>
              <a:t>מילים שמעוררות את המלחמה</a:t>
            </a:r>
            <a:endParaRPr lang="he-IL" sz="4000"/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000" b="0">
                <a:solidFill>
                  <a:srgbClr val="66708A"/>
                </a:solidFill>
                <a:latin typeface="Varela Round"/>
                <a:cs typeface="Varela Round"/>
              </a:rPr>
              <a:t>מילים מהשיר שמתארות את התקופה הארוכה של המלחמה</a:t>
            </a:r>
            <a:endParaRPr lang="he-IL" sz="2000"/>
          </a:p>
        </p:txBody>
      </p:sp>
      <p:sp>
        <p:nvSpPr>
          <p:cNvPr id="5" name="TextBox 4"/>
          <p:cNvSpPr txBox="1"/>
          <p:nvPr/>
        </p:nvSpPr>
        <p:spPr>
          <a:xfrm>
            <a:off x="10774375" y="196596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2600" b="0">
                <a:solidFill>
                  <a:srgbClr val="2D5CC2"/>
                </a:solidFill>
                <a:latin typeface="Playpen Sans Hebrew Light"/>
                <a:cs typeface="Playpen Sans Hebrew Light"/>
              </a:rPr>
              <a:t>01</a:t>
            </a:r>
            <a:endParaRPr lang="he-IL" sz="2600"/>
          </a:p>
        </p:txBody>
      </p:sp>
      <p:sp>
        <p:nvSpPr>
          <p:cNvPr id="6" name="TextBox 5"/>
          <p:cNvSpPr txBox="1"/>
          <p:nvPr/>
        </p:nvSpPr>
        <p:spPr>
          <a:xfrm>
            <a:off x="6461607" y="1965960"/>
            <a:ext cx="4175607" cy="82296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3200" b="0">
                <a:solidFill>
                  <a:srgbClr val="22304D"/>
                </a:solidFill>
                <a:latin typeface="Playpen Sans Hebrew Light"/>
                <a:cs typeface="Playpen Sans Hebrew Light"/>
              </a:rPr>
              <a:t>מרוב מלחמות</a:t>
            </a:r>
            <a:endParaRPr lang="he-IL" sz="3200"/>
          </a:p>
        </p:txBody>
      </p:sp>
      <p:cxnSp>
        <p:nvCxnSpPr>
          <p:cNvPr id="7" name="Connector 6"/>
          <p:cNvCxnSpPr/>
          <p:nvPr/>
        </p:nvCxnSpPr>
        <p:spPr>
          <a:xfrm>
            <a:off x="6461607" y="2880360"/>
            <a:ext cx="5090008" cy="0"/>
          </a:xfrm>
          <a:prstGeom prst="line">
            <a:avLst/>
          </a:prstGeom>
          <a:ln w="9525">
            <a:solidFill>
              <a:srgbClr val="D6DCE8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10774375" y="2990088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2600" b="0">
                <a:solidFill>
                  <a:srgbClr val="2D5CC2"/>
                </a:solidFill>
                <a:latin typeface="Playpen Sans Hebrew Light"/>
                <a:cs typeface="Playpen Sans Hebrew Light"/>
              </a:rPr>
              <a:t>02</a:t>
            </a:r>
            <a:endParaRPr lang="he-IL" sz="2600"/>
          </a:p>
        </p:txBody>
      </p:sp>
      <p:sp>
        <p:nvSpPr>
          <p:cNvPr id="9" name="TextBox 8"/>
          <p:cNvSpPr txBox="1"/>
          <p:nvPr/>
        </p:nvSpPr>
        <p:spPr>
          <a:xfrm>
            <a:off x="6461607" y="2990088"/>
            <a:ext cx="4175607" cy="82296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3200" b="0">
                <a:solidFill>
                  <a:srgbClr val="22304D"/>
                </a:solidFill>
                <a:latin typeface="Playpen Sans Hebrew Light"/>
                <a:cs typeface="Playpen Sans Hebrew Light"/>
              </a:rPr>
              <a:t>טירוף</a:t>
            </a:r>
            <a:endParaRPr lang="he-IL" sz="3200"/>
          </a:p>
        </p:txBody>
      </p:sp>
      <p:cxnSp>
        <p:nvCxnSpPr>
          <p:cNvPr id="10" name="Connector 9"/>
          <p:cNvCxnSpPr/>
          <p:nvPr/>
        </p:nvCxnSpPr>
        <p:spPr>
          <a:xfrm>
            <a:off x="6461607" y="3904488"/>
            <a:ext cx="5090008" cy="0"/>
          </a:xfrm>
          <a:prstGeom prst="line">
            <a:avLst/>
          </a:prstGeom>
          <a:ln w="9525">
            <a:solidFill>
              <a:srgbClr val="D6DCE8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10774375" y="4014216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2600" b="0">
                <a:solidFill>
                  <a:srgbClr val="2D5CC2"/>
                </a:solidFill>
                <a:latin typeface="Playpen Sans Hebrew Light"/>
                <a:cs typeface="Playpen Sans Hebrew Light"/>
              </a:rPr>
              <a:t>03</a:t>
            </a:r>
            <a:endParaRPr lang="he-IL" sz="2600"/>
          </a:p>
        </p:txBody>
      </p:sp>
      <p:sp>
        <p:nvSpPr>
          <p:cNvPr id="12" name="TextBox 11"/>
          <p:cNvSpPr txBox="1"/>
          <p:nvPr/>
        </p:nvSpPr>
        <p:spPr>
          <a:xfrm>
            <a:off x="6461607" y="4014216"/>
            <a:ext cx="4175607" cy="82296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3200" b="0">
                <a:solidFill>
                  <a:srgbClr val="22304D"/>
                </a:solidFill>
                <a:latin typeface="Playpen Sans Hebrew Light"/>
                <a:cs typeface="Playpen Sans Hebrew Light"/>
              </a:rPr>
              <a:t>השיגעון</a:t>
            </a:r>
            <a:endParaRPr lang="he-IL" sz="3200"/>
          </a:p>
        </p:txBody>
      </p:sp>
      <p:cxnSp>
        <p:nvCxnSpPr>
          <p:cNvPr id="13" name="Connector 12"/>
          <p:cNvCxnSpPr/>
          <p:nvPr/>
        </p:nvCxnSpPr>
        <p:spPr>
          <a:xfrm>
            <a:off x="6461607" y="4928616"/>
            <a:ext cx="5090008" cy="0"/>
          </a:xfrm>
          <a:prstGeom prst="line">
            <a:avLst/>
          </a:prstGeom>
          <a:ln w="9525">
            <a:solidFill>
              <a:srgbClr val="D6DCE8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10774375" y="5038344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2600" b="0">
                <a:solidFill>
                  <a:srgbClr val="2D5CC2"/>
                </a:solidFill>
                <a:latin typeface="Playpen Sans Hebrew Light"/>
                <a:cs typeface="Playpen Sans Hebrew Light"/>
              </a:rPr>
              <a:t>04</a:t>
            </a:r>
            <a:endParaRPr lang="he-IL" sz="2600"/>
          </a:p>
        </p:txBody>
      </p:sp>
      <p:sp>
        <p:nvSpPr>
          <p:cNvPr id="15" name="TextBox 14"/>
          <p:cNvSpPr txBox="1"/>
          <p:nvPr/>
        </p:nvSpPr>
        <p:spPr>
          <a:xfrm>
            <a:off x="6461607" y="5038344"/>
            <a:ext cx="4175607" cy="82296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3200" b="0">
                <a:solidFill>
                  <a:srgbClr val="22304D"/>
                </a:solidFill>
                <a:latin typeface="Playpen Sans Hebrew Light"/>
                <a:cs typeface="Playpen Sans Hebrew Light"/>
              </a:rPr>
              <a:t>המבול</a:t>
            </a:r>
            <a:endParaRPr lang="he-IL" sz="3200"/>
          </a:p>
        </p:txBody>
      </p:sp>
      <p:sp>
        <p:nvSpPr>
          <p:cNvPr id="16" name="TextBox 15"/>
          <p:cNvSpPr txBox="1"/>
          <p:nvPr/>
        </p:nvSpPr>
        <p:spPr>
          <a:xfrm>
            <a:off x="4952847" y="196596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2600" b="0">
                <a:solidFill>
                  <a:srgbClr val="2D5CC2"/>
                </a:solidFill>
                <a:latin typeface="Playpen Sans Hebrew Light"/>
                <a:cs typeface="Playpen Sans Hebrew Light"/>
              </a:rPr>
              <a:t>05</a:t>
            </a:r>
            <a:endParaRPr lang="he-IL" sz="2600"/>
          </a:p>
        </p:txBody>
      </p:sp>
      <p:sp>
        <p:nvSpPr>
          <p:cNvPr id="17" name="TextBox 16"/>
          <p:cNvSpPr txBox="1"/>
          <p:nvPr/>
        </p:nvSpPr>
        <p:spPr>
          <a:xfrm>
            <a:off x="640080" y="1965960"/>
            <a:ext cx="4175607" cy="82296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3200" b="0">
                <a:solidFill>
                  <a:srgbClr val="22304D"/>
                </a:solidFill>
                <a:latin typeface="Playpen Sans Hebrew Light"/>
                <a:cs typeface="Playpen Sans Hebrew Light"/>
              </a:rPr>
              <a:t>מפחיד פה ממש</a:t>
            </a:r>
            <a:endParaRPr lang="he-IL" sz="3200"/>
          </a:p>
        </p:txBody>
      </p:sp>
      <p:cxnSp>
        <p:nvCxnSpPr>
          <p:cNvPr id="18" name="Connector 17"/>
          <p:cNvCxnSpPr/>
          <p:nvPr/>
        </p:nvCxnSpPr>
        <p:spPr>
          <a:xfrm>
            <a:off x="640080" y="2880360"/>
            <a:ext cx="5090007" cy="0"/>
          </a:xfrm>
          <a:prstGeom prst="line">
            <a:avLst/>
          </a:prstGeom>
          <a:ln w="9525">
            <a:solidFill>
              <a:srgbClr val="D6DCE8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4952847" y="2990088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2600" b="0">
                <a:solidFill>
                  <a:srgbClr val="2D5CC2"/>
                </a:solidFill>
                <a:latin typeface="Playpen Sans Hebrew Light"/>
                <a:cs typeface="Playpen Sans Hebrew Light"/>
              </a:rPr>
              <a:t>06</a:t>
            </a:r>
            <a:endParaRPr lang="he-IL" sz="2600"/>
          </a:p>
        </p:txBody>
      </p:sp>
      <p:sp>
        <p:nvSpPr>
          <p:cNvPr id="20" name="TextBox 19"/>
          <p:cNvSpPr txBox="1"/>
          <p:nvPr/>
        </p:nvSpPr>
        <p:spPr>
          <a:xfrm>
            <a:off x="640080" y="2990088"/>
            <a:ext cx="4175607" cy="82296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3200" b="0">
                <a:solidFill>
                  <a:srgbClr val="22304D"/>
                </a:solidFill>
                <a:latin typeface="Playpen Sans Hebrew Light"/>
                <a:cs typeface="Playpen Sans Hebrew Light"/>
              </a:rPr>
              <a:t>מרימים ידיים</a:t>
            </a:r>
            <a:endParaRPr lang="he-IL" sz="3200"/>
          </a:p>
        </p:txBody>
      </p:sp>
      <p:cxnSp>
        <p:nvCxnSpPr>
          <p:cNvPr id="21" name="Connector 20"/>
          <p:cNvCxnSpPr/>
          <p:nvPr/>
        </p:nvCxnSpPr>
        <p:spPr>
          <a:xfrm>
            <a:off x="640080" y="3904488"/>
            <a:ext cx="5090007" cy="0"/>
          </a:xfrm>
          <a:prstGeom prst="line">
            <a:avLst/>
          </a:prstGeom>
          <a:ln w="9525">
            <a:solidFill>
              <a:srgbClr val="D6DCE8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4952847" y="4014216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2600" b="0">
                <a:solidFill>
                  <a:srgbClr val="2D5CC2"/>
                </a:solidFill>
                <a:latin typeface="Playpen Sans Hebrew Light"/>
                <a:cs typeface="Playpen Sans Hebrew Light"/>
              </a:rPr>
              <a:t>07</a:t>
            </a:r>
            <a:endParaRPr lang="he-IL" sz="2600"/>
          </a:p>
        </p:txBody>
      </p:sp>
      <p:sp>
        <p:nvSpPr>
          <p:cNvPr id="23" name="TextBox 22"/>
          <p:cNvSpPr txBox="1"/>
          <p:nvPr/>
        </p:nvSpPr>
        <p:spPr>
          <a:xfrm>
            <a:off x="640080" y="4014216"/>
            <a:ext cx="4175607" cy="82296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3200" b="0">
                <a:solidFill>
                  <a:srgbClr val="22304D"/>
                </a:solidFill>
                <a:latin typeface="Playpen Sans Hebrew Light"/>
                <a:cs typeface="Playpen Sans Hebrew Light"/>
              </a:rPr>
              <a:t>ריקות מדמעות</a:t>
            </a:r>
            <a:endParaRPr lang="he-IL" sz="3200"/>
          </a:p>
        </p:txBody>
      </p:sp>
      <p:cxnSp>
        <p:nvCxnSpPr>
          <p:cNvPr id="24" name="Connector 23"/>
          <p:cNvCxnSpPr/>
          <p:nvPr/>
        </p:nvCxnSpPr>
        <p:spPr>
          <a:xfrm>
            <a:off x="640080" y="4928616"/>
            <a:ext cx="5090007" cy="0"/>
          </a:xfrm>
          <a:prstGeom prst="line">
            <a:avLst/>
          </a:prstGeom>
          <a:ln w="9525">
            <a:solidFill>
              <a:srgbClr val="D6DCE8"/>
            </a:solidFill>
          </a:ln>
        </p:spPr>
      </p:cxnSp>
      <p:sp>
        <p:nvSpPr>
          <p:cNvPr id="25" name="TextBox 24"/>
          <p:cNvSpPr txBox="1"/>
          <p:nvPr/>
        </p:nvSpPr>
        <p:spPr>
          <a:xfrm>
            <a:off x="4952847" y="5038344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2600" b="0">
                <a:solidFill>
                  <a:srgbClr val="2D5CC2"/>
                </a:solidFill>
                <a:latin typeface="Playpen Sans Hebrew Light"/>
                <a:cs typeface="Playpen Sans Hebrew Light"/>
              </a:rPr>
              <a:t>08</a:t>
            </a:r>
            <a:endParaRPr lang="he-IL" sz="2600"/>
          </a:p>
        </p:txBody>
      </p:sp>
      <p:sp>
        <p:nvSpPr>
          <p:cNvPr id="26" name="TextBox 25"/>
          <p:cNvSpPr txBox="1"/>
          <p:nvPr/>
        </p:nvSpPr>
        <p:spPr>
          <a:xfrm>
            <a:off x="640080" y="5038344"/>
            <a:ext cx="4175607" cy="82296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3200" b="0">
                <a:solidFill>
                  <a:srgbClr val="22304D"/>
                </a:solidFill>
                <a:latin typeface="Playpen Sans Hebrew Light"/>
                <a:cs typeface="Playpen Sans Hebrew Light"/>
              </a:rPr>
              <a:t>השמיים ריקים</a:t>
            </a:r>
            <a:endParaRPr lang="he-IL" sz="3200"/>
          </a:p>
        </p:txBody>
      </p:sp>
      <p:sp>
        <p:nvSpPr>
          <p:cNvPr id="27" name="Slide number"/>
          <p:cNvSpPr txBox="1"/>
          <p:nvPr/>
        </p:nvSpPr>
        <p:spPr>
          <a:xfrm>
            <a:off x="640080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66708A"/>
                </a:solidFill>
                <a:latin typeface="Varela Round"/>
                <a:cs typeface="Varela Round"/>
              </a:rPr>
              <a:t>7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640080" y="457200"/>
            <a:ext cx="10911535" cy="86868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4000" b="0">
                <a:solidFill>
                  <a:srgbClr val="22304D"/>
                </a:solidFill>
                <a:latin typeface="Playpen Sans Hebrew"/>
                <a:cs typeface="Playpen Sans Hebrew"/>
              </a:rPr>
              <a:t>האירועים שהמילים מעוררות</a:t>
            </a:r>
            <a:endParaRPr lang="he-IL" sz="4000"/>
          </a:p>
        </p:txBody>
      </p:sp>
      <p:pic>
        <p:nvPicPr>
          <p:cNvPr id="4" name="Event photo" descr="ev_ribbons.jpg"/>
          <p:cNvPicPr>
            <a:picLocks noChangeAspect="1"/>
          </p:cNvPicPr>
          <p:nvPr/>
        </p:nvPicPr>
        <p:blipFill>
          <a:blip r:embed="rId3"/>
          <a:srcRect t="30328" b="30328"/>
          <a:stretch>
            <a:fillRect/>
          </a:stretch>
        </p:blipFill>
        <p:spPr>
          <a:xfrm>
            <a:off x="640080" y="1554480"/>
            <a:ext cx="457200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4791456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1">
              <a:buNone/>
            </a:pPr>
            <a:r>
              <a:rPr lang="he-IL" altLang="en-US" sz="1000" b="0">
                <a:solidFill>
                  <a:srgbClr val="66708A"/>
                </a:solidFill>
                <a:latin typeface="Varela Round"/>
                <a:cs typeface="Varela Round"/>
              </a:rPr>
              <a:t>צילום: Chenspec, ויקישיתוף, CC BY-SA 4.0</a:t>
            </a:r>
            <a:endParaRPr lang="he-IL" sz="1000"/>
          </a:p>
        </p:txBody>
      </p:sp>
      <p:sp>
        <p:nvSpPr>
          <p:cNvPr id="6" name="TextBox 5"/>
          <p:cNvSpPr txBox="1"/>
          <p:nvPr/>
        </p:nvSpPr>
        <p:spPr>
          <a:xfrm>
            <a:off x="640080" y="5074920"/>
            <a:ext cx="4572000" cy="118872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2000"/>
              </a:lnSpc>
              <a:buNone/>
            </a:pPr>
            <a:r>
              <a:rPr lang="he-IL" altLang="en-US" sz="1600" b="0">
                <a:solidFill>
                  <a:srgbClr val="66708A"/>
                </a:solidFill>
                <a:latin typeface="Varela Round"/>
                <a:cs typeface="Varela Round"/>
              </a:rPr>
              <a:t>סרטים צהובים בכיכר החטופים, מרץ 2024. כמו המכתב של הילדה, גם הסרט הוא דרך להגיד ״אנחנו מחכים״.</a:t>
            </a:r>
            <a:endParaRPr lang="he-IL" sz="1600"/>
          </a:p>
        </p:txBody>
      </p:sp>
      <p:sp>
        <p:nvSpPr>
          <p:cNvPr id="7" name="TextBox 6"/>
          <p:cNvSpPr txBox="1"/>
          <p:nvPr/>
        </p:nvSpPr>
        <p:spPr>
          <a:xfrm>
            <a:off x="10088575" y="1508760"/>
            <a:ext cx="1463040" cy="8229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1800" b="0">
                <a:solidFill>
                  <a:srgbClr val="2D5CC2"/>
                </a:solidFill>
                <a:latin typeface="Varela Round"/>
                <a:cs typeface="Varela Round"/>
              </a:rPr>
              <a:t>2023-2024</a:t>
            </a:r>
            <a:endParaRPr lang="he-IL" sz="1800"/>
          </a:p>
        </p:txBody>
      </p:sp>
      <p:sp>
        <p:nvSpPr>
          <p:cNvPr id="8" name="TextBox 7"/>
          <p:cNvSpPr txBox="1"/>
          <p:nvPr/>
        </p:nvSpPr>
        <p:spPr>
          <a:xfrm>
            <a:off x="5715000" y="1508760"/>
            <a:ext cx="4190695" cy="8686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100" b="0">
                <a:solidFill>
                  <a:srgbClr val="22304D"/>
                </a:solidFill>
                <a:latin typeface="Varela Round"/>
                <a:cs typeface="Varela Round"/>
              </a:rPr>
              <a:t>המלחמה נמשכת חודשים, ומשפחות רבות חיות בפחד ובהמתנה.</a:t>
            </a:r>
            <a:endParaRPr lang="he-IL" sz="2100"/>
          </a:p>
        </p:txBody>
      </p:sp>
      <p:cxnSp>
        <p:nvCxnSpPr>
          <p:cNvPr id="9" name="Connector 8"/>
          <p:cNvCxnSpPr/>
          <p:nvPr/>
        </p:nvCxnSpPr>
        <p:spPr>
          <a:xfrm>
            <a:off x="5715000" y="2368296"/>
            <a:ext cx="5836615" cy="0"/>
          </a:xfrm>
          <a:prstGeom prst="line">
            <a:avLst/>
          </a:prstGeom>
          <a:ln w="9525">
            <a:solidFill>
              <a:srgbClr val="D6DCE8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10088575" y="2459736"/>
            <a:ext cx="1463040" cy="8229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1800" b="0">
                <a:solidFill>
                  <a:srgbClr val="2D5CC2"/>
                </a:solidFill>
                <a:latin typeface="Varela Round"/>
                <a:cs typeface="Varela Round"/>
              </a:rPr>
              <a:t>מכתבים</a:t>
            </a:r>
            <a:endParaRPr lang="he-IL" sz="1800"/>
          </a:p>
        </p:txBody>
      </p:sp>
      <p:sp>
        <p:nvSpPr>
          <p:cNvPr id="11" name="TextBox 10"/>
          <p:cNvSpPr txBox="1"/>
          <p:nvPr/>
        </p:nvSpPr>
        <p:spPr>
          <a:xfrm>
            <a:off x="5715000" y="2459736"/>
            <a:ext cx="4190695" cy="8686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100" b="0">
                <a:solidFill>
                  <a:srgbClr val="22304D"/>
                </a:solidFill>
                <a:latin typeface="Varela Round"/>
                <a:cs typeface="Varela Round"/>
              </a:rPr>
              <a:t>רבים, גם ילדים, כותבים מכתבים לחיילים ולחטופים.</a:t>
            </a:r>
            <a:endParaRPr lang="he-IL" sz="2100"/>
          </a:p>
        </p:txBody>
      </p:sp>
      <p:cxnSp>
        <p:nvCxnSpPr>
          <p:cNvPr id="12" name="Connector 11"/>
          <p:cNvCxnSpPr/>
          <p:nvPr/>
        </p:nvCxnSpPr>
        <p:spPr>
          <a:xfrm>
            <a:off x="5715000" y="3319272"/>
            <a:ext cx="5836615" cy="0"/>
          </a:xfrm>
          <a:prstGeom prst="line">
            <a:avLst/>
          </a:prstGeom>
          <a:ln w="9525">
            <a:solidFill>
              <a:srgbClr val="D6DCE8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10088575" y="3410712"/>
            <a:ext cx="1463040" cy="8229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1800" b="0">
                <a:solidFill>
                  <a:srgbClr val="2D5CC2"/>
                </a:solidFill>
                <a:latin typeface="Varela Round"/>
                <a:cs typeface="Varela Round"/>
              </a:rPr>
              <a:t>השתיקה</a:t>
            </a:r>
            <a:endParaRPr lang="he-IL" sz="1800"/>
          </a:p>
        </p:txBody>
      </p:sp>
      <p:sp>
        <p:nvSpPr>
          <p:cNvPr id="14" name="TextBox 13"/>
          <p:cNvSpPr txBox="1"/>
          <p:nvPr/>
        </p:nvSpPr>
        <p:spPr>
          <a:xfrm>
            <a:off x="5715000" y="3410712"/>
            <a:ext cx="4190695" cy="8686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100" b="0">
                <a:solidFill>
                  <a:srgbClr val="22304D"/>
                </a:solidFill>
                <a:latin typeface="Varela Round"/>
                <a:cs typeface="Varela Round"/>
              </a:rPr>
              <a:t>דדון לא מצליח לכתוב כמעט שנה, עד שהשיר מגיע אליו ״בדרך נס״.</a:t>
            </a:r>
            <a:endParaRPr lang="he-IL" sz="2100"/>
          </a:p>
        </p:txBody>
      </p:sp>
      <p:cxnSp>
        <p:nvCxnSpPr>
          <p:cNvPr id="15" name="Connector 14"/>
          <p:cNvCxnSpPr/>
          <p:nvPr/>
        </p:nvCxnSpPr>
        <p:spPr>
          <a:xfrm>
            <a:off x="5715000" y="4270248"/>
            <a:ext cx="5836615" cy="0"/>
          </a:xfrm>
          <a:prstGeom prst="line">
            <a:avLst/>
          </a:prstGeom>
          <a:ln w="9525">
            <a:solidFill>
              <a:srgbClr val="D6DCE8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10088575" y="4361688"/>
            <a:ext cx="1463040" cy="8229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1800" b="0">
                <a:solidFill>
                  <a:srgbClr val="2D5CC2"/>
                </a:solidFill>
                <a:latin typeface="Varela Round"/>
                <a:cs typeface="Varela Round"/>
              </a:rPr>
              <a:t>3.6.2024</a:t>
            </a:r>
            <a:endParaRPr lang="he-IL" sz="1800"/>
          </a:p>
        </p:txBody>
      </p:sp>
      <p:sp>
        <p:nvSpPr>
          <p:cNvPr id="17" name="TextBox 16"/>
          <p:cNvSpPr txBox="1"/>
          <p:nvPr/>
        </p:nvSpPr>
        <p:spPr>
          <a:xfrm>
            <a:off x="5715000" y="4361688"/>
            <a:ext cx="4190695" cy="8686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100" b="0">
                <a:solidFill>
                  <a:srgbClr val="22304D"/>
                </a:solidFill>
                <a:latin typeface="Varela Round"/>
                <a:cs typeface="Varela Round"/>
              </a:rPr>
              <a:t>השיר יוצא, ובקליפ תמונה מאלבום המשפחה שלו עם הילד שלו.</a:t>
            </a:r>
            <a:endParaRPr lang="he-IL" sz="2100"/>
          </a:p>
        </p:txBody>
      </p:sp>
      <p:cxnSp>
        <p:nvCxnSpPr>
          <p:cNvPr id="18" name="Connector 17"/>
          <p:cNvCxnSpPr/>
          <p:nvPr/>
        </p:nvCxnSpPr>
        <p:spPr>
          <a:xfrm>
            <a:off x="5715000" y="5221224"/>
            <a:ext cx="5836615" cy="0"/>
          </a:xfrm>
          <a:prstGeom prst="line">
            <a:avLst/>
          </a:prstGeom>
          <a:ln w="9525">
            <a:solidFill>
              <a:srgbClr val="D6DCE8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10088575" y="5312664"/>
            <a:ext cx="1463040" cy="8229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1800" b="0">
                <a:solidFill>
                  <a:srgbClr val="2D5CC2"/>
                </a:solidFill>
                <a:latin typeface="Varela Round"/>
                <a:cs typeface="Varela Round"/>
              </a:rPr>
              <a:t>ברדיו</a:t>
            </a:r>
            <a:endParaRPr lang="he-IL" sz="1800"/>
          </a:p>
        </p:txBody>
      </p:sp>
      <p:sp>
        <p:nvSpPr>
          <p:cNvPr id="20" name="TextBox 19"/>
          <p:cNvSpPr txBox="1"/>
          <p:nvPr/>
        </p:nvSpPr>
        <p:spPr>
          <a:xfrm>
            <a:off x="5715000" y="5312664"/>
            <a:ext cx="4190695" cy="8686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100" b="0">
                <a:solidFill>
                  <a:srgbClr val="22304D"/>
                </a:solidFill>
                <a:latin typeface="Varela Round"/>
                <a:cs typeface="Varela Round"/>
              </a:rPr>
              <a:t>הוא נכנס לפלייליסט של גלגלצ ולעשרת השירים המושמעים.</a:t>
            </a:r>
            <a:endParaRPr lang="he-IL" sz="2100"/>
          </a:p>
        </p:txBody>
      </p:sp>
      <p:sp>
        <p:nvSpPr>
          <p:cNvPr id="21" name="Slide number"/>
          <p:cNvSpPr txBox="1"/>
          <p:nvPr/>
        </p:nvSpPr>
        <p:spPr>
          <a:xfrm>
            <a:off x="640080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66708A"/>
                </a:solidFill>
                <a:latin typeface="Varela Round"/>
                <a:cs typeface="Varela Round"/>
              </a:rPr>
              <a:t>8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640080"/>
            <a:ext cx="10911535" cy="4114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1800" b="0">
                <a:solidFill>
                  <a:srgbClr val="2D5CC2"/>
                </a:solidFill>
                <a:latin typeface="Varela Round"/>
                <a:cs typeface="Varela Round"/>
              </a:rPr>
              <a:t>סיכום</a:t>
            </a:r>
            <a:endParaRPr lang="he-IL" sz="1800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11535" cy="12801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80000"/>
              </a:lnSpc>
              <a:buNone/>
            </a:pPr>
            <a:r>
              <a:rPr lang="he-IL" altLang="en-US" sz="11000" b="0">
                <a:solidFill>
                  <a:srgbClr val="2D5CC2"/>
                </a:solidFill>
                <a:latin typeface="Playpen Sans Hebrew"/>
                <a:cs typeface="Playpen Sans Hebrew"/>
              </a:rPr>
              <a:t>״</a:t>
            </a:r>
            <a:endParaRPr lang="he-IL" sz="11000"/>
          </a:p>
        </p:txBody>
      </p:sp>
      <p:sp>
        <p:nvSpPr>
          <p:cNvPr id="5" name="Title"/>
          <p:cNvSpPr txBox="1"/>
          <p:nvPr/>
        </p:nvSpPr>
        <p:spPr>
          <a:xfrm>
            <a:off x="640080" y="2148840"/>
            <a:ext cx="10362895" cy="38404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5000"/>
              </a:lnSpc>
              <a:spcAft>
                <a:spcPts val="1200"/>
              </a:spcAft>
              <a:buNone/>
            </a:pPr>
            <a:r>
              <a:rPr lang="he-IL" altLang="en-US" sz="3600" b="0">
                <a:solidFill>
                  <a:srgbClr val="22304D"/>
                </a:solidFill>
                <a:latin typeface="Varela Round"/>
                <a:cs typeface="Varela Round"/>
              </a:rPr>
              <a:t>כשהמבוגרים מרימים ידיים,</a:t>
            </a:r>
            <a:endParaRPr lang="he-IL" sz="3600"/>
          </a:p>
          <a:p>
            <a:pPr algn="r" rtl="1">
              <a:lnSpc>
                <a:spcPct val="105000"/>
              </a:lnSpc>
              <a:spcAft>
                <a:spcPts val="1200"/>
              </a:spcAft>
              <a:buNone/>
            </a:pPr>
            <a:r>
              <a:rPr lang="he-IL" altLang="en-US" sz="4000" b="0">
                <a:solidFill>
                  <a:srgbClr val="2D5CC2"/>
                </a:solidFill>
                <a:latin typeface="Playpen Sans Hebrew"/>
                <a:cs typeface="Playpen Sans Hebrew"/>
              </a:rPr>
              <a:t>ילדה קטנה ממשיכה לכתוב.</a:t>
            </a:r>
            <a:endParaRPr lang="he-IL" sz="4000"/>
          </a:p>
          <a:p>
            <a:pPr algn="r" rtl="1">
              <a:lnSpc>
                <a:spcPct val="105000"/>
              </a:lnSpc>
              <a:spcAft>
                <a:spcPts val="1200"/>
              </a:spcAft>
              <a:buNone/>
            </a:pPr>
            <a:r>
              <a:rPr lang="he-IL" altLang="en-US" sz="3400" b="0">
                <a:solidFill>
                  <a:srgbClr val="22304D"/>
                </a:solidFill>
                <a:latin typeface="Playpen Sans Hebrew Light"/>
                <a:cs typeface="Playpen Sans Hebrew Light"/>
              </a:rPr>
              <a:t>משם מתחיל האור בקצה.</a:t>
            </a:r>
            <a:endParaRPr lang="he-IL" sz="3400"/>
          </a:p>
        </p:txBody>
      </p:sp>
      <p:sp>
        <p:nvSpPr>
          <p:cNvPr id="6" name="Slide number"/>
          <p:cNvSpPr txBox="1"/>
          <p:nvPr/>
        </p:nvSpPr>
        <p:spPr>
          <a:xfrm>
            <a:off x="640080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66708A"/>
                </a:solidFill>
                <a:latin typeface="Varela Round"/>
                <a:cs typeface="Varela Round"/>
              </a:rPr>
              <a:t>9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