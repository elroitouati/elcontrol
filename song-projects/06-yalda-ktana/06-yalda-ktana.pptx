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858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2D5CC2"/>
                </a:solidFill>
                <a:latin typeface="Varela Round"/>
                <a:cs typeface="Varela Round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40080" y="1371600"/>
            <a:ext cx="10911535" cy="22860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he-IL" altLang="en-US" sz="7800" b="0">
                <a:solidFill>
                  <a:srgbClr val="22304D"/>
                </a:solidFill>
                <a:latin typeface="Playpen Sans Hebrew"/>
                <a:cs typeface="Playpen Sans Hebrew"/>
              </a:rPr>
              <a:t>ילדה קטנה כותבת מכתב</a:t>
            </a:r>
            <a:endParaRPr lang="he-IL" sz="7800"/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אמיר דדון</a:t>
            </a:r>
            <a:endParaRPr lang="he-IL" sz="3400"/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200" b="0">
                <a:solidFill>
                  <a:srgbClr val="66708A"/>
                </a:solidFill>
                <a:latin typeface="Varela Round"/>
                <a:cs typeface="Varela Round"/>
              </a:rPr>
              <a:t>מכתב לאלוהים מתוך המלחמה</a:t>
            </a:r>
            <a:endParaRPr lang="he-IL" sz="2200"/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66708A"/>
                </a:solidFill>
                <a:latin typeface="Varela Round"/>
                <a:cs typeface="Varela Round"/>
              </a:rPr>
              <a:t>שמות המגישים</a:t>
            </a:r>
            <a:endParaRPr lang="he-IL" sz="20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Quote panel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FF0B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3A3320"/>
                </a:solidFill>
                <a:latin typeface="Varela Round"/>
                <a:cs typeface="Varela Round"/>
              </a:rPr>
              <a:t>הקטע שבחרנו</a:t>
            </a:r>
            <a:endParaRPr lang="he-IL" sz="1800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4754880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3A3320"/>
                </a:solidFill>
                <a:latin typeface="Playpen Sans Hebrew Light"/>
                <a:cs typeface="Playpen Sans Hebrew Light"/>
              </a:rPr>
              <a:t>העיניים כבר ריקות מדמעות</a:t>
            </a:r>
            <a:endParaRPr lang="he-IL" sz="2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התייבשנו</a:t>
            </a:r>
            <a:r>
              <a:rPr lang="he-IL" altLang="en-US" sz="2400" b="0">
                <a:solidFill>
                  <a:srgbClr val="3A3320"/>
                </a:solidFill>
                <a:latin typeface="Playpen Sans Hebrew Light"/>
                <a:cs typeface="Playpen Sans Hebrew Light"/>
              </a:rPr>
              <a:t> כבר מרוב מלחמות</a:t>
            </a:r>
            <a:endParaRPr lang="he-IL" sz="2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3A3320"/>
                </a:solidFill>
                <a:latin typeface="Playpen Sans Hebrew Light"/>
                <a:cs typeface="Playpen Sans Hebrew Light"/>
              </a:rPr>
              <a:t>מה יהיה מחר נתחיל מחדש</a:t>
            </a:r>
            <a:endParaRPr lang="he-IL" sz="2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ילדה קטנה כותבת מכתב</a:t>
            </a:r>
            <a:endParaRPr lang="he-IL" sz="2400"/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3A3320"/>
                </a:solidFill>
                <a:latin typeface="Varela Round"/>
                <a:cs typeface="Varela Round"/>
              </a:rPr>
              <a:t>״ילדה קטנה כותבת מכתב״, אמיר דדון</a:t>
            </a:r>
            <a:endParaRPr lang="he-IL" sz="1600"/>
          </a:p>
        </p:txBody>
      </p:sp>
      <p:sp>
        <p:nvSpPr>
          <p:cNvPr id="7" name="Title"/>
          <p:cNvSpPr txBox="1"/>
          <p:nvPr/>
        </p:nvSpPr>
        <p:spPr>
          <a:xfrm>
            <a:off x="6492240" y="457200"/>
            <a:ext cx="50593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22304D"/>
                </a:solidFill>
                <a:latin typeface="Playpen Sans Hebrew"/>
                <a:cs typeface="Playpen Sans Hebrew"/>
              </a:rPr>
              <a:t>למה דווקא הקטע הזה</a:t>
            </a:r>
            <a:endParaRPr lang="he-IL" sz="3400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5059375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D5CC2"/>
                </a:solidFill>
                <a:latin typeface="Varela Round"/>
                <a:cs typeface="Varela Round"/>
              </a:rPr>
              <a:t>למה בחרנו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22304D"/>
                </a:solidFill>
                <a:latin typeface="Varela Round"/>
                <a:cs typeface="Varela Round"/>
              </a:rPr>
              <a:t>בשורות האלה המבוגרים כבר ״התייבשו״ מבכי, ודווקא הילדה ממשיכה לכתוב ולקוות. בחרנו בקטע כי הוא מראה שתקווה יכולה לבוא מהקטנים.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92240" y="3977639"/>
            <a:ext cx="5059375" cy="2377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D5CC2"/>
                </a:solidFill>
                <a:latin typeface="Varela Round"/>
                <a:cs typeface="Varela Round"/>
              </a:rPr>
              <a:t>החיבור האישי שלנו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22304D"/>
                </a:solidFill>
                <a:latin typeface="Varela Round"/>
                <a:cs typeface="Varela Round"/>
              </a:rPr>
              <a:t>רבים מאיתנו כתבו בזמן המלחמה מכתב לחייל או ציור למשפחה של חטוף. השיר החזיר אותנו לרגעים האלה, כשהדבר היחיד שיכולנו לעשות היה לכתוב.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708A"/>
                </a:solidFill>
                <a:latin typeface="Varela Round"/>
                <a:cs typeface="Varela Round"/>
              </a:rPr>
              <a:t>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dadon.png"/>
          <p:cNvPicPr>
            <a:picLocks noChangeAspect="1"/>
          </p:cNvPicPr>
          <p:nvPr/>
        </p:nvPicPr>
        <p:blipFill>
          <a:blip r:embed="rId3"/>
          <a:srcRect l="10000" r="10000"/>
          <a:stretch>
            <a:fillRect/>
          </a:stretch>
        </p:blipFill>
        <p:spPr>
          <a:xfrm>
            <a:off x="640080" y="1417320"/>
            <a:ext cx="36576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062472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66708A"/>
                </a:solidFill>
                <a:latin typeface="Varela Round"/>
                <a:cs typeface="Varela Round"/>
              </a:rPr>
              <a:t>צילום: אייל אלישע,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22304D"/>
                </a:solidFill>
                <a:latin typeface="Playpen Sans Hebrew"/>
                <a:cs typeface="Playpen Sans Hebrew"/>
              </a:rPr>
              <a:t>אמיר דדון</a:t>
            </a:r>
            <a:endParaRPr lang="he-IL" sz="4000"/>
          </a:p>
        </p:txBody>
      </p:sp>
      <p:sp>
        <p:nvSpPr>
          <p:cNvPr id="6" name="TextBox 5"/>
          <p:cNvSpPr txBox="1"/>
          <p:nvPr/>
        </p:nvSpPr>
        <p:spPr>
          <a:xfrm>
            <a:off x="10317175" y="155448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1975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4846320" y="1572768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22304D"/>
                </a:solidFill>
                <a:latin typeface="Varela Round"/>
                <a:cs typeface="Varela Round"/>
              </a:rPr>
              <a:t>נולד בבאר שבע, ובגיל ההתבגרות עבר לגור באילת.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4846320" y="2395728"/>
            <a:ext cx="6705295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0317175" y="2505456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1994</a:t>
            </a:r>
            <a:endParaRPr lang="he-IL" sz="2400"/>
          </a:p>
        </p:txBody>
      </p:sp>
      <p:sp>
        <p:nvSpPr>
          <p:cNvPr id="10" name="TextBox 9"/>
          <p:cNvSpPr txBox="1"/>
          <p:nvPr/>
        </p:nvSpPr>
        <p:spPr>
          <a:xfrm>
            <a:off x="4846320" y="2523744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22304D"/>
                </a:solidFill>
                <a:latin typeface="Varela Round"/>
                <a:cs typeface="Varela Round"/>
              </a:rPr>
              <a:t>התגייס ושירת כלוחם בחטיבת גבעתי.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4846320" y="3346704"/>
            <a:ext cx="6705295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317175" y="3456432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2010</a:t>
            </a:r>
            <a:endParaRPr lang="he-IL" sz="2400"/>
          </a:p>
        </p:txBody>
      </p:sp>
      <p:sp>
        <p:nvSpPr>
          <p:cNvPr id="13" name="TextBox 12"/>
          <p:cNvSpPr txBox="1"/>
          <p:nvPr/>
        </p:nvSpPr>
        <p:spPr>
          <a:xfrm>
            <a:off x="4846320" y="3474720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22304D"/>
                </a:solidFill>
                <a:latin typeface="Varela Round"/>
                <a:cs typeface="Varela Round"/>
              </a:rPr>
              <a:t>אלבום הבכורה שלו יצא, עם הלהיט ״אור גדול״.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4846320" y="4297680"/>
            <a:ext cx="6705295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10317175" y="440740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2016</a:t>
            </a:r>
            <a:endParaRPr lang="he-IL" sz="2400"/>
          </a:p>
        </p:txBody>
      </p:sp>
      <p:sp>
        <p:nvSpPr>
          <p:cNvPr id="16" name="TextBox 15"/>
          <p:cNvSpPr txBox="1"/>
          <p:nvPr/>
        </p:nvSpPr>
        <p:spPr>
          <a:xfrm>
            <a:off x="4846320" y="4425696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22304D"/>
                </a:solidFill>
                <a:latin typeface="Varela Round"/>
                <a:cs typeface="Varela Round"/>
              </a:rPr>
              <a:t>גילם את ז׳אן ולז׳אן ב״עלובי החיים״ וזכה בפרס השחקן במחזמר.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4846320" y="5248656"/>
            <a:ext cx="6705295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10317175" y="53583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2023</a:t>
            </a:r>
            <a:endParaRPr lang="he-IL" sz="2400"/>
          </a:p>
        </p:txBody>
      </p:sp>
      <p:sp>
        <p:nvSpPr>
          <p:cNvPr id="19" name="TextBox 18"/>
          <p:cNvSpPr txBox="1"/>
          <p:nvPr/>
        </p:nvSpPr>
        <p:spPr>
          <a:xfrm>
            <a:off x="4846320" y="5376672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22304D"/>
                </a:solidFill>
                <a:latin typeface="Varela Round"/>
                <a:cs typeface="Varela Round"/>
              </a:rPr>
              <a:t>הופיע בגלגלצ עם הכנר מרדכי שנוולד, שנפצע קשה במלחמה.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708A"/>
                </a:solidFill>
                <a:latin typeface="Varela Round"/>
                <a:cs typeface="Varela Round"/>
              </a:rPr>
              <a:t>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22304D"/>
                </a:solidFill>
                <a:latin typeface="Playpen Sans Hebrew"/>
                <a:cs typeface="Playpen Sans Hebrew"/>
              </a:rPr>
              <a:t>מילות השיר</a:t>
            </a:r>
            <a:endParaRPr lang="he-IL" sz="40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D6DCE8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66708A"/>
                </a:solidFill>
                <a:latin typeface="Playpen Sans Hebrew Light"/>
                <a:cs typeface="Playpen Sans Hebrew Light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66708A"/>
                </a:solidFill>
                <a:latin typeface="Varela Round"/>
                <a:cs typeface="Varela Round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66708A"/>
                </a:solidFill>
                <a:latin typeface="Varela Round"/>
                <a:cs typeface="Varela Round"/>
              </a:rPr>
              <a:t>ביצוע: אמיר דדון · יצא ב-3 ביוני 2024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708A"/>
                </a:solidFill>
                <a:latin typeface="Varela Round"/>
                <a:cs typeface="Varela Round"/>
              </a:rPr>
              <a:t>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66708A"/>
                </a:solidFill>
                <a:latin typeface="Varela Round"/>
                <a:cs typeface="Varela Round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77240"/>
            <a:ext cx="5516575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400" b="0">
                <a:solidFill>
                  <a:srgbClr val="2D5CC2"/>
                </a:solidFill>
                <a:latin typeface="Playpen Sans Hebrew"/>
                <a:cs typeface="Playpen Sans Hebrew"/>
              </a:rPr>
              <a:t>מטאפורה</a:t>
            </a:r>
            <a:endParaRPr lang="he-IL" sz="5400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66708A"/>
                </a:solidFill>
                <a:latin typeface="Varela Round"/>
                <a:cs typeface="Varela Round"/>
              </a:rPr>
              <a:t>תיאור של דבר אחד באמצעות דבר מעולם אחר, בלי מילת דימוי כמו ״כמו״ או ״כְּ״.</a:t>
            </a:r>
            <a:endParaRPr lang="he-IL" sz="20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2011680"/>
            <a:ext cx="10911535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40080" y="2194560"/>
            <a:ext cx="10911535" cy="16916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22304D"/>
                </a:solidFill>
                <a:latin typeface="Playpen Sans Hebrew Light"/>
                <a:cs typeface="Playpen Sans Hebrew Light"/>
              </a:rPr>
              <a:t>מפליגים שנים</a:t>
            </a:r>
            <a:endParaRPr lang="he-IL" sz="30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בים בלי חוף</a:t>
            </a:r>
            <a:endParaRPr lang="he-IL" sz="30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D5CC2"/>
                </a:solidFill>
                <a:latin typeface="Varela Round"/>
                <a:cs typeface="Varela Roun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2304D"/>
                </a:solidFill>
                <a:latin typeface="Varela Round"/>
                <a:cs typeface="Varela Round"/>
              </a:rPr>
              <a:t>החיים בצל המלחמה מתוארים כהפלגה בים שאין לו חוף. מפליגים ומפליגים, ולא מגיעים.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D5CC2"/>
                </a:solidFill>
                <a:latin typeface="Varela Round"/>
                <a:cs typeface="Varela Roun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2304D"/>
                </a:solidFill>
                <a:latin typeface="Varela Round"/>
                <a:cs typeface="Varela Round"/>
              </a:rPr>
              <a:t>המטאפורה מראה עייפות ותחושה שאין סוף. בגלל זה הילדה כל כך מחפשת ״אור בקצה״.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708A"/>
                </a:solidFill>
                <a:latin typeface="Varela Round"/>
                <a:cs typeface="Varela Round"/>
              </a:rPr>
              <a:t>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66708A"/>
                </a:solidFill>
                <a:latin typeface="Varela Round"/>
                <a:cs typeface="Varela Round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77240"/>
            <a:ext cx="5516575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400" b="0">
                <a:solidFill>
                  <a:srgbClr val="2D5CC2"/>
                </a:solidFill>
                <a:latin typeface="Playpen Sans Hebrew"/>
                <a:cs typeface="Playpen Sans Hebrew"/>
              </a:rPr>
              <a:t>שאלה רטורית</a:t>
            </a:r>
            <a:endParaRPr lang="he-IL" sz="5400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66708A"/>
                </a:solidFill>
                <a:latin typeface="Varela Round"/>
                <a:cs typeface="Varela Round"/>
              </a:rPr>
              <a:t>שאלה שלא מחכים לה לתשובה. היא באה להביע רגש או לעורר מחשבה.</a:t>
            </a:r>
            <a:endParaRPr lang="he-IL" sz="20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2011680"/>
            <a:ext cx="10911535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40080" y="2194560"/>
            <a:ext cx="10911535" cy="16916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איפה</a:t>
            </a:r>
            <a:r>
              <a:rPr lang="he-IL" altLang="en-US" sz="3000" b="0">
                <a:solidFill>
                  <a:srgbClr val="22304D"/>
                </a:solidFill>
                <a:latin typeface="Playpen Sans Hebrew Light"/>
                <a:cs typeface="Playpen Sans Hebrew Light"/>
              </a:rPr>
              <a:t> האור בקצה</a:t>
            </a:r>
            <a:endParaRPr lang="he-IL" sz="30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מה ייצא</a:t>
            </a:r>
            <a:r>
              <a:rPr lang="he-IL" altLang="en-US" sz="3000" b="0">
                <a:solidFill>
                  <a:srgbClr val="22304D"/>
                </a:solidFill>
                <a:latin typeface="Playpen Sans Hebrew Light"/>
                <a:cs typeface="Playpen Sans Hebrew Light"/>
              </a:rPr>
              <a:t> מהשיגעון</a:t>
            </a:r>
            <a:endParaRPr lang="he-IL" sz="30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מה עם הקשת</a:t>
            </a:r>
            <a:r>
              <a:rPr lang="he-IL" altLang="en-US" sz="3000" b="0">
                <a:solidFill>
                  <a:srgbClr val="22304D"/>
                </a:solidFill>
                <a:latin typeface="Playpen Sans Hebrew Light"/>
                <a:cs typeface="Playpen Sans Hebrew Light"/>
              </a:rPr>
              <a:t> אחרי המבול</a:t>
            </a:r>
            <a:endParaRPr lang="he-IL" sz="30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D5CC2"/>
                </a:solidFill>
                <a:latin typeface="Varela Round"/>
                <a:cs typeface="Varela Roun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2304D"/>
                </a:solidFill>
                <a:latin typeface="Varela Round"/>
                <a:cs typeface="Varela Round"/>
              </a:rPr>
              <a:t>השיר מלא בשאלות שאין להן תשובה. ״הקשת אחרי המבול״ מזכירה את הקשת שאלוהים הבטיח לנח.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D5CC2"/>
                </a:solidFill>
                <a:latin typeface="Varela Round"/>
                <a:cs typeface="Varela Roun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2304D"/>
                </a:solidFill>
                <a:latin typeface="Varela Round"/>
                <a:cs typeface="Varela Round"/>
              </a:rPr>
              <a:t>השאלות מביעות בלבול וגעגוע לשקט. בסוף השיר השאלה הופכת לתשובה: ״הנה האור בקצה״.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708A"/>
                </a:solidFill>
                <a:latin typeface="Varela Round"/>
                <a:cs typeface="Varela Round"/>
              </a:rPr>
              <a:t>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22304D"/>
                </a:solidFill>
                <a:latin typeface="Playpen Sans Hebrew"/>
                <a:cs typeface="Playpen Sans Hebrew"/>
              </a:rPr>
              <a:t>מילים שמעוררות את המלחמה</a:t>
            </a:r>
            <a:endParaRPr lang="he-IL" sz="40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66708A"/>
                </a:solidFill>
                <a:latin typeface="Varela Round"/>
                <a:cs typeface="Varela Round"/>
              </a:rPr>
              <a:t>מילים מהשיר שמתארות את התקופה הארוכה של המלחמה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10774375" y="1965960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01</a:t>
            </a:r>
            <a:endParaRPr lang="he-IL" sz="2600"/>
          </a:p>
        </p:txBody>
      </p:sp>
      <p:sp>
        <p:nvSpPr>
          <p:cNvPr id="6" name="TextBox 5"/>
          <p:cNvSpPr txBox="1"/>
          <p:nvPr/>
        </p:nvSpPr>
        <p:spPr>
          <a:xfrm>
            <a:off x="6461607" y="1965960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22304D"/>
                </a:solidFill>
                <a:latin typeface="Playpen Sans Hebrew Light"/>
                <a:cs typeface="Playpen Sans Hebrew Light"/>
              </a:rPr>
              <a:t>מרוב מלחמות</a:t>
            </a:r>
            <a:endParaRPr lang="he-IL" sz="3200"/>
          </a:p>
        </p:txBody>
      </p:sp>
      <p:cxnSp>
        <p:nvCxnSpPr>
          <p:cNvPr id="7" name="Connector 6"/>
          <p:cNvCxnSpPr/>
          <p:nvPr/>
        </p:nvCxnSpPr>
        <p:spPr>
          <a:xfrm>
            <a:off x="6461607" y="2880360"/>
            <a:ext cx="5090008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10774375" y="2990088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02</a:t>
            </a:r>
            <a:endParaRPr lang="he-IL" sz="2600"/>
          </a:p>
        </p:txBody>
      </p:sp>
      <p:sp>
        <p:nvSpPr>
          <p:cNvPr id="9" name="TextBox 8"/>
          <p:cNvSpPr txBox="1"/>
          <p:nvPr/>
        </p:nvSpPr>
        <p:spPr>
          <a:xfrm>
            <a:off x="6461607" y="2990088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22304D"/>
                </a:solidFill>
                <a:latin typeface="Playpen Sans Hebrew Light"/>
                <a:cs typeface="Playpen Sans Hebrew Light"/>
              </a:rPr>
              <a:t>טירוף</a:t>
            </a:r>
            <a:endParaRPr lang="he-IL" sz="3200"/>
          </a:p>
        </p:txBody>
      </p:sp>
      <p:cxnSp>
        <p:nvCxnSpPr>
          <p:cNvPr id="10" name="Connector 9"/>
          <p:cNvCxnSpPr/>
          <p:nvPr/>
        </p:nvCxnSpPr>
        <p:spPr>
          <a:xfrm>
            <a:off x="6461607" y="3904488"/>
            <a:ext cx="5090008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10774375" y="4014216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03</a:t>
            </a:r>
            <a:endParaRPr lang="he-IL" sz="2600"/>
          </a:p>
        </p:txBody>
      </p:sp>
      <p:sp>
        <p:nvSpPr>
          <p:cNvPr id="12" name="TextBox 11"/>
          <p:cNvSpPr txBox="1"/>
          <p:nvPr/>
        </p:nvSpPr>
        <p:spPr>
          <a:xfrm>
            <a:off x="6461607" y="4014216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22304D"/>
                </a:solidFill>
                <a:latin typeface="Playpen Sans Hebrew Light"/>
                <a:cs typeface="Playpen Sans Hebrew Light"/>
              </a:rPr>
              <a:t>השיגעון</a:t>
            </a:r>
            <a:endParaRPr lang="he-IL" sz="3200"/>
          </a:p>
        </p:txBody>
      </p:sp>
      <p:cxnSp>
        <p:nvCxnSpPr>
          <p:cNvPr id="13" name="Connector 12"/>
          <p:cNvCxnSpPr/>
          <p:nvPr/>
        </p:nvCxnSpPr>
        <p:spPr>
          <a:xfrm>
            <a:off x="6461607" y="4928616"/>
            <a:ext cx="5090008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0774375" y="5038344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04</a:t>
            </a:r>
            <a:endParaRPr lang="he-IL" sz="2600"/>
          </a:p>
        </p:txBody>
      </p:sp>
      <p:sp>
        <p:nvSpPr>
          <p:cNvPr id="15" name="TextBox 14"/>
          <p:cNvSpPr txBox="1"/>
          <p:nvPr/>
        </p:nvSpPr>
        <p:spPr>
          <a:xfrm>
            <a:off x="6461607" y="5038344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22304D"/>
                </a:solidFill>
                <a:latin typeface="Playpen Sans Hebrew Light"/>
                <a:cs typeface="Playpen Sans Hebrew Light"/>
              </a:rPr>
              <a:t>המבול</a:t>
            </a:r>
            <a:endParaRPr lang="he-IL" sz="3200"/>
          </a:p>
        </p:txBody>
      </p:sp>
      <p:sp>
        <p:nvSpPr>
          <p:cNvPr id="16" name="TextBox 15"/>
          <p:cNvSpPr txBox="1"/>
          <p:nvPr/>
        </p:nvSpPr>
        <p:spPr>
          <a:xfrm>
            <a:off x="4952847" y="1965960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05</a:t>
            </a:r>
            <a:endParaRPr lang="he-IL" sz="2600"/>
          </a:p>
        </p:txBody>
      </p:sp>
      <p:sp>
        <p:nvSpPr>
          <p:cNvPr id="17" name="TextBox 16"/>
          <p:cNvSpPr txBox="1"/>
          <p:nvPr/>
        </p:nvSpPr>
        <p:spPr>
          <a:xfrm>
            <a:off x="640080" y="1965960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22304D"/>
                </a:solidFill>
                <a:latin typeface="Playpen Sans Hebrew Light"/>
                <a:cs typeface="Playpen Sans Hebrew Light"/>
              </a:rPr>
              <a:t>מפחיד פה ממש</a:t>
            </a:r>
            <a:endParaRPr lang="he-IL" sz="3200"/>
          </a:p>
        </p:txBody>
      </p:sp>
      <p:cxnSp>
        <p:nvCxnSpPr>
          <p:cNvPr id="18" name="Connector 17"/>
          <p:cNvCxnSpPr/>
          <p:nvPr/>
        </p:nvCxnSpPr>
        <p:spPr>
          <a:xfrm>
            <a:off x="640080" y="2880360"/>
            <a:ext cx="5090007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952847" y="2990088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06</a:t>
            </a:r>
            <a:endParaRPr lang="he-IL" sz="2600"/>
          </a:p>
        </p:txBody>
      </p:sp>
      <p:sp>
        <p:nvSpPr>
          <p:cNvPr id="20" name="TextBox 19"/>
          <p:cNvSpPr txBox="1"/>
          <p:nvPr/>
        </p:nvSpPr>
        <p:spPr>
          <a:xfrm>
            <a:off x="640080" y="2990088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22304D"/>
                </a:solidFill>
                <a:latin typeface="Playpen Sans Hebrew Light"/>
                <a:cs typeface="Playpen Sans Hebrew Light"/>
              </a:rPr>
              <a:t>מרימים ידיים</a:t>
            </a:r>
            <a:endParaRPr lang="he-IL" sz="3200"/>
          </a:p>
        </p:txBody>
      </p:sp>
      <p:cxnSp>
        <p:nvCxnSpPr>
          <p:cNvPr id="21" name="Connector 20"/>
          <p:cNvCxnSpPr/>
          <p:nvPr/>
        </p:nvCxnSpPr>
        <p:spPr>
          <a:xfrm>
            <a:off x="640080" y="3904488"/>
            <a:ext cx="5090007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952847" y="4014216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07</a:t>
            </a:r>
            <a:endParaRPr lang="he-IL" sz="2600"/>
          </a:p>
        </p:txBody>
      </p:sp>
      <p:sp>
        <p:nvSpPr>
          <p:cNvPr id="23" name="TextBox 22"/>
          <p:cNvSpPr txBox="1"/>
          <p:nvPr/>
        </p:nvSpPr>
        <p:spPr>
          <a:xfrm>
            <a:off x="640080" y="4014216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22304D"/>
                </a:solidFill>
                <a:latin typeface="Playpen Sans Hebrew Light"/>
                <a:cs typeface="Playpen Sans Hebrew Light"/>
              </a:rPr>
              <a:t>ריקות מדמעות</a:t>
            </a:r>
            <a:endParaRPr lang="he-IL" sz="3200"/>
          </a:p>
        </p:txBody>
      </p:sp>
      <p:cxnSp>
        <p:nvCxnSpPr>
          <p:cNvPr id="24" name="Connector 23"/>
          <p:cNvCxnSpPr/>
          <p:nvPr/>
        </p:nvCxnSpPr>
        <p:spPr>
          <a:xfrm>
            <a:off x="640080" y="4928616"/>
            <a:ext cx="5090007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4952847" y="5038344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2D5CC2"/>
                </a:solidFill>
                <a:latin typeface="Playpen Sans Hebrew Light"/>
                <a:cs typeface="Playpen Sans Hebrew Light"/>
              </a:rPr>
              <a:t>08</a:t>
            </a:r>
            <a:endParaRPr lang="he-IL" sz="2600"/>
          </a:p>
        </p:txBody>
      </p:sp>
      <p:sp>
        <p:nvSpPr>
          <p:cNvPr id="26" name="TextBox 25"/>
          <p:cNvSpPr txBox="1"/>
          <p:nvPr/>
        </p:nvSpPr>
        <p:spPr>
          <a:xfrm>
            <a:off x="640080" y="5038344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22304D"/>
                </a:solidFill>
                <a:latin typeface="Playpen Sans Hebrew Light"/>
                <a:cs typeface="Playpen Sans Hebrew Light"/>
              </a:rPr>
              <a:t>השמיים ריקים</a:t>
            </a:r>
            <a:endParaRPr lang="he-IL" sz="3200"/>
          </a:p>
        </p:txBody>
      </p:sp>
      <p:sp>
        <p:nvSpPr>
          <p:cNvPr id="2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708A"/>
                </a:solidFill>
                <a:latin typeface="Varela Round"/>
                <a:cs typeface="Varela Round"/>
              </a:rPr>
              <a:t>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22304D"/>
                </a:solidFill>
                <a:latin typeface="Playpen Sans Hebrew"/>
                <a:cs typeface="Playpen Sans Hebrew"/>
              </a:rPr>
              <a:t>האירועים שהמילים מעוררות</a:t>
            </a:r>
            <a:endParaRPr lang="he-IL" sz="4000"/>
          </a:p>
        </p:txBody>
      </p:sp>
      <p:pic>
        <p:nvPicPr>
          <p:cNvPr id="4" name="Event photo" descr="ev_ribbons.jpg"/>
          <p:cNvPicPr>
            <a:picLocks noChangeAspect="1"/>
          </p:cNvPicPr>
          <p:nvPr/>
        </p:nvPicPr>
        <p:blipFill>
          <a:blip r:embed="rId3"/>
          <a:srcRect t="30328" b="30328"/>
          <a:stretch>
            <a:fillRect/>
          </a:stretch>
        </p:blipFill>
        <p:spPr>
          <a:xfrm>
            <a:off x="640080" y="1554480"/>
            <a:ext cx="4572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79145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66708A"/>
                </a:solidFill>
                <a:latin typeface="Varela Round"/>
                <a:cs typeface="Varela Round"/>
              </a:rPr>
              <a:t>צילום: Chenspec, ויקישיתוף, CC BY-SA 4.0</a:t>
            </a:r>
            <a:endParaRPr lang="he-IL" sz="1000"/>
          </a:p>
        </p:txBody>
      </p:sp>
      <p:sp>
        <p:nvSpPr>
          <p:cNvPr id="6" name="TextBox 5"/>
          <p:cNvSpPr txBox="1"/>
          <p:nvPr/>
        </p:nvSpPr>
        <p:spPr>
          <a:xfrm>
            <a:off x="640080" y="5074920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66708A"/>
                </a:solidFill>
                <a:latin typeface="Varela Round"/>
                <a:cs typeface="Varela Round"/>
              </a:rPr>
              <a:t>סרטים צהובים בכיכר החטופים, מרץ 2024. כמו המכתב של הילדה, גם הסרט הוא דרך להגיד ״אנחנו מחכים״.</a:t>
            </a:r>
            <a:endParaRPr lang="he-IL" sz="1600"/>
          </a:p>
        </p:txBody>
      </p:sp>
      <p:sp>
        <p:nvSpPr>
          <p:cNvPr id="7" name="TextBox 6"/>
          <p:cNvSpPr txBox="1"/>
          <p:nvPr/>
        </p:nvSpPr>
        <p:spPr>
          <a:xfrm>
            <a:off x="10088575" y="150876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2D5CC2"/>
                </a:solidFill>
                <a:latin typeface="Varela Round"/>
                <a:cs typeface="Varela Round"/>
              </a:rPr>
              <a:t>2023-2024</a:t>
            </a:r>
            <a:endParaRPr lang="he-IL" sz="1800"/>
          </a:p>
        </p:txBody>
      </p:sp>
      <p:sp>
        <p:nvSpPr>
          <p:cNvPr id="8" name="TextBox 7"/>
          <p:cNvSpPr txBox="1"/>
          <p:nvPr/>
        </p:nvSpPr>
        <p:spPr>
          <a:xfrm>
            <a:off x="5715000" y="1508760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2304D"/>
                </a:solidFill>
                <a:latin typeface="Varela Round"/>
                <a:cs typeface="Varela Round"/>
              </a:rPr>
              <a:t>המלחמה נמשכת חודשים, ומשפחות רבות חיות בפחד ובהמתנה.</a:t>
            </a:r>
            <a:endParaRPr lang="he-IL" sz="2100"/>
          </a:p>
        </p:txBody>
      </p:sp>
      <p:cxnSp>
        <p:nvCxnSpPr>
          <p:cNvPr id="9" name="Connector 8"/>
          <p:cNvCxnSpPr/>
          <p:nvPr/>
        </p:nvCxnSpPr>
        <p:spPr>
          <a:xfrm>
            <a:off x="5715000" y="2368296"/>
            <a:ext cx="5836615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0088575" y="2459736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2D5CC2"/>
                </a:solidFill>
                <a:latin typeface="Varela Round"/>
                <a:cs typeface="Varela Round"/>
              </a:rPr>
              <a:t>מכתבים</a:t>
            </a:r>
            <a:endParaRPr lang="he-IL" sz="1800"/>
          </a:p>
        </p:txBody>
      </p:sp>
      <p:sp>
        <p:nvSpPr>
          <p:cNvPr id="11" name="TextBox 10"/>
          <p:cNvSpPr txBox="1"/>
          <p:nvPr/>
        </p:nvSpPr>
        <p:spPr>
          <a:xfrm>
            <a:off x="5715000" y="2459736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2304D"/>
                </a:solidFill>
                <a:latin typeface="Varela Round"/>
                <a:cs typeface="Varela Round"/>
              </a:rPr>
              <a:t>רבים, גם ילדים, כותבים מכתבים לחיילים ולחטופים.</a:t>
            </a:r>
            <a:endParaRPr lang="he-IL" sz="2100"/>
          </a:p>
        </p:txBody>
      </p:sp>
      <p:cxnSp>
        <p:nvCxnSpPr>
          <p:cNvPr id="12" name="Connector 11"/>
          <p:cNvCxnSpPr/>
          <p:nvPr/>
        </p:nvCxnSpPr>
        <p:spPr>
          <a:xfrm>
            <a:off x="5715000" y="3319272"/>
            <a:ext cx="5836615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10088575" y="3410712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2D5CC2"/>
                </a:solidFill>
                <a:latin typeface="Varela Round"/>
                <a:cs typeface="Varela Round"/>
              </a:rPr>
              <a:t>השתיקה</a:t>
            </a:r>
            <a:endParaRPr lang="he-IL" sz="1800"/>
          </a:p>
        </p:txBody>
      </p:sp>
      <p:sp>
        <p:nvSpPr>
          <p:cNvPr id="14" name="TextBox 13"/>
          <p:cNvSpPr txBox="1"/>
          <p:nvPr/>
        </p:nvSpPr>
        <p:spPr>
          <a:xfrm>
            <a:off x="5715000" y="3410712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2304D"/>
                </a:solidFill>
                <a:latin typeface="Varela Round"/>
                <a:cs typeface="Varela Round"/>
              </a:rPr>
              <a:t>דדון לא מצליח לכתוב כמעט שנה, עד שהשיר מגיע אליו ״בדרך נס״.</a:t>
            </a:r>
            <a:endParaRPr lang="he-IL" sz="2100"/>
          </a:p>
        </p:txBody>
      </p:sp>
      <p:cxnSp>
        <p:nvCxnSpPr>
          <p:cNvPr id="15" name="Connector 14"/>
          <p:cNvCxnSpPr/>
          <p:nvPr/>
        </p:nvCxnSpPr>
        <p:spPr>
          <a:xfrm>
            <a:off x="5715000" y="4270248"/>
            <a:ext cx="5836615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0088575" y="4361688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2D5CC2"/>
                </a:solidFill>
                <a:latin typeface="Varela Round"/>
                <a:cs typeface="Varela Round"/>
              </a:rPr>
              <a:t>3.6.2024</a:t>
            </a:r>
            <a:endParaRPr lang="he-IL" sz="1800"/>
          </a:p>
        </p:txBody>
      </p:sp>
      <p:sp>
        <p:nvSpPr>
          <p:cNvPr id="17" name="TextBox 16"/>
          <p:cNvSpPr txBox="1"/>
          <p:nvPr/>
        </p:nvSpPr>
        <p:spPr>
          <a:xfrm>
            <a:off x="5715000" y="4361688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2304D"/>
                </a:solidFill>
                <a:latin typeface="Varela Round"/>
                <a:cs typeface="Varela Round"/>
              </a:rPr>
              <a:t>השיר יוצא, ובקליפ תמונה מאלבום המשפחה שלו עם הילד שלו.</a:t>
            </a:r>
            <a:endParaRPr lang="he-IL" sz="2100"/>
          </a:p>
        </p:txBody>
      </p:sp>
      <p:cxnSp>
        <p:nvCxnSpPr>
          <p:cNvPr id="18" name="Connector 17"/>
          <p:cNvCxnSpPr/>
          <p:nvPr/>
        </p:nvCxnSpPr>
        <p:spPr>
          <a:xfrm>
            <a:off x="5715000" y="5221224"/>
            <a:ext cx="5836615" cy="0"/>
          </a:xfrm>
          <a:prstGeom prst="line">
            <a:avLst/>
          </a:prstGeom>
          <a:ln w="9525">
            <a:solidFill>
              <a:srgbClr val="D6DCE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10088575" y="5312664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2D5CC2"/>
                </a:solidFill>
                <a:latin typeface="Varela Round"/>
                <a:cs typeface="Varela Round"/>
              </a:rPr>
              <a:t>ברדיו</a:t>
            </a:r>
            <a:endParaRPr lang="he-IL" sz="1800"/>
          </a:p>
        </p:txBody>
      </p:sp>
      <p:sp>
        <p:nvSpPr>
          <p:cNvPr id="20" name="TextBox 19"/>
          <p:cNvSpPr txBox="1"/>
          <p:nvPr/>
        </p:nvSpPr>
        <p:spPr>
          <a:xfrm>
            <a:off x="5715000" y="5312664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2304D"/>
                </a:solidFill>
                <a:latin typeface="Varela Round"/>
                <a:cs typeface="Varela Round"/>
              </a:rPr>
              <a:t>הוא נכנס לפלייליסט של גלגלצ ולעשרת השירים המושמעים.</a:t>
            </a:r>
            <a:endParaRPr lang="he-IL" sz="2100"/>
          </a:p>
        </p:txBody>
      </p:sp>
      <p:sp>
        <p:nvSpPr>
          <p:cNvPr id="2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708A"/>
                </a:solidFill>
                <a:latin typeface="Varela Round"/>
                <a:cs typeface="Varela Round"/>
              </a:rPr>
              <a:t>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2D5CC2"/>
                </a:solidFill>
                <a:latin typeface="Varela Round"/>
                <a:cs typeface="Varela Round"/>
              </a:rPr>
              <a:t>סיכום</a:t>
            </a:r>
            <a:endParaRPr lang="he-IL" sz="1800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11535" cy="12801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11000" b="0">
                <a:solidFill>
                  <a:srgbClr val="2D5CC2"/>
                </a:solidFill>
                <a:latin typeface="Playpen Sans Hebrew"/>
                <a:cs typeface="Playpen Sans Hebrew"/>
              </a:rPr>
              <a:t>״</a:t>
            </a:r>
            <a:endParaRPr lang="he-IL" sz="11000"/>
          </a:p>
        </p:txBody>
      </p:sp>
      <p:sp>
        <p:nvSpPr>
          <p:cNvPr id="5" name="Title"/>
          <p:cNvSpPr txBox="1"/>
          <p:nvPr/>
        </p:nvSpPr>
        <p:spPr>
          <a:xfrm>
            <a:off x="640080" y="2148840"/>
            <a:ext cx="10362895" cy="38404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spcAft>
                <a:spcPts val="1200"/>
              </a:spcAft>
              <a:buNone/>
            </a:pPr>
            <a:r>
              <a:rPr lang="he-IL" altLang="en-US" sz="3600" b="0">
                <a:solidFill>
                  <a:srgbClr val="22304D"/>
                </a:solidFill>
                <a:latin typeface="Varela Round"/>
                <a:cs typeface="Varela Round"/>
              </a:rPr>
              <a:t>כשהמבוגרים מרימים ידיים,</a:t>
            </a:r>
            <a:endParaRPr lang="he-IL" sz="3600"/>
          </a:p>
          <a:p>
            <a:pPr algn="r" rtl="1">
              <a:lnSpc>
                <a:spcPct val="105000"/>
              </a:lnSpc>
              <a:spcAft>
                <a:spcPts val="1200"/>
              </a:spcAft>
              <a:buNone/>
            </a:pPr>
            <a:r>
              <a:rPr lang="he-IL" altLang="en-US" sz="4000" b="0">
                <a:solidFill>
                  <a:srgbClr val="2D5CC2"/>
                </a:solidFill>
                <a:latin typeface="Playpen Sans Hebrew"/>
                <a:cs typeface="Playpen Sans Hebrew"/>
              </a:rPr>
              <a:t>ילדה קטנה ממשיכה לכתוב.</a:t>
            </a:r>
            <a:endParaRPr lang="he-IL" sz="4000"/>
          </a:p>
          <a:p>
            <a:pPr algn="r" rtl="1">
              <a:lnSpc>
                <a:spcPct val="105000"/>
              </a:lnSpc>
              <a:spcAft>
                <a:spcPts val="1200"/>
              </a:spcAft>
              <a:buNone/>
            </a:pPr>
            <a:r>
              <a:rPr lang="he-IL" altLang="en-US" sz="3400" b="0">
                <a:solidFill>
                  <a:srgbClr val="22304D"/>
                </a:solidFill>
                <a:latin typeface="Playpen Sans Hebrew Light"/>
                <a:cs typeface="Playpen Sans Hebrew Light"/>
              </a:rPr>
              <a:t>משם מתחיל האור בקצה.</a:t>
            </a:r>
            <a:endParaRPr lang="he-IL" sz="3400"/>
          </a:p>
        </p:txBody>
      </p:sp>
      <p:sp>
        <p:nvSpPr>
          <p:cNvPr id="6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66708A"/>
                </a:solidFill>
                <a:latin typeface="Varela Round"/>
                <a:cs typeface="Varela Round"/>
              </a:rPr>
              <a:t>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