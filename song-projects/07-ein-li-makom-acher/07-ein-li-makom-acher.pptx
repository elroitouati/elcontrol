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abel"/>
          <p:cNvSpPr txBox="1"/>
          <p:nvPr/>
        </p:nvSpPr>
        <p:spPr>
          <a:xfrm>
            <a:off x="640080" y="5486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151515"/>
                </a:solidFill>
                <a:latin typeface="Rubik"/>
                <a:cs typeface="Rubik"/>
              </a:rPr>
              <a:t>הערכה חלופית בספרות · שכבה ט׳</a:t>
            </a:r>
            <a:endParaRPr lang="he-IL" sz="1800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l" rtl="1">
              <a:buNone/>
            </a:pPr>
            <a:r>
              <a:rPr lang="he-IL" altLang="en-US" sz="1800" b="0">
                <a:solidFill>
                  <a:srgbClr val="4C4A46"/>
                </a:solidFill>
                <a:latin typeface="Rubik Light"/>
                <a:cs typeface="Rubik Light"/>
              </a:rPr>
              <a:t>שמות המגישים</a:t>
            </a:r>
            <a:endParaRPr lang="he-IL" sz="1800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B83A0C"/>
                </a:solidFill>
                <a:latin typeface="Rubik Light"/>
                <a:cs typeface="Rubik Light"/>
              </a:rPr>
              <a:t>איתי לוי</a:t>
            </a:r>
            <a:endParaRPr lang="he-IL" sz="3400"/>
          </a:p>
        </p:txBody>
      </p:sp>
      <p:sp>
        <p:nvSpPr>
          <p:cNvPr id="6" name="Title"/>
          <p:cNvSpPr txBox="1"/>
          <p:nvPr/>
        </p:nvSpPr>
        <p:spPr>
          <a:xfrm>
            <a:off x="548640" y="182880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 rtlCol="1" anchor="b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19000" b="1">
                <a:solidFill>
                  <a:srgbClr val="151515"/>
                </a:solidFill>
                <a:latin typeface="Karantina"/>
                <a:cs typeface="Karantina"/>
              </a:rPr>
              <a:t>אין לי מקום אחר</a:t>
            </a:r>
            <a:endParaRPr lang="he-IL" sz="19000"/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4C4A46"/>
                </a:solidFill>
                <a:latin typeface="Rubik Light"/>
                <a:cs typeface="Rubik Light"/>
              </a:rPr>
              <a:t>שיר על חרדה ועל בית</a:t>
            </a:r>
            <a:endParaRPr lang="he-IL" sz="20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800" b="1">
                <a:solidFill>
                  <a:srgbClr val="151515"/>
                </a:solidFill>
                <a:latin typeface="Karantina"/>
                <a:cs typeface="Karantina"/>
              </a:rPr>
              <a:t>הקטע שבחרנו</a:t>
            </a:r>
            <a:endParaRPr lang="he-IL" sz="5800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151515"/>
                </a:solidFill>
                <a:latin typeface="Rubik Light"/>
                <a:cs typeface="Rubik Light"/>
              </a:rPr>
              <a:t>צעקתי </a:t>
            </a:r>
            <a:r>
              <a:rPr lang="he-IL" altLang="en-US" sz="2800" b="0">
                <a:solidFill>
                  <a:srgbClr val="B83A0C"/>
                </a:solidFill>
                <a:latin typeface="Rubik Light"/>
                <a:cs typeface="Rubik Light"/>
              </a:rPr>
              <a:t>תציל אותי</a:t>
            </a:r>
            <a:r>
              <a:rPr lang="he-IL" altLang="en-US" sz="2800" b="0">
                <a:solidFill>
                  <a:srgbClr val="151515"/>
                </a:solidFill>
                <a:latin typeface="Rubik Light"/>
                <a:cs typeface="Rubik Light"/>
              </a:rPr>
              <a:t> אני מקולקל</a:t>
            </a:r>
            <a:endParaRPr lang="he-IL" sz="28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151515"/>
                </a:solidFill>
                <a:latin typeface="Rubik Light"/>
                <a:cs typeface="Rubik Light"/>
              </a:rPr>
              <a:t>דמיונות שורטים ואני נבהל</a:t>
            </a:r>
            <a:endParaRPr lang="he-IL" sz="28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151515"/>
                </a:solidFill>
                <a:latin typeface="Rubik Light"/>
                <a:cs typeface="Rubik Light"/>
              </a:rPr>
              <a:t>לא מוצא אותי</a:t>
            </a:r>
            <a:endParaRPr lang="he-IL" sz="28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151515"/>
                </a:solidFill>
                <a:latin typeface="Rubik Light"/>
                <a:cs typeface="Rubik Light"/>
              </a:rPr>
              <a:t>רציתי לישון </a:t>
            </a:r>
            <a:r>
              <a:rPr lang="he-IL" altLang="en-US" sz="2800" b="0">
                <a:solidFill>
                  <a:srgbClr val="B83A0C"/>
                </a:solidFill>
                <a:latin typeface="Rubik Light"/>
                <a:cs typeface="Rubik Light"/>
              </a:rPr>
              <a:t>עד שזה יגמר</a:t>
            </a:r>
            <a:endParaRPr lang="he-IL" sz="2800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l" rtl="1">
              <a:buNone/>
            </a:pPr>
            <a:r>
              <a:rPr lang="he-IL" altLang="en-US" sz="1600" b="0">
                <a:solidFill>
                  <a:srgbClr val="4C4A46"/>
                </a:solidFill>
                <a:latin typeface="Rubik Light"/>
                <a:cs typeface="Rubik Light"/>
              </a:rPr>
              <a:t>״אין לי מקום אחר״, איתי לוי</a:t>
            </a:r>
            <a:endParaRPr lang="he-IL" sz="1600"/>
          </a:p>
        </p:txBody>
      </p:sp>
      <p:cxnSp>
        <p:nvCxnSpPr>
          <p:cNvPr id="6" name="Connector 5"/>
          <p:cNvCxnSpPr/>
          <p:nvPr/>
        </p:nvCxnSpPr>
        <p:spPr>
          <a:xfrm>
            <a:off x="640080" y="3547872"/>
            <a:ext cx="10911535" cy="0"/>
          </a:xfrm>
          <a:prstGeom prst="line">
            <a:avLst/>
          </a:prstGeom>
          <a:ln w="9525">
            <a:solidFill>
              <a:srgbClr val="AFACA6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355080" y="3822191"/>
            <a:ext cx="5196535" cy="253288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B83A0C"/>
                </a:solidFill>
                <a:latin typeface="Rubik"/>
                <a:cs typeface="Rubik"/>
              </a:rPr>
              <a:t>למה בחרנו בקטע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151515"/>
                </a:solidFill>
                <a:latin typeface="Rubik Light"/>
                <a:cs typeface="Rubik Light"/>
              </a:rPr>
              <a:t>זה הפזמון, ובו הדובר מודה במה שקשה להגיד: הוא מפחד ומרגיש ״מקולקל״. בחרנו בו כי הוא מדבר בכנות על חרדה, שהרבה אנשים הרגישו במלחמה ולא דיברו עליה.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3822191"/>
            <a:ext cx="5257800" cy="253288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B83A0C"/>
                </a:solidFill>
                <a:latin typeface="Rubik"/>
                <a:cs typeface="Rubik"/>
              </a:rPr>
              <a:t>החיבור האישי שלנו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151515"/>
                </a:solidFill>
                <a:latin typeface="Rubik Light"/>
                <a:cs typeface="Rubik Light"/>
              </a:rPr>
              <a:t>גם סביבנו היו אנשים, וגם בני נוער, שהרגישו חרדה בזמן האזעקות ואחריהן. השיר מראה שמותר לבקש עזרה, ושמישהו קרוב יכול ״לראות אותך עם הלב״.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4C4A46"/>
                </a:solidFill>
                <a:latin typeface="Rubik"/>
                <a:cs typeface="Rubik"/>
              </a:rPr>
              <a:t>02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levi.jpg"/>
          <p:cNvPicPr>
            <a:picLocks noChangeAspect="1"/>
          </p:cNvPicPr>
          <p:nvPr/>
        </p:nvPicPr>
        <p:blipFill>
          <a:blip r:embed="rId3"/>
          <a:srcRect t="6037" b="80206"/>
          <a:stretch>
            <a:fillRect/>
          </a:stretch>
        </p:blipFill>
        <p:spPr>
          <a:xfrm>
            <a:off x="0" y="0"/>
            <a:ext cx="12191695" cy="251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560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4C4A46"/>
                </a:solidFill>
                <a:latin typeface="Rubik"/>
                <a:cs typeface="Rubik"/>
              </a:rPr>
              <a:t>צילום: שי פרנקו, ויקישיתוף, CC BY-SA 3.0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269748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400" b="1">
                <a:solidFill>
                  <a:srgbClr val="151515"/>
                </a:solidFill>
                <a:latin typeface="Karantina"/>
                <a:cs typeface="Karantina"/>
              </a:rPr>
              <a:t>איתי לוי</a:t>
            </a:r>
            <a:endParaRPr lang="he-IL" sz="5400"/>
          </a:p>
        </p:txBody>
      </p:sp>
      <p:sp>
        <p:nvSpPr>
          <p:cNvPr id="6" name="TextBox 5"/>
          <p:cNvSpPr txBox="1"/>
          <p:nvPr/>
        </p:nvSpPr>
        <p:spPr>
          <a:xfrm>
            <a:off x="6370167" y="3794760"/>
            <a:ext cx="5181447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B83A0C"/>
                </a:solidFill>
                <a:latin typeface="Rubik"/>
                <a:cs typeface="Rubik"/>
              </a:rPr>
              <a:t>1988  </a:t>
            </a:r>
            <a:r>
              <a:rPr lang="he-IL" altLang="en-US" sz="2200" b="0">
                <a:solidFill>
                  <a:srgbClr val="151515"/>
                </a:solidFill>
                <a:latin typeface="Rubik Light"/>
                <a:cs typeface="Rubik Light"/>
              </a:rPr>
              <a:t>נולד בגן יבנה וגדל בשכונת שעריים ברחובות.</a:t>
            </a:r>
            <a:endParaRPr lang="he-IL" sz="2200"/>
          </a:p>
        </p:txBody>
      </p:sp>
      <p:sp>
        <p:nvSpPr>
          <p:cNvPr id="7" name="TextBox 6"/>
          <p:cNvSpPr txBox="1"/>
          <p:nvPr/>
        </p:nvSpPr>
        <p:spPr>
          <a:xfrm>
            <a:off x="6370167" y="4709160"/>
            <a:ext cx="5181447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B83A0C"/>
                </a:solidFill>
                <a:latin typeface="Rubik"/>
                <a:cs typeface="Rubik"/>
              </a:rPr>
              <a:t>צבא  </a:t>
            </a:r>
            <a:r>
              <a:rPr lang="he-IL" altLang="en-US" sz="2200" b="0">
                <a:solidFill>
                  <a:srgbClr val="151515"/>
                </a:solidFill>
                <a:latin typeface="Rubik Light"/>
                <a:cs typeface="Rubik Light"/>
              </a:rPr>
              <a:t>שירת כרס״ר בבית הספר לצניחה.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370167" y="5623560"/>
            <a:ext cx="5181447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B83A0C"/>
                </a:solidFill>
                <a:latin typeface="Rubik"/>
                <a:cs typeface="Rubik"/>
              </a:rPr>
              <a:t>2014  </a:t>
            </a:r>
            <a:r>
              <a:rPr lang="he-IL" altLang="en-US" sz="2200" b="0">
                <a:solidFill>
                  <a:srgbClr val="151515"/>
                </a:solidFill>
                <a:latin typeface="Rubik Light"/>
                <a:cs typeface="Rubik Light"/>
              </a:rPr>
              <a:t>הוציא את אלבום הבכורה ״מה עובר עלייך״.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5181447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B83A0C"/>
                </a:solidFill>
                <a:latin typeface="Rubik"/>
                <a:cs typeface="Rubik"/>
              </a:rPr>
              <a:t>2023  </a:t>
            </a:r>
            <a:r>
              <a:rPr lang="he-IL" altLang="en-US" sz="2200" b="0">
                <a:solidFill>
                  <a:srgbClr val="151515"/>
                </a:solidFill>
                <a:latin typeface="Rubik Light"/>
                <a:cs typeface="Rubik Light"/>
              </a:rPr>
              <a:t>הדליק משואה בטקס יום העצמאות.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5181447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B83A0C"/>
                </a:solidFill>
                <a:latin typeface="Rubik"/>
                <a:cs typeface="Rubik"/>
              </a:rPr>
              <a:t>2026  </a:t>
            </a:r>
            <a:r>
              <a:rPr lang="he-IL" altLang="en-US" sz="2200" b="0">
                <a:solidFill>
                  <a:srgbClr val="151515"/>
                </a:solidFill>
                <a:latin typeface="Rubik Light"/>
                <a:cs typeface="Rubik Light"/>
              </a:rPr>
              <a:t>השיק עם משרד הבריאות את ״כל מה שעוזר״, פרויקט על חרדה.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4C4A46"/>
                </a:solidFill>
                <a:latin typeface="Rubik"/>
                <a:cs typeface="Rubik"/>
              </a:rPr>
              <a:t>03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800" b="1">
                <a:solidFill>
                  <a:srgbClr val="151515"/>
                </a:solidFill>
                <a:latin typeface="Karantina"/>
                <a:cs typeface="Karantina"/>
              </a:rPr>
              <a:t>מילות השיר</a:t>
            </a:r>
            <a:endParaRPr lang="he-IL" sz="5800"/>
          </a:p>
        </p:txBody>
      </p:sp>
      <p:sp>
        <p:nvSpPr>
          <p:cNvPr id="4" name="Lyrics placeholder"/>
          <p:cNvSpPr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  <a:ln w="15875">
            <a:solidFill>
              <a:srgbClr val="AFACA6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" name="Lyrics"/>
          <p:cNvSpPr txBox="1"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spcAft>
                <a:spcPts val="800"/>
              </a:spcAft>
              <a:buNone/>
            </a:pPr>
            <a:r>
              <a:rPr lang="he-IL" altLang="en-US" sz="2600" b="0">
                <a:solidFill>
                  <a:srgbClr val="4C4A46"/>
                </a:solidFill>
                <a:latin typeface="Rubik Light"/>
                <a:cs typeface="Rubik Light"/>
              </a:rPr>
              <a:t>כאן יודבקו מילות השיר המלאות</a:t>
            </a:r>
            <a:endParaRPr lang="he-IL" sz="2600"/>
          </a:p>
          <a:p>
            <a:pPr algn="ctr" rtl="1">
              <a:buNone/>
            </a:pPr>
            <a:r>
              <a:rPr lang="he-IL" altLang="en-US" sz="1800" b="0">
                <a:solidFill>
                  <a:srgbClr val="4C4A46"/>
                </a:solidFill>
                <a:latin typeface="Rubik Light"/>
                <a:cs typeface="Rubik Light"/>
              </a:rPr>
              <a:t>לפי חלוקת הבתים והשורות המקורית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400" b="0">
                <a:solidFill>
                  <a:srgbClr val="4C4A46"/>
                </a:solidFill>
                <a:latin typeface="Rubik Light"/>
                <a:cs typeface="Rubik Light"/>
              </a:rPr>
              <a:t>מילים ולחן: אבי אוחיון · ביצוע: איתי לוי · יצא ב-27 בנובמבר 2023</a:t>
            </a:r>
            <a:endParaRPr lang="he-IL" sz="14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4C4A46"/>
                </a:solidFill>
                <a:latin typeface="Rubik"/>
                <a:cs typeface="Rubik"/>
              </a:rPr>
              <a:t>04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0" y="411480"/>
            <a:ext cx="55165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4C4A46"/>
                </a:solidFill>
                <a:latin typeface="Rubik"/>
                <a:cs typeface="Rubik"/>
              </a:rPr>
              <a:t>מושג ראשון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31520"/>
            <a:ext cx="5516575" cy="9601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200" b="1">
                <a:solidFill>
                  <a:srgbClr val="B83A0C"/>
                </a:solidFill>
                <a:latin typeface="Karantina"/>
                <a:cs typeface="Karantina"/>
              </a:rPr>
              <a:t>מטאפורה</a:t>
            </a:r>
            <a:endParaRPr lang="he-IL" sz="5200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4C4A46"/>
                </a:solidFill>
                <a:latin typeface="Rubik Light"/>
                <a:cs typeface="Rubik Light"/>
              </a:rPr>
              <a:t>תיאור של דבר אחד באמצעות דבר מעולם אחר, בלי מילת דימוי כמו ״כמו״ או ״כְּ״.</a:t>
            </a:r>
            <a:endParaRPr lang="he-IL" sz="2000"/>
          </a:p>
        </p:txBody>
      </p:sp>
      <p:sp>
        <p:nvSpPr>
          <p:cNvPr id="6" name="Quote band"/>
          <p:cNvSpPr/>
          <p:nvPr/>
        </p:nvSpPr>
        <p:spPr>
          <a:xfrm>
            <a:off x="0" y="1920240"/>
            <a:ext cx="12191695" cy="1965960"/>
          </a:xfrm>
          <a:prstGeom prst="rect">
            <a:avLst/>
          </a:prstGeom>
          <a:solidFill>
            <a:srgbClr val="F2C2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11535" cy="1965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151515"/>
                </a:solidFill>
                <a:latin typeface="Rubik Light"/>
                <a:cs typeface="Rubik Light"/>
              </a:rPr>
              <a:t>לפעמים גם האור נעלם לי באמצע היום</a:t>
            </a:r>
            <a:endParaRPr lang="he-IL" sz="34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151515"/>
                </a:solidFill>
                <a:latin typeface="Rubik Light"/>
                <a:cs typeface="Rubik Light"/>
              </a:rPr>
              <a:t>ממש </a:t>
            </a:r>
            <a:r>
              <a:rPr lang="he-IL" altLang="en-US" sz="3400" b="0">
                <a:solidFill>
                  <a:srgbClr val="8A2A05"/>
                </a:solidFill>
                <a:latin typeface="Rubik Light"/>
                <a:cs typeface="Rubik Light"/>
              </a:rPr>
              <a:t>הפסקת חשמל</a:t>
            </a:r>
            <a:endParaRPr lang="he-IL" sz="3400"/>
          </a:p>
        </p:txBody>
      </p:sp>
      <p:sp>
        <p:nvSpPr>
          <p:cNvPr id="8" name="TextBox 7"/>
          <p:cNvSpPr txBox="1"/>
          <p:nvPr/>
        </p:nvSpPr>
        <p:spPr>
          <a:xfrm>
            <a:off x="6355080" y="4206240"/>
            <a:ext cx="5196535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B83A0C"/>
                </a:solidFill>
                <a:latin typeface="Rubik"/>
                <a:cs typeface="Rubik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51515"/>
                </a:solidFill>
                <a:latin typeface="Rubik Light"/>
                <a:cs typeface="Rubik Light"/>
              </a:rPr>
              <a:t>התקף חרדה מתואר כ״הפסקת חשמל״: באמצע יום רגיל הכול נהיה חשוך בבת אחת.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52578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B83A0C"/>
                </a:solidFill>
                <a:latin typeface="Rubik"/>
                <a:cs typeface="Rubik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51515"/>
                </a:solidFill>
                <a:latin typeface="Rubik Light"/>
                <a:cs typeface="Rubik Light"/>
              </a:rPr>
              <a:t>המטאפורה עוזרת להבין משהו שקשה לראות מבחוץ. כולם מכירים הפסקת חשמל, ולכן מבינים את הבהלה.</a:t>
            </a:r>
            <a:endParaRPr lang="he-IL" sz="2200"/>
          </a:p>
        </p:txBody>
      </p:sp>
      <p:sp>
        <p:nvSpPr>
          <p:cNvPr id="1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4C4A46"/>
                </a:solidFill>
                <a:latin typeface="Rubik"/>
                <a:cs typeface="Rubik"/>
              </a:rPr>
              <a:t>05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0" y="411480"/>
            <a:ext cx="55165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4C4A46"/>
                </a:solidFill>
                <a:latin typeface="Rubik"/>
                <a:cs typeface="Rubik"/>
              </a:rPr>
              <a:t>מושג שני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31520"/>
            <a:ext cx="5516575" cy="9601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200" b="1">
                <a:solidFill>
                  <a:srgbClr val="B83A0C"/>
                </a:solidFill>
                <a:latin typeface="Karantina"/>
                <a:cs typeface="Karantina"/>
              </a:rPr>
              <a:t>ניגוד</a:t>
            </a:r>
            <a:endParaRPr lang="he-IL" sz="5200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4C4A46"/>
                </a:solidFill>
                <a:latin typeface="Rubik Light"/>
                <a:cs typeface="Rubik Light"/>
              </a:rPr>
              <a:t>העמדה של שני דברים הפוכים זה מול זה, כדי להבליט את ההבדל ביניהם.</a:t>
            </a:r>
            <a:endParaRPr lang="he-IL" sz="2000"/>
          </a:p>
        </p:txBody>
      </p:sp>
      <p:sp>
        <p:nvSpPr>
          <p:cNvPr id="6" name="Quote band"/>
          <p:cNvSpPr/>
          <p:nvPr/>
        </p:nvSpPr>
        <p:spPr>
          <a:xfrm>
            <a:off x="0" y="1920240"/>
            <a:ext cx="12191695" cy="1965960"/>
          </a:xfrm>
          <a:prstGeom prst="rect">
            <a:avLst/>
          </a:prstGeom>
          <a:solidFill>
            <a:srgbClr val="F2C2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11535" cy="1965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151515"/>
                </a:solidFill>
                <a:latin typeface="Rubik Light"/>
                <a:cs typeface="Rubik Light"/>
              </a:rPr>
              <a:t>שחסר לי </a:t>
            </a:r>
            <a:r>
              <a:rPr lang="he-IL" altLang="en-US" sz="3400" b="0">
                <a:solidFill>
                  <a:srgbClr val="8A2A05"/>
                </a:solidFill>
                <a:latin typeface="Rubik Light"/>
                <a:cs typeface="Rubik Light"/>
              </a:rPr>
              <a:t>חסר לי אוויר</a:t>
            </a:r>
            <a:endParaRPr lang="he-IL" sz="34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151515"/>
                </a:solidFill>
                <a:latin typeface="Rubik Light"/>
                <a:cs typeface="Rubik Light"/>
              </a:rPr>
              <a:t>מבחוץ כולם רואים רק </a:t>
            </a:r>
            <a:r>
              <a:rPr lang="he-IL" altLang="en-US" sz="3400" b="0">
                <a:solidFill>
                  <a:srgbClr val="8A2A05"/>
                </a:solidFill>
                <a:latin typeface="Rubik Light"/>
                <a:cs typeface="Rubik Light"/>
              </a:rPr>
              <a:t>סוס דוהר</a:t>
            </a:r>
            <a:endParaRPr lang="he-IL" sz="3400"/>
          </a:p>
        </p:txBody>
      </p:sp>
      <p:sp>
        <p:nvSpPr>
          <p:cNvPr id="8" name="TextBox 7"/>
          <p:cNvSpPr txBox="1"/>
          <p:nvPr/>
        </p:nvSpPr>
        <p:spPr>
          <a:xfrm>
            <a:off x="6355080" y="4206240"/>
            <a:ext cx="5196535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B83A0C"/>
                </a:solidFill>
                <a:latin typeface="Rubik"/>
                <a:cs typeface="Rubik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51515"/>
                </a:solidFill>
                <a:latin typeface="Rubik Light"/>
                <a:cs typeface="Rubik Light"/>
              </a:rPr>
              <a:t>מבפנים ״חסר לי אוויר״, ומבחוץ כולם רואים ״סוס דוהר״, חזק ומהיר.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52578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B83A0C"/>
                </a:solidFill>
                <a:latin typeface="Rubik"/>
                <a:cs typeface="Rubik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51515"/>
                </a:solidFill>
                <a:latin typeface="Rubik Light"/>
                <a:cs typeface="Rubik Light"/>
              </a:rPr>
              <a:t>הניגוד מראה שאי אפשר לדעת מה עובר על מישהו לפי מה שרואים. לכן כל כך חשוב שמישהו ״ראה אותו עם הלב״.</a:t>
            </a:r>
            <a:endParaRPr lang="he-IL" sz="2200"/>
          </a:p>
        </p:txBody>
      </p:sp>
      <p:sp>
        <p:nvSpPr>
          <p:cNvPr id="1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4C4A46"/>
                </a:solidFill>
                <a:latin typeface="Rubik"/>
                <a:cs typeface="Rubik"/>
              </a:rPr>
              <a:t>06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800" b="1">
                <a:solidFill>
                  <a:srgbClr val="151515"/>
                </a:solidFill>
                <a:latin typeface="Karantina"/>
                <a:cs typeface="Karantina"/>
              </a:rPr>
              <a:t>מילים שמעוררות את המלחמה</a:t>
            </a:r>
            <a:endParaRPr lang="he-IL" sz="5800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4C4A46"/>
                </a:solidFill>
                <a:latin typeface="Rubik Light"/>
                <a:cs typeface="Rubik Light"/>
              </a:rPr>
              <a:t>השיר לא מזכיר את המלחמה בשמה, אבל המילים מעוררות את התחושות שלה</a:t>
            </a:r>
            <a:endParaRPr lang="he-IL" sz="2000"/>
          </a:p>
        </p:txBody>
      </p:sp>
      <p:sp>
        <p:nvSpPr>
          <p:cNvPr id="5" name="TextBox 4"/>
          <p:cNvSpPr txBox="1"/>
          <p:nvPr/>
        </p:nvSpPr>
        <p:spPr>
          <a:xfrm>
            <a:off x="8908084" y="2670048"/>
            <a:ext cx="2643530" cy="1367028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7176" b="1">
                <a:solidFill>
                  <a:srgbClr val="B83A0C"/>
                </a:solidFill>
                <a:latin typeface="Karantina"/>
                <a:cs typeface="Karantina"/>
              </a:rPr>
              <a:t>תציל אותי</a:t>
            </a:r>
            <a:endParaRPr lang="he-IL" sz="7176"/>
          </a:p>
        </p:txBody>
      </p:sp>
      <p:sp>
        <p:nvSpPr>
          <p:cNvPr id="6" name="TextBox 5"/>
          <p:cNvSpPr txBox="1"/>
          <p:nvPr/>
        </p:nvSpPr>
        <p:spPr>
          <a:xfrm>
            <a:off x="6108192" y="3068955"/>
            <a:ext cx="2251252" cy="861822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524" b="0">
                <a:solidFill>
                  <a:srgbClr val="151515"/>
                </a:solidFill>
                <a:latin typeface="Karantina"/>
                <a:cs typeface="Karantina"/>
              </a:rPr>
              <a:t>חסר לי אוויר</a:t>
            </a:r>
            <a:endParaRPr lang="he-IL" sz="4524"/>
          </a:p>
        </p:txBody>
      </p:sp>
      <p:sp>
        <p:nvSpPr>
          <p:cNvPr id="7" name="TextBox 6"/>
          <p:cNvSpPr txBox="1"/>
          <p:nvPr/>
        </p:nvSpPr>
        <p:spPr>
          <a:xfrm>
            <a:off x="3415284" y="2908934"/>
            <a:ext cx="2144268" cy="980694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148" b="0">
                <a:solidFill>
                  <a:srgbClr val="151515"/>
                </a:solidFill>
                <a:latin typeface="Karantina"/>
                <a:cs typeface="Karantina"/>
              </a:rPr>
              <a:t>הפסקת חשמל</a:t>
            </a:r>
            <a:endParaRPr lang="he-IL" sz="5148"/>
          </a:p>
        </p:txBody>
      </p:sp>
      <p:sp>
        <p:nvSpPr>
          <p:cNvPr id="8" name="TextBox 7"/>
          <p:cNvSpPr txBox="1"/>
          <p:nvPr/>
        </p:nvSpPr>
        <p:spPr>
          <a:xfrm>
            <a:off x="2041855" y="2952369"/>
            <a:ext cx="824788" cy="802386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212" b="0">
                <a:solidFill>
                  <a:srgbClr val="151515"/>
                </a:solidFill>
                <a:latin typeface="Karantina"/>
                <a:cs typeface="Karantina"/>
              </a:rPr>
              <a:t>נבהל</a:t>
            </a:r>
            <a:endParaRPr lang="he-IL" sz="4212"/>
          </a:p>
        </p:txBody>
      </p:sp>
      <p:sp>
        <p:nvSpPr>
          <p:cNvPr id="9" name="TextBox 8"/>
          <p:cNvSpPr txBox="1"/>
          <p:nvPr/>
        </p:nvSpPr>
        <p:spPr>
          <a:xfrm>
            <a:off x="7915960" y="4174235"/>
            <a:ext cx="3178454" cy="1248155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6552" b="1">
                <a:solidFill>
                  <a:srgbClr val="B83A0C"/>
                </a:solidFill>
                <a:latin typeface="Karantina"/>
                <a:cs typeface="Karantina"/>
              </a:rPr>
              <a:t>התנגשתי בקיר</a:t>
            </a:r>
            <a:endParaRPr lang="he-IL" sz="6552"/>
          </a:p>
        </p:txBody>
      </p:sp>
      <p:sp>
        <p:nvSpPr>
          <p:cNvPr id="10" name="TextBox 9"/>
          <p:cNvSpPr txBox="1"/>
          <p:nvPr/>
        </p:nvSpPr>
        <p:spPr>
          <a:xfrm>
            <a:off x="5484571" y="4558283"/>
            <a:ext cx="1882749" cy="772668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56" b="0">
                <a:solidFill>
                  <a:srgbClr val="151515"/>
                </a:solidFill>
                <a:latin typeface="Karantina"/>
                <a:cs typeface="Karantina"/>
              </a:rPr>
              <a:t>עד שזה יגמר</a:t>
            </a:r>
            <a:endParaRPr lang="he-IL" sz="4056"/>
          </a:p>
        </p:txBody>
      </p:sp>
      <p:sp>
        <p:nvSpPr>
          <p:cNvPr id="11" name="TextBox 10"/>
          <p:cNvSpPr txBox="1"/>
          <p:nvPr/>
        </p:nvSpPr>
        <p:spPr>
          <a:xfrm>
            <a:off x="3148279" y="4398263"/>
            <a:ext cx="1787651" cy="891540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680" b="0">
                <a:solidFill>
                  <a:srgbClr val="151515"/>
                </a:solidFill>
                <a:latin typeface="Karantina"/>
                <a:cs typeface="Karantina"/>
              </a:rPr>
              <a:t>הכאב נשפך</a:t>
            </a:r>
            <a:endParaRPr lang="he-IL" sz="4680"/>
          </a:p>
        </p:txBody>
      </p:sp>
      <p:sp>
        <p:nvSpPr>
          <p:cNvPr id="12" name="TextBox 11"/>
          <p:cNvSpPr txBox="1"/>
          <p:nvPr/>
        </p:nvSpPr>
        <p:spPr>
          <a:xfrm>
            <a:off x="1257757" y="4218813"/>
            <a:ext cx="1341882" cy="1159002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6084" b="1">
                <a:solidFill>
                  <a:srgbClr val="B83A0C"/>
                </a:solidFill>
                <a:latin typeface="Karantina"/>
                <a:cs typeface="Karantina"/>
              </a:rPr>
              <a:t>נתגבר</a:t>
            </a:r>
            <a:endParaRPr lang="he-IL" sz="6084"/>
          </a:p>
        </p:txBody>
      </p:sp>
      <p:sp>
        <p:nvSpPr>
          <p:cNvPr id="13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4C4A46"/>
                </a:solidFill>
                <a:latin typeface="Rubik"/>
                <a:cs typeface="Rubik"/>
              </a:rPr>
              <a:t>07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Event photo" descr="ev_flags.jpg"/>
          <p:cNvPicPr>
            <a:picLocks noChangeAspect="1"/>
          </p:cNvPicPr>
          <p:nvPr/>
        </p:nvPicPr>
        <p:blipFill>
          <a:blip r:embed="rId3"/>
          <a:srcRect l="32798" r="32798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68335" y="6510528"/>
            <a:ext cx="3840479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000" b="0">
                <a:solidFill>
                  <a:srgbClr val="EEEEEE"/>
                </a:solidFill>
                <a:latin typeface="Rubik"/>
                <a:cs typeface="Rubik"/>
              </a:rPr>
              <a:t>צילום: Chenspec, ויקישיתוף, CC BY-SA 4.0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457200"/>
            <a:ext cx="67967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400" b="1">
                <a:solidFill>
                  <a:srgbClr val="151515"/>
                </a:solidFill>
                <a:latin typeface="Karantina"/>
                <a:cs typeface="Karantina"/>
              </a:rPr>
              <a:t>האירועים שהמילים מעוררות</a:t>
            </a:r>
            <a:endParaRPr lang="he-IL" sz="5400"/>
          </a:p>
        </p:txBody>
      </p:sp>
      <p:sp>
        <p:nvSpPr>
          <p:cNvPr id="6" name="TextBox 5"/>
          <p:cNvSpPr txBox="1"/>
          <p:nvPr/>
        </p:nvSpPr>
        <p:spPr>
          <a:xfrm>
            <a:off x="6796735" y="1417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B83A0C"/>
                </a:solidFill>
                <a:latin typeface="Karantina"/>
                <a:cs typeface="Karantina"/>
              </a:rPr>
              <a:t>1</a:t>
            </a:r>
            <a:endParaRPr lang="he-IL" sz="3400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B83A0C"/>
                </a:solidFill>
                <a:latin typeface="Rubik"/>
                <a:cs typeface="Rubik"/>
              </a:rPr>
              <a:t>7.10.2023  </a:t>
            </a:r>
            <a:r>
              <a:rPr lang="he-IL" altLang="en-US" sz="2100" b="0">
                <a:solidFill>
                  <a:srgbClr val="151515"/>
                </a:solidFill>
                <a:latin typeface="Rubik Light"/>
                <a:cs typeface="Rubik Light"/>
              </a:rPr>
              <a:t>המתקפה והמלחמה מביאות גל של חרדה בכל הארץ.</a:t>
            </a:r>
            <a:endParaRPr lang="he-IL" sz="2100"/>
          </a:p>
        </p:txBody>
      </p:sp>
      <p:sp>
        <p:nvSpPr>
          <p:cNvPr id="8" name="TextBox 7"/>
          <p:cNvSpPr txBox="1"/>
          <p:nvPr/>
        </p:nvSpPr>
        <p:spPr>
          <a:xfrm>
            <a:off x="6796735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B83A0C"/>
                </a:solidFill>
                <a:latin typeface="Karantina"/>
                <a:cs typeface="Karantina"/>
              </a:rPr>
              <a:t>2</a:t>
            </a:r>
            <a:endParaRPr lang="he-IL" sz="3400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B83A0C"/>
                </a:solidFill>
                <a:latin typeface="Rubik"/>
                <a:cs typeface="Rubik"/>
              </a:rPr>
              <a:t>שגרת מלחמה  </a:t>
            </a:r>
            <a:r>
              <a:rPr lang="he-IL" altLang="en-US" sz="2100" b="0">
                <a:solidFill>
                  <a:srgbClr val="151515"/>
                </a:solidFill>
                <a:latin typeface="Rubik Light"/>
                <a:cs typeface="Rubik Light"/>
              </a:rPr>
              <a:t>אזעקות, ממ״דים ופינוי יישובים בצפון ובדרום.</a:t>
            </a:r>
            <a:endParaRPr lang="he-IL" sz="2100"/>
          </a:p>
        </p:txBody>
      </p:sp>
      <p:sp>
        <p:nvSpPr>
          <p:cNvPr id="10" name="TextBox 9"/>
          <p:cNvSpPr txBox="1"/>
          <p:nvPr/>
        </p:nvSpPr>
        <p:spPr>
          <a:xfrm>
            <a:off x="6796735" y="3154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B83A0C"/>
                </a:solidFill>
                <a:latin typeface="Karantina"/>
                <a:cs typeface="Karantina"/>
              </a:rPr>
              <a:t>3</a:t>
            </a:r>
            <a:endParaRPr lang="he-IL" sz="3400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B83A0C"/>
                </a:solidFill>
                <a:latin typeface="Rubik"/>
                <a:cs typeface="Rubik"/>
              </a:rPr>
              <a:t>הכתיבה  </a:t>
            </a:r>
            <a:r>
              <a:rPr lang="he-IL" altLang="en-US" sz="2100" b="0">
                <a:solidFill>
                  <a:srgbClr val="151515"/>
                </a:solidFill>
                <a:latin typeface="Rubik Light"/>
                <a:cs typeface="Rubik Light"/>
              </a:rPr>
              <a:t>אבי אוחיון כותב שיר על ההתמודדות הרגשית שאחרי 7 באוקטובר.</a:t>
            </a:r>
            <a:endParaRPr lang="he-IL" sz="2100"/>
          </a:p>
        </p:txBody>
      </p:sp>
      <p:sp>
        <p:nvSpPr>
          <p:cNvPr id="12" name="TextBox 11"/>
          <p:cNvSpPr txBox="1"/>
          <p:nvPr/>
        </p:nvSpPr>
        <p:spPr>
          <a:xfrm>
            <a:off x="6796735" y="4023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B83A0C"/>
                </a:solidFill>
                <a:latin typeface="Karantina"/>
                <a:cs typeface="Karantina"/>
              </a:rPr>
              <a:t>4</a:t>
            </a:r>
            <a:endParaRPr lang="he-IL" sz="3400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B83A0C"/>
                </a:solidFill>
                <a:latin typeface="Rubik"/>
                <a:cs typeface="Rubik"/>
              </a:rPr>
              <a:t>27.11.2023  </a:t>
            </a:r>
            <a:r>
              <a:rPr lang="he-IL" altLang="en-US" sz="2100" b="0">
                <a:solidFill>
                  <a:srgbClr val="151515"/>
                </a:solidFill>
                <a:latin typeface="Rubik Light"/>
                <a:cs typeface="Rubik Light"/>
              </a:rPr>
              <a:t>איתי לוי מוציא אותו, יחד עם הסינגל ״אחרי המבול״.</a:t>
            </a:r>
            <a:endParaRPr lang="he-IL" sz="2100"/>
          </a:p>
        </p:txBody>
      </p:sp>
      <p:sp>
        <p:nvSpPr>
          <p:cNvPr id="14" name="TextBox 13"/>
          <p:cNvSpPr txBox="1"/>
          <p:nvPr/>
        </p:nvSpPr>
        <p:spPr>
          <a:xfrm>
            <a:off x="6796735" y="4892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B83A0C"/>
                </a:solidFill>
                <a:latin typeface="Karantina"/>
                <a:cs typeface="Karantina"/>
              </a:rPr>
              <a:t>5</a:t>
            </a:r>
            <a:endParaRPr lang="he-IL" sz="3400"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B83A0C"/>
                </a:solidFill>
                <a:latin typeface="Rubik"/>
                <a:cs typeface="Rubik"/>
              </a:rPr>
              <a:t>תשפ״ד  </a:t>
            </a:r>
            <a:r>
              <a:rPr lang="he-IL" altLang="en-US" sz="2100" b="0">
                <a:solidFill>
                  <a:srgbClr val="151515"/>
                </a:solidFill>
                <a:latin typeface="Rubik Light"/>
                <a:cs typeface="Rubik Light"/>
              </a:rPr>
              <a:t>השיר הוא השלישי המושמע ביותר ברדיו באותה שנה.</a:t>
            </a:r>
            <a:endParaRPr lang="he-IL" sz="2100"/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67967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600" b="0">
                <a:solidFill>
                  <a:srgbClr val="4C4A46"/>
                </a:solidFill>
                <a:latin typeface="Rubik Light"/>
                <a:cs typeface="Rubik Light"/>
              </a:rPr>
              <a:t>דגלי ישראל באשדוד, ספטמבר 2024. ״אין לי מקום אחר״ הוא גם משפט על הבית ועל הארץ.</a:t>
            </a:r>
            <a:endParaRPr lang="he-IL" sz="1600"/>
          </a:p>
        </p:txBody>
      </p:sp>
      <p:sp>
        <p:nvSpPr>
          <p:cNvPr id="1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4C4A46"/>
                </a:solidFill>
                <a:latin typeface="Rubik"/>
                <a:cs typeface="Rubik"/>
              </a:rPr>
              <a:t>08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B83A0C"/>
                </a:solidFill>
                <a:latin typeface="Rubik"/>
                <a:cs typeface="Rubik"/>
              </a:rPr>
              <a:t>סיכום</a:t>
            </a:r>
            <a:endParaRPr lang="he-IL" sz="1800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11535" cy="12801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11000" b="1">
                <a:solidFill>
                  <a:srgbClr val="B83A0C"/>
                </a:solidFill>
                <a:latin typeface="Karantina"/>
                <a:cs typeface="Karantina"/>
              </a:rPr>
              <a:t>״</a:t>
            </a:r>
            <a:endParaRPr lang="he-IL" sz="11000"/>
          </a:p>
        </p:txBody>
      </p:sp>
      <p:sp>
        <p:nvSpPr>
          <p:cNvPr id="5" name="Title"/>
          <p:cNvSpPr txBox="1"/>
          <p:nvPr/>
        </p:nvSpPr>
        <p:spPr>
          <a:xfrm>
            <a:off x="640080" y="2148840"/>
            <a:ext cx="10362895" cy="3840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3600" b="0">
                <a:solidFill>
                  <a:srgbClr val="151515"/>
                </a:solidFill>
                <a:latin typeface="Rubik"/>
                <a:cs typeface="Rubik"/>
              </a:rPr>
              <a:t>איתי לוי שר על פחד בלי להתבייש.</a:t>
            </a:r>
            <a:endParaRPr lang="he-IL" sz="3600"/>
          </a:p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4000" b="1">
                <a:solidFill>
                  <a:srgbClr val="B83A0C"/>
                </a:solidFill>
                <a:latin typeface="Karantina"/>
                <a:cs typeface="Karantina"/>
              </a:rPr>
              <a:t>עברנו הכל, גם על זה נתגבר,</a:t>
            </a:r>
            <a:endParaRPr lang="he-IL" sz="4000"/>
          </a:p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3400" b="0">
                <a:solidFill>
                  <a:srgbClr val="151515"/>
                </a:solidFill>
                <a:latin typeface="Rubik Light"/>
                <a:cs typeface="Rubik Light"/>
              </a:rPr>
              <a:t>כי אין לנו מקום אחר.</a:t>
            </a:r>
            <a:endParaRPr lang="he-IL" sz="3400"/>
          </a:p>
        </p:txBody>
      </p:sp>
      <p:sp>
        <p:nvSpPr>
          <p:cNvPr id="6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4C4A46"/>
                </a:solidFill>
                <a:latin typeface="Rubik"/>
                <a:cs typeface="Rubik"/>
              </a:rPr>
              <a:t>09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