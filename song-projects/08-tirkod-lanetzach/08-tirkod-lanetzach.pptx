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F4B56A"/>
                </a:solidFill>
                <a:latin typeface="Heebo"/>
                <a:cs typeface="Heebo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2400" b="0">
                <a:solidFill>
                  <a:srgbClr val="F6EEE6"/>
                </a:solidFill>
                <a:latin typeface="Bellefair"/>
                <a:cs typeface="Bellefair"/>
              </a:rPr>
              <a:t>תרקוד לנצח</a:t>
            </a:r>
            <a:endParaRPr lang="he-IL" sz="124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עומר אדם ואינפקטד מאשרום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CBC2D2"/>
                </a:solidFill>
                <a:latin typeface="Heebo Light"/>
                <a:cs typeface="Heebo Light"/>
              </a:rPr>
              <a:t>לזכר נרצחי מסיבת הנובה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000" b="0">
                <a:solidFill>
                  <a:srgbClr val="CBC2D2"/>
                </a:solidFill>
                <a:latin typeface="Heebo Light"/>
                <a:cs typeface="Heebo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הקטע שבחרנו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629400" y="1417320"/>
            <a:ext cx="4922215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F4B56A"/>
                </a:solidFill>
                <a:latin typeface="Bellefair"/>
                <a:cs typeface="Bellefair"/>
              </a:rPr>
              <a:t>״</a:t>
            </a:r>
            <a:endParaRPr lang="he-IL" sz="9600"/>
          </a:p>
        </p:txBody>
      </p:sp>
      <p:sp>
        <p:nvSpPr>
          <p:cNvPr id="5" name="TextBox 4"/>
          <p:cNvSpPr txBox="1"/>
          <p:nvPr/>
        </p:nvSpPr>
        <p:spPr>
          <a:xfrm>
            <a:off x="6629400" y="2240280"/>
            <a:ext cx="4922215" cy="3108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עכשיו נשאר לי רק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B56A"/>
                </a:solidFill>
                <a:latin typeface="Bellefair"/>
                <a:cs typeface="Bellefair"/>
              </a:rPr>
              <a:t>שקט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ואין לי אף אחד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הלב שלי </a:t>
            </a:r>
            <a:r>
              <a:rPr lang="he-IL" altLang="en-US" sz="3000" b="0">
                <a:solidFill>
                  <a:srgbClr val="F4B56A"/>
                </a:solidFill>
                <a:latin typeface="Bellefair"/>
                <a:cs typeface="Bellefair"/>
              </a:rPr>
              <a:t>צורח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כי היא תרקוד לנצח</a:t>
            </a:r>
            <a:endParaRPr lang="he-IL" sz="3000"/>
          </a:p>
        </p:txBody>
      </p:sp>
      <p:sp>
        <p:nvSpPr>
          <p:cNvPr id="6" name="TextBox 5"/>
          <p:cNvSpPr txBox="1"/>
          <p:nvPr/>
        </p:nvSpPr>
        <p:spPr>
          <a:xfrm>
            <a:off x="6629400" y="5669280"/>
            <a:ext cx="492221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CBC2D2"/>
                </a:solidFill>
                <a:latin typeface="Heebo Light"/>
                <a:cs typeface="Heebo Light"/>
              </a:rPr>
              <a:t>״תרקוד לנצח״, עומר אדם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בפזמון יש קפיצה חדה. השיר מתחיל במסיבה, ופתאום נשארת רק המילה ״שקט״, בשורה משלה. הלב ״צורח״, והיא ״תרקוד לנצח״, כי היא כבר לא תחזור.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רבים מהנרצחים בנובה היו צעירים רק בכמה שנים מאיתנו. השיר גרם לנו לחשוב על כמה החופש לשמוח ולרקוד יקר, ועל כך שצריך לזכור אותם.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adam.jpg"/>
          <p:cNvPicPr>
            <a:picLocks noChangeAspect="1"/>
          </p:cNvPicPr>
          <p:nvPr/>
        </p:nvPicPr>
        <p:blipFill>
          <a:blip r:embed="rId3"/>
          <a:srcRect l="2500" r="2500"/>
          <a:stretch>
            <a:fillRect/>
          </a:stretch>
        </p:blipFill>
        <p:spPr>
          <a:xfrm>
            <a:off x="7848295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31175" y="6510528"/>
            <a:ext cx="397763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Heebo"/>
                <a:cs typeface="Heebo"/>
              </a:rPr>
              <a:t>צילום: שי פרנקו,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עומר אדם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606521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1993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נולד בצפון קרוליינה, ועלה לארץ עם משפחתו בגיל שלוש.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2395728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06521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2010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64008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הוציא את אלבום הבכורה ״נמס ממך״.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640080" y="3346704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06521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2016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קיבל פרס אקו״ם על ״אחרי כל השנים״.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640080" y="4297680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06521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2019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הופיע בפארק הירקון מול כ-50 אלף איש.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5248656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6521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64008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במלחמה הופיע בכיכר החטופים ועזר לחיילים להגיע הביתה.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מילות השיר</a:t>
            </a:r>
            <a:endParaRPr lang="he-IL" sz="44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4A4370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CBC2D2"/>
                </a:solidFill>
                <a:latin typeface="Bellefair"/>
                <a:cs typeface="Bellefair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CBC2D2"/>
                </a:solidFill>
                <a:latin typeface="Heebo Light"/>
                <a:cs typeface="Heebo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CBC2D2"/>
                </a:solidFill>
                <a:latin typeface="Heebo Light"/>
                <a:cs typeface="Heebo Light"/>
              </a:rPr>
              <a:t>מילים ולחן: שרק · ביצוע: עומר אדם ואינפקטד מאשרום · יצא ב-26 באוקטובר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CBC2D2"/>
                </a:solidFill>
                <a:latin typeface="Heebo"/>
                <a:cs typeface="Heebo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F4B56A"/>
                </a:solidFill>
                <a:latin typeface="Bellefair"/>
                <a:cs typeface="Bellefair"/>
              </a:rPr>
              <a:t>ניגוד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CBC2D2"/>
                </a:solidFill>
                <a:latin typeface="Heebo Light"/>
                <a:cs typeface="Heebo Light"/>
              </a:rPr>
              <a:t>העמדה של שני דברים הפוכים זה מול זה, כדי להבליט את ההבדל ביניהם.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2A235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שקט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ואין לי אף אחד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הלב שלי </a:t>
            </a: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צורח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מסביב יש ״שקט״, ובפנים הלב ״צורח״. גם הריקוד, שהוא שמחה, עומד מול המוות.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הניגוד מראה כמה מהר הפכה מסיבה של שמחה לאסון. אחרי המוזיקה נשאר רק שקט.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CBC2D2"/>
                </a:solidFill>
                <a:latin typeface="Heebo"/>
                <a:cs typeface="Heebo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F4B56A"/>
                </a:solidFill>
                <a:latin typeface="Bellefair"/>
                <a:cs typeface="Bellefair"/>
              </a:rPr>
              <a:t>מטאפורה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CBC2D2"/>
                </a:solidFill>
                <a:latin typeface="Heebo Light"/>
                <a:cs typeface="Heebo Light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2A235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הלב שוכב בחול</a:t>
            </a: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 איתך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הראש בעננים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הלב ״שוכב בחול״ עם מי שנרצחה, כאילו נקבר איתה. המסיבה הייתה בשטח חולי ליד רעים.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המטאפורה מראה שחלק מהדובר מת יחד איתה. הוא חי, אבל הלב שלו נשאר שם.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CBC2D2"/>
                </a:solidFill>
                <a:latin typeface="Heebo Light"/>
                <a:cs typeface="Heebo Light"/>
              </a:rPr>
              <a:t>מילים מהשיר שמחזירות אותנו אל הבוקר ההוא במסיבה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10774375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01</a:t>
            </a:r>
            <a:endParaRPr lang="he-IL" sz="2600"/>
          </a:p>
        </p:txBody>
      </p:sp>
      <p:sp>
        <p:nvSpPr>
          <p:cNvPr id="6" name="TextBox 5"/>
          <p:cNvSpPr txBox="1"/>
          <p:nvPr/>
        </p:nvSpPr>
        <p:spPr>
          <a:xfrm>
            <a:off x="6461607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הלב שוכב בחול</a:t>
            </a:r>
            <a:endParaRPr lang="he-IL" sz="3200"/>
          </a:p>
        </p:txBody>
      </p:sp>
      <p:cxnSp>
        <p:nvCxnSpPr>
          <p:cNvPr id="7" name="Connector 6"/>
          <p:cNvCxnSpPr/>
          <p:nvPr/>
        </p:nvCxnSpPr>
        <p:spPr>
          <a:xfrm>
            <a:off x="6461607" y="2880360"/>
            <a:ext cx="5090008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774375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02</a:t>
            </a:r>
            <a:endParaRPr lang="he-IL" sz="2600"/>
          </a:p>
        </p:txBody>
      </p:sp>
      <p:sp>
        <p:nvSpPr>
          <p:cNvPr id="9" name="TextBox 8"/>
          <p:cNvSpPr txBox="1"/>
          <p:nvPr/>
        </p:nvSpPr>
        <p:spPr>
          <a:xfrm>
            <a:off x="6461607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שקט</a:t>
            </a:r>
            <a:endParaRPr lang="he-IL" sz="3200"/>
          </a:p>
        </p:txBody>
      </p:sp>
      <p:cxnSp>
        <p:nvCxnSpPr>
          <p:cNvPr id="10" name="Connector 9"/>
          <p:cNvCxnSpPr/>
          <p:nvPr/>
        </p:nvCxnSpPr>
        <p:spPr>
          <a:xfrm>
            <a:off x="6461607" y="3904488"/>
            <a:ext cx="5090008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10774375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03</a:t>
            </a:r>
            <a:endParaRPr lang="he-IL" sz="2600"/>
          </a:p>
        </p:txBody>
      </p:sp>
      <p:sp>
        <p:nvSpPr>
          <p:cNvPr id="12" name="TextBox 11"/>
          <p:cNvSpPr txBox="1"/>
          <p:nvPr/>
        </p:nvSpPr>
        <p:spPr>
          <a:xfrm>
            <a:off x="6461607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הלב שלי צורח</a:t>
            </a:r>
            <a:endParaRPr lang="he-IL" sz="3200"/>
          </a:p>
        </p:txBody>
      </p:sp>
      <p:cxnSp>
        <p:nvCxnSpPr>
          <p:cNvPr id="13" name="Connector 12"/>
          <p:cNvCxnSpPr/>
          <p:nvPr/>
        </p:nvCxnSpPr>
        <p:spPr>
          <a:xfrm>
            <a:off x="6461607" y="4928616"/>
            <a:ext cx="5090008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0774375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04</a:t>
            </a:r>
            <a:endParaRPr lang="he-IL" sz="2600"/>
          </a:p>
        </p:txBody>
      </p:sp>
      <p:sp>
        <p:nvSpPr>
          <p:cNvPr id="15" name="TextBox 14"/>
          <p:cNvSpPr txBox="1"/>
          <p:nvPr/>
        </p:nvSpPr>
        <p:spPr>
          <a:xfrm>
            <a:off x="6461607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מלאך של אלוהים</a:t>
            </a:r>
            <a:endParaRPr lang="he-IL" sz="3200"/>
          </a:p>
        </p:txBody>
      </p:sp>
      <p:sp>
        <p:nvSpPr>
          <p:cNvPr id="16" name="TextBox 15"/>
          <p:cNvSpPr txBox="1"/>
          <p:nvPr/>
        </p:nvSpPr>
        <p:spPr>
          <a:xfrm>
            <a:off x="4952847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05</a:t>
            </a:r>
            <a:endParaRPr lang="he-IL" sz="2600"/>
          </a:p>
        </p:txBody>
      </p:sp>
      <p:sp>
        <p:nvSpPr>
          <p:cNvPr id="17" name="TextBox 16"/>
          <p:cNvSpPr txBox="1"/>
          <p:nvPr/>
        </p:nvSpPr>
        <p:spPr>
          <a:xfrm>
            <a:off x="640080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משחק באש</a:t>
            </a:r>
            <a:endParaRPr lang="he-IL" sz="3200"/>
          </a:p>
        </p:txBody>
      </p:sp>
      <p:cxnSp>
        <p:nvCxnSpPr>
          <p:cNvPr id="18" name="Connector 17"/>
          <p:cNvCxnSpPr/>
          <p:nvPr/>
        </p:nvCxnSpPr>
        <p:spPr>
          <a:xfrm>
            <a:off x="640080" y="2880360"/>
            <a:ext cx="5090007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952847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06</a:t>
            </a:r>
            <a:endParaRPr lang="he-IL" sz="2600"/>
          </a:p>
        </p:txBody>
      </p:sp>
      <p:sp>
        <p:nvSpPr>
          <p:cNvPr id="20" name="TextBox 19"/>
          <p:cNvSpPr txBox="1"/>
          <p:nvPr/>
        </p:nvSpPr>
        <p:spPr>
          <a:xfrm>
            <a:off x="640080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הלב שלי נשבר</a:t>
            </a:r>
            <a:endParaRPr lang="he-IL" sz="320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904488"/>
            <a:ext cx="5090007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952847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07</a:t>
            </a:r>
            <a:endParaRPr lang="he-IL" sz="2600"/>
          </a:p>
        </p:txBody>
      </p:sp>
      <p:sp>
        <p:nvSpPr>
          <p:cNvPr id="23" name="TextBox 22"/>
          <p:cNvSpPr txBox="1"/>
          <p:nvPr/>
        </p:nvSpPr>
        <p:spPr>
          <a:xfrm>
            <a:off x="640080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אין לי אף אחד</a:t>
            </a:r>
            <a:endParaRPr lang="he-IL" sz="3200"/>
          </a:p>
        </p:txBody>
      </p:sp>
      <p:cxnSp>
        <p:nvCxnSpPr>
          <p:cNvPr id="24" name="Connector 23"/>
          <p:cNvCxnSpPr/>
          <p:nvPr/>
        </p:nvCxnSpPr>
        <p:spPr>
          <a:xfrm>
            <a:off x="640080" y="4928616"/>
            <a:ext cx="5090007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952847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08</a:t>
            </a:r>
            <a:endParaRPr lang="he-IL" sz="2600"/>
          </a:p>
        </p:txBody>
      </p:sp>
      <p:sp>
        <p:nvSpPr>
          <p:cNvPr id="26" name="TextBox 25"/>
          <p:cNvSpPr txBox="1"/>
          <p:nvPr/>
        </p:nvSpPr>
        <p:spPr>
          <a:xfrm>
            <a:off x="640080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תרקוד לנצח</a:t>
            </a:r>
            <a:endParaRPr lang="he-IL" sz="3200"/>
          </a:p>
        </p:txBody>
      </p:sp>
      <p:sp>
        <p:nvSpPr>
          <p:cNvPr id="2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האירועים שהמילים מעוררות</a:t>
            </a:r>
            <a:endParaRPr lang="he-IL" sz="4400"/>
          </a:p>
        </p:txBody>
      </p:sp>
      <p:pic>
        <p:nvPicPr>
          <p:cNvPr id="4" name="Event photo" descr="ev_nova.jpg"/>
          <p:cNvPicPr>
            <a:picLocks noChangeAspect="1"/>
          </p:cNvPicPr>
          <p:nvPr/>
        </p:nvPicPr>
        <p:blipFill>
          <a:blip r:embed="rId3"/>
          <a:srcRect t="39000" b="39000"/>
          <a:stretch>
            <a:fillRect/>
          </a:stretch>
        </p:blipFill>
        <p:spPr>
          <a:xfrm>
            <a:off x="0" y="1325880"/>
            <a:ext cx="12191695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3383280"/>
            <a:ext cx="7528255" cy="5029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CBC2D2"/>
                </a:solidFill>
                <a:latin typeface="Heebo Light"/>
                <a:cs typeface="Heebo Light"/>
              </a:rPr>
              <a:t>אתר מסיבת הנובה ליד רעים, פברואר 2025. משפחות הנרצחים הקימו כאן פינות הנצחה.</a:t>
            </a:r>
            <a:endParaRPr lang="he-IL" sz="1600"/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CBC2D2"/>
                </a:solidFill>
                <a:latin typeface="Heebo"/>
                <a:cs typeface="Heebo"/>
              </a:rPr>
              <a:t>צילום: שלמה רודד, פיקיוויקי, CC BY 2.5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6370167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7.10.2023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בבוקר, מחבלי חמאס תוקפים את מסיבת ״נובה״ ליד קיבוץ רעים.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370167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הטבח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מאות צעירים שבאו לרקוד נרצחים, ורבים נחטפים לעזה.</a:t>
            </a:r>
            <a:endParaRPr lang="he-IL" sz="2100"/>
          </a:p>
        </p:txBody>
      </p:sp>
      <p:sp>
        <p:nvSpPr>
          <p:cNvPr id="9" name="TextBox 8"/>
          <p:cNvSpPr txBox="1"/>
          <p:nvPr/>
        </p:nvSpPr>
        <p:spPr>
          <a:xfrm>
            <a:off x="6370167" y="5550407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ההלם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עומר אדם כותב שלקח לו זמן לעכל, ש״רצחו אותנו, את כולנו״.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26.10.2023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״תרקוד לנצח״ יוצא, מוקדש לנרצחי המסיבה ולמשפחותיהם.</a:t>
            </a:r>
            <a:endParaRPr lang="he-IL" sz="2100"/>
          </a:p>
        </p:txBody>
      </p:sp>
      <p:sp>
        <p:nvSpPr>
          <p:cNvPr id="11" name="TextBox 10"/>
          <p:cNvSpPr txBox="1"/>
          <p:nvPr/>
        </p:nvSpPr>
        <p:spPr>
          <a:xfrm>
            <a:off x="640080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התגובה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תוך עשר שעות השיר מגיע ל-100 אלף צפיות ביוטיוב.</a:t>
            </a:r>
            <a:endParaRPr lang="he-IL" sz="2100"/>
          </a:p>
        </p:txBody>
      </p:sp>
      <p:sp>
        <p:nvSpPr>
          <p:cNvPr id="12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F6EEE6"/>
                </a:solidFill>
                <a:latin typeface="Heebo"/>
                <a:cs typeface="Heebo"/>
              </a:rPr>
              <a:t>ריקוד הוא רגע של שמחה.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F4B56A"/>
                </a:solidFill>
                <a:latin typeface="Bellefair"/>
                <a:cs typeface="Bellefair"/>
              </a:rPr>
              <a:t>בשיר הוא הופך לזיכרון.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הם ימשיכו לרקוד, כל עוד זוכרים אותם.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