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1800" b="0">
                <a:solidFill>
                  <a:srgbClr val="F4B56A"/>
                </a:solidFill>
                <a:latin typeface="Heebo"/>
                <a:cs typeface="Heebo"/>
              </a:rPr>
              <a:t>הערכה חלופית בספרות · שכבה ט׳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40080" y="1417320"/>
            <a:ext cx="10911535" cy="23774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90000"/>
              </a:lnSpc>
              <a:buNone/>
            </a:pPr>
            <a:r>
              <a:rPr lang="he-IL" altLang="en-US" sz="12400" b="0">
                <a:solidFill>
                  <a:srgbClr val="F6EEE6"/>
                </a:solidFill>
                <a:latin typeface="Bellefair"/>
                <a:cs typeface="Bellefair"/>
              </a:rPr>
              <a:t>תרקוד לנצח</a:t>
            </a:r>
            <a:endParaRPr lang="he-IL" sz="12400"/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3400" b="0">
                <a:solidFill>
                  <a:srgbClr val="F4B56A"/>
                </a:solidFill>
                <a:latin typeface="Bellefair"/>
                <a:cs typeface="Bellefair"/>
              </a:rPr>
              <a:t>עומר אדם ואינפקטד מאשרום</a:t>
            </a:r>
            <a:endParaRPr lang="he-IL" sz="3400"/>
          </a:p>
        </p:txBody>
      </p:sp>
      <p:sp>
        <p:nvSpPr>
          <p:cNvPr id="6" name="TextBox 5"/>
          <p:cNvSpPr txBox="1"/>
          <p:nvPr/>
        </p:nvSpPr>
        <p:spPr>
          <a:xfrm>
            <a:off x="640080" y="46177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2200" b="0">
                <a:solidFill>
                  <a:srgbClr val="CBC2D2"/>
                </a:solidFill>
                <a:latin typeface="Heebo Light"/>
                <a:cs typeface="Heebo Light"/>
              </a:rPr>
              <a:t>לזכר נרצחי מסיבת הנובה</a:t>
            </a:r>
            <a:endParaRPr lang="he-IL" sz="2200"/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ctr" rtl="1">
              <a:buNone/>
            </a:pPr>
            <a:r>
              <a:rPr lang="he-IL" altLang="en-US" sz="2000" b="0">
                <a:solidFill>
                  <a:srgbClr val="CBC2D2"/>
                </a:solidFill>
                <a:latin typeface="Heebo Light"/>
                <a:cs typeface="Heebo Light"/>
              </a:rPr>
              <a:t>שמות המגישים</a:t>
            </a:r>
            <a:endParaRPr lang="he-IL" sz="20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6EEE6"/>
                </a:solidFill>
                <a:latin typeface="Bellefair"/>
                <a:cs typeface="Bellefair"/>
              </a:rPr>
              <a:t>הקטע שבחרנו</a:t>
            </a:r>
            <a:endParaRPr lang="he-IL" sz="4400"/>
          </a:p>
        </p:txBody>
      </p:sp>
      <p:sp>
        <p:nvSpPr>
          <p:cNvPr id="4" name="TextBox 3"/>
          <p:cNvSpPr txBox="1"/>
          <p:nvPr/>
        </p:nvSpPr>
        <p:spPr>
          <a:xfrm>
            <a:off x="6629400" y="1417320"/>
            <a:ext cx="4922215" cy="9144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9600" b="0">
                <a:solidFill>
                  <a:srgbClr val="F4B56A"/>
                </a:solidFill>
                <a:latin typeface="Bellefair"/>
                <a:cs typeface="Bellefair"/>
              </a:rPr>
              <a:t>״</a:t>
            </a:r>
            <a:endParaRPr lang="he-IL" sz="9600"/>
          </a:p>
        </p:txBody>
      </p:sp>
      <p:sp>
        <p:nvSpPr>
          <p:cNvPr id="5" name="TextBox 4"/>
          <p:cNvSpPr txBox="1"/>
          <p:nvPr/>
        </p:nvSpPr>
        <p:spPr>
          <a:xfrm>
            <a:off x="6629400" y="2240280"/>
            <a:ext cx="4922215" cy="3108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6EEE6"/>
                </a:solidFill>
                <a:latin typeface="Bellefair"/>
                <a:cs typeface="Bellefair"/>
              </a:rPr>
              <a:t>עכשיו נשאר לי רק</a:t>
            </a:r>
            <a:endParaRPr lang="he-IL" sz="30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4B56A"/>
                </a:solidFill>
                <a:latin typeface="Bellefair"/>
                <a:cs typeface="Bellefair"/>
              </a:rPr>
              <a:t>שקט</a:t>
            </a:r>
            <a:endParaRPr lang="he-IL" sz="30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6EEE6"/>
                </a:solidFill>
                <a:latin typeface="Bellefair"/>
                <a:cs typeface="Bellefair"/>
              </a:rPr>
              <a:t>ואין לי אף אחד</a:t>
            </a:r>
            <a:endParaRPr lang="he-IL" sz="30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6EEE6"/>
                </a:solidFill>
                <a:latin typeface="Bellefair"/>
                <a:cs typeface="Bellefair"/>
              </a:rPr>
              <a:t>הלב שלי </a:t>
            </a:r>
            <a:r>
              <a:rPr lang="he-IL" altLang="en-US" sz="3000" b="0">
                <a:solidFill>
                  <a:srgbClr val="F4B56A"/>
                </a:solidFill>
                <a:latin typeface="Bellefair"/>
                <a:cs typeface="Bellefair"/>
              </a:rPr>
              <a:t>צורח</a:t>
            </a:r>
            <a:endParaRPr lang="he-IL" sz="30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6EEE6"/>
                </a:solidFill>
                <a:latin typeface="Bellefair"/>
                <a:cs typeface="Bellefair"/>
              </a:rPr>
              <a:t>כי היא תרקוד לנצח</a:t>
            </a:r>
            <a:endParaRPr lang="he-IL" sz="3000"/>
          </a:p>
        </p:txBody>
      </p:sp>
      <p:sp>
        <p:nvSpPr>
          <p:cNvPr id="6" name="TextBox 5"/>
          <p:cNvSpPr txBox="1"/>
          <p:nvPr/>
        </p:nvSpPr>
        <p:spPr>
          <a:xfrm>
            <a:off x="6629400" y="5669280"/>
            <a:ext cx="492221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600" b="0">
                <a:solidFill>
                  <a:srgbClr val="CBC2D2"/>
                </a:solidFill>
                <a:latin typeface="Heebo Light"/>
                <a:cs typeface="Heebo Light"/>
              </a:rPr>
              <a:t>״תרקוד לנצח״, עומר אדם</a:t>
            </a:r>
            <a:endParaRPr lang="he-IL" sz="1600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4B56A"/>
                </a:solidFill>
                <a:latin typeface="Heebo"/>
                <a:cs typeface="Heebo"/>
              </a:rPr>
              <a:t>למה בחרנו בקטע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F6EEE6"/>
                </a:solidFill>
                <a:latin typeface="Heebo Light"/>
                <a:cs typeface="Heebo Light"/>
              </a:rPr>
              <a:t>בפזמון יש קפיצה חדה. השיר מתחיל במסיבה, ופתאום נשארת רק המילה ״שקט״, בשורה משלה. הלב ״צורח״, והיא ״תרקוד לנצח״, כי היא כבר לא תחזור.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4B56A"/>
                </a:solidFill>
                <a:latin typeface="Heebo"/>
                <a:cs typeface="Heebo"/>
              </a:rPr>
              <a:t>החיבור האישי שלנו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F6EEE6"/>
                </a:solidFill>
                <a:latin typeface="Heebo Light"/>
                <a:cs typeface="Heebo Light"/>
              </a:rPr>
              <a:t>רבים מהנרצחים בנובה היו צעירים רק בכמה שנים מאיתנו. השיר גרם לנו לחשוב על כמה החופש לשמוח ולרקוד יקר, ועל כך שצריך לזכור אותם.</a:t>
            </a:r>
            <a:endParaRPr lang="he-IL" sz="2200"/>
          </a:p>
        </p:txBody>
      </p:sp>
      <p:sp>
        <p:nvSpPr>
          <p:cNvPr id="9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CBC2D2"/>
                </a:solidFill>
                <a:latin typeface="Heebo"/>
                <a:cs typeface="Heebo"/>
              </a:rPr>
              <a:t>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adam.jpg"/>
          <p:cNvPicPr>
            <a:picLocks noChangeAspect="1"/>
          </p:cNvPicPr>
          <p:nvPr/>
        </p:nvPicPr>
        <p:blipFill>
          <a:blip r:embed="rId3"/>
          <a:srcRect l="2500" r="2500"/>
          <a:stretch>
            <a:fillRect/>
          </a:stretch>
        </p:blipFill>
        <p:spPr>
          <a:xfrm>
            <a:off x="7848295" y="0"/>
            <a:ext cx="4343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31175" y="6510528"/>
            <a:ext cx="3977639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000" b="0">
                <a:solidFill>
                  <a:srgbClr val="EEEEEE"/>
                </a:solidFill>
                <a:latin typeface="Heebo"/>
                <a:cs typeface="Heebo"/>
              </a:rPr>
              <a:t>צילום: שי פרנקו, ויקישיתוף, CC BY-SA 3.0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640080" y="457200"/>
            <a:ext cx="665957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6EEE6"/>
                </a:solidFill>
                <a:latin typeface="Bellefair"/>
                <a:cs typeface="Bellefair"/>
              </a:rPr>
              <a:t>עומר אדם</a:t>
            </a:r>
            <a:endParaRPr lang="he-IL" sz="4400"/>
          </a:p>
        </p:txBody>
      </p:sp>
      <p:sp>
        <p:nvSpPr>
          <p:cNvPr id="6" name="TextBox 5"/>
          <p:cNvSpPr txBox="1"/>
          <p:nvPr/>
        </p:nvSpPr>
        <p:spPr>
          <a:xfrm>
            <a:off x="6065215" y="15544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4B56A"/>
                </a:solidFill>
                <a:latin typeface="Bellefair"/>
                <a:cs typeface="Bellefair"/>
              </a:rPr>
              <a:t>1993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6EEE6"/>
                </a:solidFill>
                <a:latin typeface="Heebo Light"/>
                <a:cs typeface="Heebo Light"/>
              </a:rPr>
              <a:t>נולד בצפון קרוליינה, ועלה לארץ עם משפחתו בגיל שלוש.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2395728"/>
            <a:ext cx="6659575" cy="0"/>
          </a:xfrm>
          <a:prstGeom prst="line">
            <a:avLst/>
          </a:prstGeom>
          <a:ln w="9525">
            <a:solidFill>
              <a:srgbClr val="4A437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065215" y="2505456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4B56A"/>
                </a:solidFill>
                <a:latin typeface="Bellefair"/>
                <a:cs typeface="Bellefair"/>
              </a:rPr>
              <a:t>2010</a:t>
            </a:r>
            <a:endParaRPr lang="he-IL" sz="2400"/>
          </a:p>
        </p:txBody>
      </p:sp>
      <p:sp>
        <p:nvSpPr>
          <p:cNvPr id="10" name="TextBox 9"/>
          <p:cNvSpPr txBox="1"/>
          <p:nvPr/>
        </p:nvSpPr>
        <p:spPr>
          <a:xfrm>
            <a:off x="640080" y="2523744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6EEE6"/>
                </a:solidFill>
                <a:latin typeface="Heebo Light"/>
                <a:cs typeface="Heebo Light"/>
              </a:rPr>
              <a:t>הוציא את אלבום הבכורה ״נמס ממך״.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640080" y="3346704"/>
            <a:ext cx="6659575" cy="0"/>
          </a:xfrm>
          <a:prstGeom prst="line">
            <a:avLst/>
          </a:prstGeom>
          <a:ln w="9525">
            <a:solidFill>
              <a:srgbClr val="4A437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065215" y="3456432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4B56A"/>
                </a:solidFill>
                <a:latin typeface="Bellefair"/>
                <a:cs typeface="Bellefair"/>
              </a:rPr>
              <a:t>2016</a:t>
            </a:r>
            <a:endParaRPr lang="he-IL" sz="2400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6EEE6"/>
                </a:solidFill>
                <a:latin typeface="Heebo Light"/>
                <a:cs typeface="Heebo Light"/>
              </a:rPr>
              <a:t>קיבל פרס אקו״ם על ״אחרי כל השנים״.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640080" y="4297680"/>
            <a:ext cx="6659575" cy="0"/>
          </a:xfrm>
          <a:prstGeom prst="line">
            <a:avLst/>
          </a:prstGeom>
          <a:ln w="9525">
            <a:solidFill>
              <a:srgbClr val="4A437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065215" y="4407408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4B56A"/>
                </a:solidFill>
                <a:latin typeface="Bellefair"/>
                <a:cs typeface="Bellefair"/>
              </a:rPr>
              <a:t>2019</a:t>
            </a:r>
            <a:endParaRPr lang="he-IL" sz="2400"/>
          </a:p>
        </p:txBody>
      </p:sp>
      <p:sp>
        <p:nvSpPr>
          <p:cNvPr id="16" name="TextBox 15"/>
          <p:cNvSpPr txBox="1"/>
          <p:nvPr/>
        </p:nvSpPr>
        <p:spPr>
          <a:xfrm>
            <a:off x="640080" y="4425696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6EEE6"/>
                </a:solidFill>
                <a:latin typeface="Heebo Light"/>
                <a:cs typeface="Heebo Light"/>
              </a:rPr>
              <a:t>הופיע בפארק הירקון מול כ-50 אלף איש.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640080" y="5248656"/>
            <a:ext cx="6659575" cy="0"/>
          </a:xfrm>
          <a:prstGeom prst="line">
            <a:avLst/>
          </a:prstGeom>
          <a:ln w="9525">
            <a:solidFill>
              <a:srgbClr val="4A437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065215" y="53583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F4B56A"/>
                </a:solidFill>
                <a:latin typeface="Bellefair"/>
                <a:cs typeface="Bellefair"/>
              </a:rPr>
              <a:t>2023</a:t>
            </a:r>
            <a:endParaRPr lang="he-IL" sz="2400"/>
          </a:p>
        </p:txBody>
      </p:sp>
      <p:sp>
        <p:nvSpPr>
          <p:cNvPr id="19" name="TextBox 18"/>
          <p:cNvSpPr txBox="1"/>
          <p:nvPr/>
        </p:nvSpPr>
        <p:spPr>
          <a:xfrm>
            <a:off x="640080" y="5376672"/>
            <a:ext cx="519653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F6EEE6"/>
                </a:solidFill>
                <a:latin typeface="Heebo Light"/>
                <a:cs typeface="Heebo Light"/>
              </a:rPr>
              <a:t>במלחמה הופיע בכיכר החטופים ועזר לחיילים להגיע הביתה.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CBC2D2"/>
                </a:solidFill>
                <a:latin typeface="Heebo"/>
                <a:cs typeface="Heebo"/>
              </a:rPr>
              <a:t>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6EEE6"/>
                </a:solidFill>
                <a:latin typeface="Bellefair"/>
                <a:cs typeface="Bellefair"/>
              </a:rPr>
              <a:t>מילות השיר</a:t>
            </a:r>
            <a:endParaRPr lang="he-IL" sz="4400"/>
          </a:p>
        </p:txBody>
      </p:sp>
      <p:sp>
        <p:nvSpPr>
          <p:cNvPr id="4" name="Lyrics placeholder"/>
          <p:cNvSpPr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  <a:ln w="15875">
            <a:solidFill>
              <a:srgbClr val="4A4370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" name="Lyrics"/>
          <p:cNvSpPr txBox="1"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spcAft>
                <a:spcPts val="800"/>
              </a:spcAft>
              <a:buNone/>
            </a:pPr>
            <a:r>
              <a:rPr lang="he-IL" altLang="en-US" sz="2600" b="0">
                <a:solidFill>
                  <a:srgbClr val="CBC2D2"/>
                </a:solidFill>
                <a:latin typeface="Bellefair"/>
                <a:cs typeface="Bellefair"/>
              </a:rPr>
              <a:t>כאן יודבקו מילות השיר המלאות</a:t>
            </a:r>
            <a:endParaRPr lang="he-IL" sz="2600"/>
          </a:p>
          <a:p>
            <a:pPr algn="ctr" rtl="1">
              <a:buNone/>
            </a:pPr>
            <a:r>
              <a:rPr lang="he-IL" altLang="en-US" sz="1800" b="0">
                <a:solidFill>
                  <a:srgbClr val="CBC2D2"/>
                </a:solidFill>
                <a:latin typeface="Heebo Light"/>
                <a:cs typeface="Heebo Light"/>
              </a:rPr>
              <a:t>לפי חלוקת הבתים והשורות המקורית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400" b="0">
                <a:solidFill>
                  <a:srgbClr val="CBC2D2"/>
                </a:solidFill>
                <a:latin typeface="Heebo Light"/>
                <a:cs typeface="Heebo Light"/>
              </a:rPr>
              <a:t>מילים ולחן: שרק · ביצוע: עומר אדם ואינפקטד מאשרום · יצא ב-26 באוקטובר 2023</a:t>
            </a:r>
            <a:endParaRPr lang="he-IL" sz="14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CBC2D2"/>
                </a:solidFill>
                <a:latin typeface="Heebo"/>
                <a:cs typeface="Heebo"/>
              </a:rPr>
              <a:t>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0" y="411480"/>
            <a:ext cx="55165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CBC2D2"/>
                </a:solidFill>
                <a:latin typeface="Heebo"/>
                <a:cs typeface="Heebo"/>
              </a:rPr>
              <a:t>מושג ראשון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31520"/>
            <a:ext cx="5516575" cy="9601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200" b="0">
                <a:solidFill>
                  <a:srgbClr val="F4B56A"/>
                </a:solidFill>
                <a:latin typeface="Bellefair"/>
                <a:cs typeface="Bellefair"/>
              </a:rPr>
              <a:t>ניגוד</a:t>
            </a:r>
            <a:endParaRPr lang="he-IL" sz="5200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CBC2D2"/>
                </a:solidFill>
                <a:latin typeface="Heebo Light"/>
                <a:cs typeface="Heebo Light"/>
              </a:rPr>
              <a:t>העמדה של שני דברים הפוכים זה מול זה, כדי להבליט את ההבדל ביניהם.</a:t>
            </a:r>
            <a:endParaRPr lang="he-IL" sz="2000"/>
          </a:p>
        </p:txBody>
      </p:sp>
      <p:sp>
        <p:nvSpPr>
          <p:cNvPr id="6" name="Quote band"/>
          <p:cNvSpPr/>
          <p:nvPr/>
        </p:nvSpPr>
        <p:spPr>
          <a:xfrm>
            <a:off x="0" y="1920240"/>
            <a:ext cx="12191695" cy="1965960"/>
          </a:xfrm>
          <a:prstGeom prst="rect">
            <a:avLst/>
          </a:prstGeom>
          <a:solidFill>
            <a:srgbClr val="2A23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11535" cy="1965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F4B56A"/>
                </a:solidFill>
                <a:latin typeface="Bellefair"/>
                <a:cs typeface="Bellefair"/>
              </a:rPr>
              <a:t>שקט</a:t>
            </a:r>
            <a:endParaRPr lang="he-IL" sz="34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F6EEE6"/>
                </a:solidFill>
                <a:latin typeface="Bellefair"/>
                <a:cs typeface="Bellefair"/>
              </a:rPr>
              <a:t>ואין לי אף אחד</a:t>
            </a:r>
            <a:endParaRPr lang="he-IL" sz="34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F6EEE6"/>
                </a:solidFill>
                <a:latin typeface="Bellefair"/>
                <a:cs typeface="Bellefair"/>
              </a:rPr>
              <a:t>הלב שלי </a:t>
            </a:r>
            <a:r>
              <a:rPr lang="he-IL" altLang="en-US" sz="3400" b="0">
                <a:solidFill>
                  <a:srgbClr val="F4B56A"/>
                </a:solidFill>
                <a:latin typeface="Bellefair"/>
                <a:cs typeface="Bellefair"/>
              </a:rPr>
              <a:t>צורח</a:t>
            </a:r>
            <a:endParaRPr lang="he-IL" sz="3400"/>
          </a:p>
        </p:txBody>
      </p:sp>
      <p:sp>
        <p:nvSpPr>
          <p:cNvPr id="8" name="TextBox 7"/>
          <p:cNvSpPr txBox="1"/>
          <p:nvPr/>
        </p:nvSpPr>
        <p:spPr>
          <a:xfrm>
            <a:off x="6355080" y="4206240"/>
            <a:ext cx="5196535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4B56A"/>
                </a:solidFill>
                <a:latin typeface="Heebo"/>
                <a:cs typeface="Heebo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6EEE6"/>
                </a:solidFill>
                <a:latin typeface="Heebo Light"/>
                <a:cs typeface="Heebo Light"/>
              </a:rPr>
              <a:t>מסביב יש ״שקט״, ובפנים הלב ״צורח״. גם הריקוד, שהוא שמחה, עומד מול המוות.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52578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4B56A"/>
                </a:solidFill>
                <a:latin typeface="Heebo"/>
                <a:cs typeface="Heebo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6EEE6"/>
                </a:solidFill>
                <a:latin typeface="Heebo Light"/>
                <a:cs typeface="Heebo Light"/>
              </a:rPr>
              <a:t>הניגוד מראה כמה מהר הפכה מסיבה של שמחה לאסון. אחרי המוזיקה נשאר רק שקט.</a:t>
            </a:r>
            <a:endParaRPr lang="he-IL" sz="2200"/>
          </a:p>
        </p:txBody>
      </p:sp>
      <p:sp>
        <p:nvSpPr>
          <p:cNvPr id="1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CBC2D2"/>
                </a:solidFill>
                <a:latin typeface="Heebo"/>
                <a:cs typeface="Heebo"/>
              </a:rPr>
              <a:t>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0" y="411480"/>
            <a:ext cx="55165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CBC2D2"/>
                </a:solidFill>
                <a:latin typeface="Heebo"/>
                <a:cs typeface="Heebo"/>
              </a:rPr>
              <a:t>מושג שני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31520"/>
            <a:ext cx="5516575" cy="9601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200" b="0">
                <a:solidFill>
                  <a:srgbClr val="F4B56A"/>
                </a:solidFill>
                <a:latin typeface="Bellefair"/>
                <a:cs typeface="Bellefair"/>
              </a:rPr>
              <a:t>מטאפורה</a:t>
            </a:r>
            <a:endParaRPr lang="he-IL" sz="5200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CBC2D2"/>
                </a:solidFill>
                <a:latin typeface="Heebo Light"/>
                <a:cs typeface="Heebo Light"/>
              </a:rPr>
              <a:t>תיאור של דבר אחד באמצעות דבר מעולם אחר, בלי מילת דימוי כמו ״כמו״ או ״כְּ״.</a:t>
            </a:r>
            <a:endParaRPr lang="he-IL" sz="2000"/>
          </a:p>
        </p:txBody>
      </p:sp>
      <p:sp>
        <p:nvSpPr>
          <p:cNvPr id="6" name="Quote band"/>
          <p:cNvSpPr/>
          <p:nvPr/>
        </p:nvSpPr>
        <p:spPr>
          <a:xfrm>
            <a:off x="0" y="1920240"/>
            <a:ext cx="12191695" cy="1965960"/>
          </a:xfrm>
          <a:prstGeom prst="rect">
            <a:avLst/>
          </a:prstGeom>
          <a:solidFill>
            <a:srgbClr val="2A235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11535" cy="1965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F4B56A"/>
                </a:solidFill>
                <a:latin typeface="Bellefair"/>
                <a:cs typeface="Bellefair"/>
              </a:rPr>
              <a:t>הלב שוכב בחול</a:t>
            </a:r>
            <a:r>
              <a:rPr lang="he-IL" altLang="en-US" sz="3400" b="0">
                <a:solidFill>
                  <a:srgbClr val="F6EEE6"/>
                </a:solidFill>
                <a:latin typeface="Bellefair"/>
                <a:cs typeface="Bellefair"/>
              </a:rPr>
              <a:t> איתך</a:t>
            </a:r>
            <a:endParaRPr lang="he-IL" sz="34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400" b="0">
                <a:solidFill>
                  <a:srgbClr val="F6EEE6"/>
                </a:solidFill>
                <a:latin typeface="Bellefair"/>
                <a:cs typeface="Bellefair"/>
              </a:rPr>
              <a:t>הראש בעננים</a:t>
            </a:r>
            <a:endParaRPr lang="he-IL" sz="3400"/>
          </a:p>
        </p:txBody>
      </p:sp>
      <p:sp>
        <p:nvSpPr>
          <p:cNvPr id="8" name="TextBox 7"/>
          <p:cNvSpPr txBox="1"/>
          <p:nvPr/>
        </p:nvSpPr>
        <p:spPr>
          <a:xfrm>
            <a:off x="6355080" y="4206240"/>
            <a:ext cx="5196535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4B56A"/>
                </a:solidFill>
                <a:latin typeface="Heebo"/>
                <a:cs typeface="Heebo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6EEE6"/>
                </a:solidFill>
                <a:latin typeface="Heebo Light"/>
                <a:cs typeface="Heebo Light"/>
              </a:rPr>
              <a:t>הלב ״שוכב בחול״ עם מי שנרצחה, כאילו נקבר איתה. המסיבה הייתה בשטח חולי ליד רעים.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52578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F4B56A"/>
                </a:solidFill>
                <a:latin typeface="Heebo"/>
                <a:cs typeface="Heebo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F6EEE6"/>
                </a:solidFill>
                <a:latin typeface="Heebo Light"/>
                <a:cs typeface="Heebo Light"/>
              </a:rPr>
              <a:t>המטאפורה מראה שחלק מהדובר מת יחד איתה. הוא חי, אבל הלב שלו נשאר שם.</a:t>
            </a:r>
            <a:endParaRPr lang="he-IL" sz="2200"/>
          </a:p>
        </p:txBody>
      </p:sp>
      <p:sp>
        <p:nvSpPr>
          <p:cNvPr id="1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CBC2D2"/>
                </a:solidFill>
                <a:latin typeface="Heebo"/>
                <a:cs typeface="Heebo"/>
              </a:rPr>
              <a:t>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6EEE6"/>
                </a:solidFill>
                <a:latin typeface="Bellefair"/>
                <a:cs typeface="Bellefair"/>
              </a:rPr>
              <a:t>מילים שמעוררות את המלחמה</a:t>
            </a:r>
            <a:endParaRPr lang="he-IL" sz="4400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CBC2D2"/>
                </a:solidFill>
                <a:latin typeface="Heebo Light"/>
                <a:cs typeface="Heebo Light"/>
              </a:rPr>
              <a:t>מילים מהשיר שמחזירות אותנו אל הבוקר ההוא במסיבה</a:t>
            </a:r>
            <a:endParaRPr lang="he-IL" sz="2000"/>
          </a:p>
        </p:txBody>
      </p:sp>
      <p:sp>
        <p:nvSpPr>
          <p:cNvPr id="5" name="TextBox 4"/>
          <p:cNvSpPr txBox="1"/>
          <p:nvPr/>
        </p:nvSpPr>
        <p:spPr>
          <a:xfrm>
            <a:off x="10774375" y="196596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F4B56A"/>
                </a:solidFill>
                <a:latin typeface="Bellefair"/>
                <a:cs typeface="Bellefair"/>
              </a:rPr>
              <a:t>01</a:t>
            </a:r>
            <a:endParaRPr lang="he-IL" sz="2600"/>
          </a:p>
        </p:txBody>
      </p:sp>
      <p:sp>
        <p:nvSpPr>
          <p:cNvPr id="6" name="TextBox 5"/>
          <p:cNvSpPr txBox="1"/>
          <p:nvPr/>
        </p:nvSpPr>
        <p:spPr>
          <a:xfrm>
            <a:off x="6461607" y="1965960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F6EEE6"/>
                </a:solidFill>
                <a:latin typeface="Bellefair"/>
                <a:cs typeface="Bellefair"/>
              </a:rPr>
              <a:t>הלב שוכב בחול</a:t>
            </a:r>
            <a:endParaRPr lang="he-IL" sz="3200"/>
          </a:p>
        </p:txBody>
      </p:sp>
      <p:cxnSp>
        <p:nvCxnSpPr>
          <p:cNvPr id="7" name="Connector 6"/>
          <p:cNvCxnSpPr/>
          <p:nvPr/>
        </p:nvCxnSpPr>
        <p:spPr>
          <a:xfrm>
            <a:off x="6461607" y="2880360"/>
            <a:ext cx="5090008" cy="0"/>
          </a:xfrm>
          <a:prstGeom prst="line">
            <a:avLst/>
          </a:prstGeom>
          <a:ln w="9525">
            <a:solidFill>
              <a:srgbClr val="4A4370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0774375" y="2990088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F4B56A"/>
                </a:solidFill>
                <a:latin typeface="Bellefair"/>
                <a:cs typeface="Bellefair"/>
              </a:rPr>
              <a:t>02</a:t>
            </a:r>
            <a:endParaRPr lang="he-IL" sz="2600"/>
          </a:p>
        </p:txBody>
      </p:sp>
      <p:sp>
        <p:nvSpPr>
          <p:cNvPr id="9" name="TextBox 8"/>
          <p:cNvSpPr txBox="1"/>
          <p:nvPr/>
        </p:nvSpPr>
        <p:spPr>
          <a:xfrm>
            <a:off x="6461607" y="2990088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F6EEE6"/>
                </a:solidFill>
                <a:latin typeface="Bellefair"/>
                <a:cs typeface="Bellefair"/>
              </a:rPr>
              <a:t>שקט</a:t>
            </a:r>
            <a:endParaRPr lang="he-IL" sz="3200"/>
          </a:p>
        </p:txBody>
      </p:sp>
      <p:cxnSp>
        <p:nvCxnSpPr>
          <p:cNvPr id="10" name="Connector 9"/>
          <p:cNvCxnSpPr/>
          <p:nvPr/>
        </p:nvCxnSpPr>
        <p:spPr>
          <a:xfrm>
            <a:off x="6461607" y="3904488"/>
            <a:ext cx="5090008" cy="0"/>
          </a:xfrm>
          <a:prstGeom prst="line">
            <a:avLst/>
          </a:prstGeom>
          <a:ln w="9525">
            <a:solidFill>
              <a:srgbClr val="4A4370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10774375" y="4014216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F4B56A"/>
                </a:solidFill>
                <a:latin typeface="Bellefair"/>
                <a:cs typeface="Bellefair"/>
              </a:rPr>
              <a:t>03</a:t>
            </a:r>
            <a:endParaRPr lang="he-IL" sz="2600"/>
          </a:p>
        </p:txBody>
      </p:sp>
      <p:sp>
        <p:nvSpPr>
          <p:cNvPr id="12" name="TextBox 11"/>
          <p:cNvSpPr txBox="1"/>
          <p:nvPr/>
        </p:nvSpPr>
        <p:spPr>
          <a:xfrm>
            <a:off x="6461607" y="4014216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F6EEE6"/>
                </a:solidFill>
                <a:latin typeface="Bellefair"/>
                <a:cs typeface="Bellefair"/>
              </a:rPr>
              <a:t>הלב שלי צורח</a:t>
            </a:r>
            <a:endParaRPr lang="he-IL" sz="3200"/>
          </a:p>
        </p:txBody>
      </p:sp>
      <p:cxnSp>
        <p:nvCxnSpPr>
          <p:cNvPr id="13" name="Connector 12"/>
          <p:cNvCxnSpPr/>
          <p:nvPr/>
        </p:nvCxnSpPr>
        <p:spPr>
          <a:xfrm>
            <a:off x="6461607" y="4928616"/>
            <a:ext cx="5090008" cy="0"/>
          </a:xfrm>
          <a:prstGeom prst="line">
            <a:avLst/>
          </a:prstGeom>
          <a:ln w="9525">
            <a:solidFill>
              <a:srgbClr val="4A4370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0774375" y="5038344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F4B56A"/>
                </a:solidFill>
                <a:latin typeface="Bellefair"/>
                <a:cs typeface="Bellefair"/>
              </a:rPr>
              <a:t>04</a:t>
            </a:r>
            <a:endParaRPr lang="he-IL" sz="2600"/>
          </a:p>
        </p:txBody>
      </p:sp>
      <p:sp>
        <p:nvSpPr>
          <p:cNvPr id="15" name="TextBox 14"/>
          <p:cNvSpPr txBox="1"/>
          <p:nvPr/>
        </p:nvSpPr>
        <p:spPr>
          <a:xfrm>
            <a:off x="6461607" y="5038344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F6EEE6"/>
                </a:solidFill>
                <a:latin typeface="Bellefair"/>
                <a:cs typeface="Bellefair"/>
              </a:rPr>
              <a:t>מלאך של אלוהים</a:t>
            </a:r>
            <a:endParaRPr lang="he-IL" sz="3200"/>
          </a:p>
        </p:txBody>
      </p:sp>
      <p:sp>
        <p:nvSpPr>
          <p:cNvPr id="16" name="TextBox 15"/>
          <p:cNvSpPr txBox="1"/>
          <p:nvPr/>
        </p:nvSpPr>
        <p:spPr>
          <a:xfrm>
            <a:off x="4952847" y="196596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F4B56A"/>
                </a:solidFill>
                <a:latin typeface="Bellefair"/>
                <a:cs typeface="Bellefair"/>
              </a:rPr>
              <a:t>05</a:t>
            </a:r>
            <a:endParaRPr lang="he-IL" sz="2600"/>
          </a:p>
        </p:txBody>
      </p:sp>
      <p:sp>
        <p:nvSpPr>
          <p:cNvPr id="17" name="TextBox 16"/>
          <p:cNvSpPr txBox="1"/>
          <p:nvPr/>
        </p:nvSpPr>
        <p:spPr>
          <a:xfrm>
            <a:off x="640080" y="1965960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F6EEE6"/>
                </a:solidFill>
                <a:latin typeface="Bellefair"/>
                <a:cs typeface="Bellefair"/>
              </a:rPr>
              <a:t>משחק באש</a:t>
            </a:r>
            <a:endParaRPr lang="he-IL" sz="3200"/>
          </a:p>
        </p:txBody>
      </p:sp>
      <p:cxnSp>
        <p:nvCxnSpPr>
          <p:cNvPr id="18" name="Connector 17"/>
          <p:cNvCxnSpPr/>
          <p:nvPr/>
        </p:nvCxnSpPr>
        <p:spPr>
          <a:xfrm>
            <a:off x="640080" y="2880360"/>
            <a:ext cx="5090007" cy="0"/>
          </a:xfrm>
          <a:prstGeom prst="line">
            <a:avLst/>
          </a:prstGeom>
          <a:ln w="9525">
            <a:solidFill>
              <a:srgbClr val="4A437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952847" y="2990088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F4B56A"/>
                </a:solidFill>
                <a:latin typeface="Bellefair"/>
                <a:cs typeface="Bellefair"/>
              </a:rPr>
              <a:t>06</a:t>
            </a:r>
            <a:endParaRPr lang="he-IL" sz="2600"/>
          </a:p>
        </p:txBody>
      </p:sp>
      <p:sp>
        <p:nvSpPr>
          <p:cNvPr id="20" name="TextBox 19"/>
          <p:cNvSpPr txBox="1"/>
          <p:nvPr/>
        </p:nvSpPr>
        <p:spPr>
          <a:xfrm>
            <a:off x="640080" y="2990088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F6EEE6"/>
                </a:solidFill>
                <a:latin typeface="Bellefair"/>
                <a:cs typeface="Bellefair"/>
              </a:rPr>
              <a:t>הלב שלי נשבר</a:t>
            </a:r>
            <a:endParaRPr lang="he-IL" sz="3200"/>
          </a:p>
        </p:txBody>
      </p:sp>
      <p:cxnSp>
        <p:nvCxnSpPr>
          <p:cNvPr id="21" name="Connector 20"/>
          <p:cNvCxnSpPr/>
          <p:nvPr/>
        </p:nvCxnSpPr>
        <p:spPr>
          <a:xfrm>
            <a:off x="640080" y="3904488"/>
            <a:ext cx="5090007" cy="0"/>
          </a:xfrm>
          <a:prstGeom prst="line">
            <a:avLst/>
          </a:prstGeom>
          <a:ln w="9525">
            <a:solidFill>
              <a:srgbClr val="4A4370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4952847" y="4014216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F4B56A"/>
                </a:solidFill>
                <a:latin typeface="Bellefair"/>
                <a:cs typeface="Bellefair"/>
              </a:rPr>
              <a:t>07</a:t>
            </a:r>
            <a:endParaRPr lang="he-IL" sz="2600"/>
          </a:p>
        </p:txBody>
      </p:sp>
      <p:sp>
        <p:nvSpPr>
          <p:cNvPr id="23" name="TextBox 22"/>
          <p:cNvSpPr txBox="1"/>
          <p:nvPr/>
        </p:nvSpPr>
        <p:spPr>
          <a:xfrm>
            <a:off x="640080" y="4014216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F6EEE6"/>
                </a:solidFill>
                <a:latin typeface="Bellefair"/>
                <a:cs typeface="Bellefair"/>
              </a:rPr>
              <a:t>אין לי אף אחד</a:t>
            </a:r>
            <a:endParaRPr lang="he-IL" sz="3200"/>
          </a:p>
        </p:txBody>
      </p:sp>
      <p:cxnSp>
        <p:nvCxnSpPr>
          <p:cNvPr id="24" name="Connector 23"/>
          <p:cNvCxnSpPr/>
          <p:nvPr/>
        </p:nvCxnSpPr>
        <p:spPr>
          <a:xfrm>
            <a:off x="640080" y="4928616"/>
            <a:ext cx="5090007" cy="0"/>
          </a:xfrm>
          <a:prstGeom prst="line">
            <a:avLst/>
          </a:prstGeom>
          <a:ln w="9525">
            <a:solidFill>
              <a:srgbClr val="4A4370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4952847" y="5038344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F4B56A"/>
                </a:solidFill>
                <a:latin typeface="Bellefair"/>
                <a:cs typeface="Bellefair"/>
              </a:rPr>
              <a:t>08</a:t>
            </a:r>
            <a:endParaRPr lang="he-IL" sz="2600"/>
          </a:p>
        </p:txBody>
      </p:sp>
      <p:sp>
        <p:nvSpPr>
          <p:cNvPr id="26" name="TextBox 25"/>
          <p:cNvSpPr txBox="1"/>
          <p:nvPr/>
        </p:nvSpPr>
        <p:spPr>
          <a:xfrm>
            <a:off x="640080" y="5038344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F6EEE6"/>
                </a:solidFill>
                <a:latin typeface="Bellefair"/>
                <a:cs typeface="Bellefair"/>
              </a:rPr>
              <a:t>תרקוד לנצח</a:t>
            </a:r>
            <a:endParaRPr lang="he-IL" sz="3200"/>
          </a:p>
        </p:txBody>
      </p:sp>
      <p:sp>
        <p:nvSpPr>
          <p:cNvPr id="2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CBC2D2"/>
                </a:solidFill>
                <a:latin typeface="Heebo"/>
                <a:cs typeface="Heebo"/>
              </a:rPr>
              <a:t>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400" b="0">
                <a:solidFill>
                  <a:srgbClr val="F6EEE6"/>
                </a:solidFill>
                <a:latin typeface="Bellefair"/>
                <a:cs typeface="Bellefair"/>
              </a:rPr>
              <a:t>האירועים שהמילים מעוררות</a:t>
            </a:r>
            <a:endParaRPr lang="he-IL" sz="4400"/>
          </a:p>
        </p:txBody>
      </p:sp>
      <p:pic>
        <p:nvPicPr>
          <p:cNvPr id="4" name="Event photo" descr="ev_nova.jpg"/>
          <p:cNvPicPr>
            <a:picLocks noChangeAspect="1"/>
          </p:cNvPicPr>
          <p:nvPr/>
        </p:nvPicPr>
        <p:blipFill>
          <a:blip r:embed="rId3"/>
          <a:srcRect t="39000" b="39000"/>
          <a:stretch>
            <a:fillRect/>
          </a:stretch>
        </p:blipFill>
        <p:spPr>
          <a:xfrm>
            <a:off x="0" y="1325880"/>
            <a:ext cx="12191695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3383280"/>
            <a:ext cx="7528255" cy="5029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600" b="0">
                <a:solidFill>
                  <a:srgbClr val="CBC2D2"/>
                </a:solidFill>
                <a:latin typeface="Heebo Light"/>
                <a:cs typeface="Heebo Light"/>
              </a:rPr>
              <a:t>אתר מסיבת הנובה ליד רעים, פברואר 2025. משפחות הנרצחים הקימו כאן פינות הנצחה.</a:t>
            </a:r>
            <a:endParaRPr lang="he-IL" sz="1600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CBC2D2"/>
                </a:solidFill>
                <a:latin typeface="Heebo"/>
                <a:cs typeface="Heebo"/>
              </a:rPr>
              <a:t>צילום: שלמה רודד, פיקיוויקי, CC BY 2.5</a:t>
            </a:r>
            <a:endParaRPr lang="he-IL" sz="1000"/>
          </a:p>
        </p:txBody>
      </p:sp>
      <p:sp>
        <p:nvSpPr>
          <p:cNvPr id="7" name="TextBox 6"/>
          <p:cNvSpPr txBox="1"/>
          <p:nvPr/>
        </p:nvSpPr>
        <p:spPr>
          <a:xfrm>
            <a:off x="6370167" y="3977639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4B56A"/>
                </a:solidFill>
                <a:latin typeface="Heebo"/>
                <a:cs typeface="Heebo"/>
              </a:rPr>
              <a:t>7.10.2023  </a:t>
            </a:r>
            <a:r>
              <a:rPr lang="he-IL" altLang="en-US" sz="2100" b="0">
                <a:solidFill>
                  <a:srgbClr val="F6EEE6"/>
                </a:solidFill>
                <a:latin typeface="Heebo Light"/>
                <a:cs typeface="Heebo Light"/>
              </a:rPr>
              <a:t>בבוקר, מחבלי חמאס תוקפים את מסיבת ״נובה״ ליד קיבוץ רעים.</a:t>
            </a:r>
            <a:endParaRPr lang="he-IL" sz="2100"/>
          </a:p>
        </p:txBody>
      </p:sp>
      <p:sp>
        <p:nvSpPr>
          <p:cNvPr id="8" name="TextBox 7"/>
          <p:cNvSpPr txBox="1"/>
          <p:nvPr/>
        </p:nvSpPr>
        <p:spPr>
          <a:xfrm>
            <a:off x="6370167" y="4764024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4B56A"/>
                </a:solidFill>
                <a:latin typeface="Heebo"/>
                <a:cs typeface="Heebo"/>
              </a:rPr>
              <a:t>הטבח  </a:t>
            </a:r>
            <a:r>
              <a:rPr lang="he-IL" altLang="en-US" sz="2100" b="0">
                <a:solidFill>
                  <a:srgbClr val="F6EEE6"/>
                </a:solidFill>
                <a:latin typeface="Heebo Light"/>
                <a:cs typeface="Heebo Light"/>
              </a:rPr>
              <a:t>מאות צעירים שבאו לרקוד נרצחים, ורבים נחטפים לעזה.</a:t>
            </a:r>
            <a:endParaRPr lang="he-IL" sz="2100"/>
          </a:p>
        </p:txBody>
      </p:sp>
      <p:sp>
        <p:nvSpPr>
          <p:cNvPr id="9" name="TextBox 8"/>
          <p:cNvSpPr txBox="1"/>
          <p:nvPr/>
        </p:nvSpPr>
        <p:spPr>
          <a:xfrm>
            <a:off x="6370167" y="5550407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4B56A"/>
                </a:solidFill>
                <a:latin typeface="Heebo"/>
                <a:cs typeface="Heebo"/>
              </a:rPr>
              <a:t>ההלם  </a:t>
            </a:r>
            <a:r>
              <a:rPr lang="he-IL" altLang="en-US" sz="2100" b="0">
                <a:solidFill>
                  <a:srgbClr val="F6EEE6"/>
                </a:solidFill>
                <a:latin typeface="Heebo Light"/>
                <a:cs typeface="Heebo Light"/>
              </a:rPr>
              <a:t>עומר אדם כותב שלקח לו זמן לעכל, ש״רצחו אותנו, את כולנו״.</a:t>
            </a:r>
            <a:endParaRPr lang="he-IL" sz="2100"/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4B56A"/>
                </a:solidFill>
                <a:latin typeface="Heebo"/>
                <a:cs typeface="Heebo"/>
              </a:rPr>
              <a:t>26.10.2023  </a:t>
            </a:r>
            <a:r>
              <a:rPr lang="he-IL" altLang="en-US" sz="2100" b="0">
                <a:solidFill>
                  <a:srgbClr val="F6EEE6"/>
                </a:solidFill>
                <a:latin typeface="Heebo Light"/>
                <a:cs typeface="Heebo Light"/>
              </a:rPr>
              <a:t>״תרקוד לנצח״ יוצא, מוקדש לנרצחי המסיבה ולמשפחותיהם.</a:t>
            </a:r>
            <a:endParaRPr lang="he-IL" sz="2100"/>
          </a:p>
        </p:txBody>
      </p:sp>
      <p:sp>
        <p:nvSpPr>
          <p:cNvPr id="11" name="TextBox 10"/>
          <p:cNvSpPr txBox="1"/>
          <p:nvPr/>
        </p:nvSpPr>
        <p:spPr>
          <a:xfrm>
            <a:off x="640080" y="4764024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F4B56A"/>
                </a:solidFill>
                <a:latin typeface="Heebo"/>
                <a:cs typeface="Heebo"/>
              </a:rPr>
              <a:t>התגובה  </a:t>
            </a:r>
            <a:r>
              <a:rPr lang="he-IL" altLang="en-US" sz="2100" b="0">
                <a:solidFill>
                  <a:srgbClr val="F6EEE6"/>
                </a:solidFill>
                <a:latin typeface="Heebo Light"/>
                <a:cs typeface="Heebo Light"/>
              </a:rPr>
              <a:t>תוך עשר שעות השיר מגיע ל-100 אלף צפיות ביוטיוב.</a:t>
            </a:r>
            <a:endParaRPr lang="he-IL" sz="2100"/>
          </a:p>
        </p:txBody>
      </p:sp>
      <p:sp>
        <p:nvSpPr>
          <p:cNvPr id="12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CBC2D2"/>
                </a:solidFill>
                <a:latin typeface="Heebo"/>
                <a:cs typeface="Heebo"/>
              </a:rPr>
              <a:t>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1280160"/>
            <a:ext cx="10911535" cy="42062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3600" b="0">
                <a:solidFill>
                  <a:srgbClr val="F6EEE6"/>
                </a:solidFill>
                <a:latin typeface="Heebo"/>
                <a:cs typeface="Heebo"/>
              </a:rPr>
              <a:t>ריקוד הוא רגע של שמחה.</a:t>
            </a:r>
            <a:endParaRPr lang="he-IL" sz="3600"/>
          </a:p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4000" b="0">
                <a:solidFill>
                  <a:srgbClr val="F4B56A"/>
                </a:solidFill>
                <a:latin typeface="Bellefair"/>
                <a:cs typeface="Bellefair"/>
              </a:rPr>
              <a:t>בשיר הוא הופך לזיכרון.</a:t>
            </a:r>
            <a:endParaRPr lang="he-IL" sz="4000"/>
          </a:p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3400" b="0">
                <a:solidFill>
                  <a:srgbClr val="F6EEE6"/>
                </a:solidFill>
                <a:latin typeface="Bellefair"/>
                <a:cs typeface="Bellefair"/>
              </a:rPr>
              <a:t>הם ימשיכו לרקוד, כל עוד זוכרים אותם.</a:t>
            </a:r>
            <a:endParaRPr lang="he-IL" sz="3400"/>
          </a:p>
        </p:txBody>
      </p:sp>
      <p:sp>
        <p:nvSpPr>
          <p:cNvPr id="4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CBC2D2"/>
                </a:solidFill>
                <a:latin typeface="Heebo"/>
                <a:cs typeface="Heebo"/>
              </a:rPr>
              <a:t>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