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02920"/>
            <a:ext cx="10911535" cy="41148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1800" b="0">
                <a:solidFill>
                  <a:srgbClr val="A8731F"/>
                </a:solidFill>
                <a:latin typeface="Alef"/>
                <a:cs typeface="Alef"/>
              </a:rPr>
              <a:t>הערכה חלופית בספרות · שכבה ט׳</a:t>
            </a:r>
            <a:endParaRPr lang="he-IL" sz="1800"/>
          </a:p>
        </p:txBody>
      </p:sp>
      <p:sp>
        <p:nvSpPr>
          <p:cNvPr id="4" name="Title"/>
          <p:cNvSpPr txBox="1"/>
          <p:nvPr/>
        </p:nvSpPr>
        <p:spPr>
          <a:xfrm>
            <a:off x="640080" y="868680"/>
            <a:ext cx="10911535" cy="160020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lnSpc>
                <a:spcPct val="90000"/>
              </a:lnSpc>
              <a:buNone/>
            </a:pPr>
            <a:r>
              <a:rPr lang="he-IL" altLang="en-US" sz="8800" b="0">
                <a:solidFill>
                  <a:srgbClr val="2C3424"/>
                </a:solidFill>
                <a:latin typeface="Noto Serif Hebrew Light"/>
                <a:cs typeface="Noto Serif Hebrew Light"/>
              </a:rPr>
              <a:t>בשדה מאחורי ביתי</a:t>
            </a:r>
            <a:endParaRPr lang="he-IL" sz="8800"/>
          </a:p>
        </p:txBody>
      </p:sp>
      <p:pic>
        <p:nvPicPr>
          <p:cNvPr id="5" name="Cover photo" descr="ev_anemones.jpg"/>
          <p:cNvPicPr>
            <a:picLocks noChangeAspect="1"/>
          </p:cNvPicPr>
          <p:nvPr/>
        </p:nvPicPr>
        <p:blipFill>
          <a:blip r:embed="rId3"/>
          <a:srcRect t="40975" b="33525"/>
          <a:stretch>
            <a:fillRect/>
          </a:stretch>
        </p:blipFill>
        <p:spPr>
          <a:xfrm>
            <a:off x="0" y="2651760"/>
            <a:ext cx="12191695" cy="2331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02920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1">
              <a:buNone/>
            </a:pPr>
            <a:r>
              <a:rPr lang="he-IL" altLang="en-US" sz="1000" b="0">
                <a:solidFill>
                  <a:srgbClr val="666C5B"/>
                </a:solidFill>
                <a:latin typeface="Alef"/>
                <a:cs typeface="Alef"/>
              </a:rPr>
              <a:t>כלניות ליד קיבוץ עלומים · צילום: שלמה רודד, פיקיוויקי, CC BY 2.5</a:t>
            </a:r>
            <a:endParaRPr lang="he-IL" sz="1000"/>
          </a:p>
        </p:txBody>
      </p:sp>
      <p:sp>
        <p:nvSpPr>
          <p:cNvPr id="7" name="TextBox 6"/>
          <p:cNvSpPr txBox="1"/>
          <p:nvPr/>
        </p:nvSpPr>
        <p:spPr>
          <a:xfrm>
            <a:off x="5486400" y="5212080"/>
            <a:ext cx="6065215" cy="64008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3200" b="0">
                <a:solidFill>
                  <a:srgbClr val="A8731F"/>
                </a:solidFill>
                <a:latin typeface="Noto Serif Hebrew Light"/>
                <a:cs typeface="Noto Serif Hebrew Light"/>
              </a:rPr>
              <a:t>קרן פלס</a:t>
            </a:r>
            <a:endParaRPr lang="he-IL" sz="3200"/>
          </a:p>
        </p:txBody>
      </p:sp>
      <p:sp>
        <p:nvSpPr>
          <p:cNvPr id="8" name="TextBox 7"/>
          <p:cNvSpPr txBox="1"/>
          <p:nvPr/>
        </p:nvSpPr>
        <p:spPr>
          <a:xfrm>
            <a:off x="640080" y="5806440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000" b="0">
                <a:solidFill>
                  <a:srgbClr val="666C5B"/>
                </a:solidFill>
                <a:latin typeface="Alef"/>
                <a:cs typeface="Alef"/>
              </a:rPr>
              <a:t>שיר על השקט שאחרי הסערה</a:t>
            </a:r>
            <a:endParaRPr lang="he-IL" sz="2000"/>
          </a:p>
        </p:txBody>
      </p:sp>
      <p:sp>
        <p:nvSpPr>
          <p:cNvPr id="9" name="TextBox 8"/>
          <p:cNvSpPr txBox="1"/>
          <p:nvPr/>
        </p:nvSpPr>
        <p:spPr>
          <a:xfrm>
            <a:off x="640080" y="525780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l" rtl="1">
              <a:buNone/>
            </a:pPr>
            <a:r>
              <a:rPr lang="he-IL" altLang="en-US" sz="2000" b="0">
                <a:solidFill>
                  <a:srgbClr val="666C5B"/>
                </a:solidFill>
                <a:latin typeface="Alef"/>
                <a:cs typeface="Alef"/>
              </a:rPr>
              <a:t>שמות המגישים</a:t>
            </a:r>
            <a:endParaRPr lang="he-IL" sz="2000"/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Quote panel"/>
          <p:cNvSpPr/>
          <p:nvPr/>
        </p:nvSpPr>
        <p:spPr>
          <a:xfrm>
            <a:off x="0" y="0"/>
            <a:ext cx="5852160" cy="6858000"/>
          </a:xfrm>
          <a:prstGeom prst="rect">
            <a:avLst/>
          </a:prstGeom>
          <a:solidFill>
            <a:srgbClr val="3E513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1800" b="0">
                <a:solidFill>
                  <a:srgbClr val="F4F1E4"/>
                </a:solidFill>
                <a:latin typeface="Alef"/>
                <a:cs typeface="Alef"/>
              </a:rPr>
              <a:t>הקטע שבחרנו</a:t>
            </a:r>
            <a:endParaRPr lang="he-IL" sz="1800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4754880" cy="420624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  <a:buNone/>
            </a:pPr>
            <a:r>
              <a:rPr lang="he-IL" altLang="en-US" sz="2400" b="0">
                <a:solidFill>
                  <a:srgbClr val="F4F1E4"/>
                </a:solidFill>
                <a:latin typeface="Noto Serif Hebrew Light"/>
                <a:cs typeface="Noto Serif Hebrew Light"/>
              </a:rPr>
              <a:t>בשדה מאחורי ביתי כבר התפזר עשן</a:t>
            </a:r>
            <a:endParaRPr lang="he-IL" sz="2400"/>
          </a:p>
          <a:p>
            <a:pPr algn="r" rtl="1">
              <a:lnSpc>
                <a:spcPct val="112000"/>
              </a:lnSpc>
              <a:spcAft>
                <a:spcPts val="400"/>
              </a:spcAft>
              <a:buNone/>
            </a:pPr>
            <a:r>
              <a:rPr lang="he-IL" altLang="en-US" sz="2400" b="0">
                <a:solidFill>
                  <a:srgbClr val="EBC27A"/>
                </a:solidFill>
                <a:latin typeface="Noto Serif Hebrew Light"/>
                <a:cs typeface="Noto Serif Hebrew Light"/>
              </a:rPr>
              <a:t>צמח מטפס</a:t>
            </a:r>
            <a:r>
              <a:rPr lang="he-IL" altLang="en-US" sz="2400" b="0">
                <a:solidFill>
                  <a:srgbClr val="F4F1E4"/>
                </a:solidFill>
                <a:latin typeface="Noto Serif Hebrew Light"/>
                <a:cs typeface="Noto Serif Hebrew Light"/>
              </a:rPr>
              <a:t> על הגשרים שנשרפו מזמן</a:t>
            </a:r>
            <a:endParaRPr lang="he-IL" sz="2400"/>
          </a:p>
          <a:p>
            <a:pPr algn="r" rtl="1">
              <a:lnSpc>
                <a:spcPct val="112000"/>
              </a:lnSpc>
              <a:spcAft>
                <a:spcPts val="400"/>
              </a:spcAft>
              <a:buNone/>
            </a:pPr>
            <a:r>
              <a:rPr lang="he-IL" altLang="en-US" sz="2400" b="0">
                <a:solidFill>
                  <a:srgbClr val="EBC27A"/>
                </a:solidFill>
                <a:latin typeface="Noto Serif Hebrew Light"/>
                <a:cs typeface="Noto Serif Hebrew Light"/>
              </a:rPr>
              <a:t>שמש שוב עולה</a:t>
            </a:r>
            <a:endParaRPr lang="he-IL" sz="2400"/>
          </a:p>
          <a:p>
            <a:pPr algn="r" rtl="1">
              <a:lnSpc>
                <a:spcPct val="112000"/>
              </a:lnSpc>
              <a:spcAft>
                <a:spcPts val="400"/>
              </a:spcAft>
              <a:buNone/>
            </a:pPr>
            <a:r>
              <a:rPr lang="he-IL" altLang="en-US" sz="2400" b="0">
                <a:solidFill>
                  <a:srgbClr val="F4F1E4"/>
                </a:solidFill>
                <a:latin typeface="Noto Serif Hebrew Light"/>
                <a:cs typeface="Noto Serif Hebrew Light"/>
              </a:rPr>
              <a:t>רק את הלילה איבדתי</a:t>
            </a:r>
            <a:endParaRPr lang="he-IL" sz="2400"/>
          </a:p>
        </p:txBody>
      </p:sp>
      <p:sp>
        <p:nvSpPr>
          <p:cNvPr id="6" name="TextBox 5"/>
          <p:cNvSpPr txBox="1"/>
          <p:nvPr/>
        </p:nvSpPr>
        <p:spPr>
          <a:xfrm>
            <a:off x="548640" y="58521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1600" b="0">
                <a:solidFill>
                  <a:srgbClr val="F4F1E4"/>
                </a:solidFill>
                <a:latin typeface="Alef"/>
                <a:cs typeface="Alef"/>
              </a:rPr>
              <a:t>״בשדה מאחורי ביתי״, קרן פלס</a:t>
            </a:r>
            <a:endParaRPr lang="he-IL" sz="1600"/>
          </a:p>
        </p:txBody>
      </p:sp>
      <p:sp>
        <p:nvSpPr>
          <p:cNvPr id="7" name="Title"/>
          <p:cNvSpPr txBox="1"/>
          <p:nvPr/>
        </p:nvSpPr>
        <p:spPr>
          <a:xfrm>
            <a:off x="6492240" y="457200"/>
            <a:ext cx="5059375" cy="86868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3400" b="0">
                <a:solidFill>
                  <a:srgbClr val="2C3424"/>
                </a:solidFill>
                <a:latin typeface="Noto Serif Hebrew Light"/>
                <a:cs typeface="Noto Serif Hebrew Light"/>
              </a:rPr>
              <a:t>למה דווקא הקטע הזה</a:t>
            </a:r>
            <a:endParaRPr lang="he-IL" sz="3400"/>
          </a:p>
        </p:txBody>
      </p:sp>
      <p:sp>
        <p:nvSpPr>
          <p:cNvPr id="8" name="TextBox 7"/>
          <p:cNvSpPr txBox="1"/>
          <p:nvPr/>
        </p:nvSpPr>
        <p:spPr>
          <a:xfrm>
            <a:off x="6492240" y="1600200"/>
            <a:ext cx="5059375" cy="22860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spcAft>
                <a:spcPts val="400"/>
              </a:spcAft>
              <a:buNone/>
            </a:pPr>
            <a:r>
              <a:rPr lang="he-IL" altLang="en-US" sz="2200" b="0">
                <a:solidFill>
                  <a:srgbClr val="A8731F"/>
                </a:solidFill>
                <a:latin typeface="Alef"/>
                <a:cs typeface="Alef"/>
              </a:rPr>
              <a:t>למה בחרנו בקטע</a:t>
            </a:r>
            <a:endParaRPr lang="he-IL" sz="2200"/>
          </a:p>
          <a:p>
            <a:pPr algn="r" rtl="1">
              <a:lnSpc>
                <a:spcPct val="108000"/>
              </a:lnSpc>
              <a:buNone/>
            </a:pPr>
            <a:r>
              <a:rPr lang="he-IL" altLang="en-US" sz="2200" b="0">
                <a:solidFill>
                  <a:srgbClr val="2C3424"/>
                </a:solidFill>
                <a:latin typeface="Alef"/>
                <a:cs typeface="Alef"/>
              </a:rPr>
              <a:t>אלה השורות שפותחות את השיר. בארבע שורות עוברים מעשן ומגשרים שרופים אל צמח שמטפס ושמש שעולה. זה בדיוק מה שהשיר עושה: הוא צומח מתוך מה שנשרף.</a:t>
            </a:r>
            <a:endParaRPr lang="he-IL" sz="2200"/>
          </a:p>
        </p:txBody>
      </p:sp>
      <p:sp>
        <p:nvSpPr>
          <p:cNvPr id="9" name="TextBox 8"/>
          <p:cNvSpPr txBox="1"/>
          <p:nvPr/>
        </p:nvSpPr>
        <p:spPr>
          <a:xfrm>
            <a:off x="6492240" y="3977639"/>
            <a:ext cx="5059375" cy="237744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spcAft>
                <a:spcPts val="400"/>
              </a:spcAft>
              <a:buNone/>
            </a:pPr>
            <a:r>
              <a:rPr lang="he-IL" altLang="en-US" sz="2200" b="0">
                <a:solidFill>
                  <a:srgbClr val="A8731F"/>
                </a:solidFill>
                <a:latin typeface="Alef"/>
                <a:cs typeface="Alef"/>
              </a:rPr>
              <a:t>החיבור האישי שלנו</a:t>
            </a:r>
            <a:endParaRPr lang="he-IL" sz="2200"/>
          </a:p>
          <a:p>
            <a:pPr algn="r" rtl="1">
              <a:lnSpc>
                <a:spcPct val="108000"/>
              </a:lnSpc>
              <a:buNone/>
            </a:pPr>
            <a:r>
              <a:rPr lang="he-IL" altLang="en-US" sz="2200" b="0">
                <a:solidFill>
                  <a:srgbClr val="2C3424"/>
                </a:solidFill>
                <a:latin typeface="Alef"/>
                <a:cs typeface="Alef"/>
              </a:rPr>
              <a:t>התמונה של צמח שמטפס על גשר שרוף נשארה איתנו. היא מזכירה לנו את יישובי העוטף שחוזרים לאט לחיים, ואת הילדים מהעוטף ששרים בקליפ.</a:t>
            </a:r>
            <a:endParaRPr lang="he-IL" sz="2200"/>
          </a:p>
        </p:txBody>
      </p:sp>
      <p:sp>
        <p:nvSpPr>
          <p:cNvPr id="10" name="Slide number"/>
          <p:cNvSpPr txBox="1"/>
          <p:nvPr/>
        </p:nvSpPr>
        <p:spPr>
          <a:xfrm>
            <a:off x="640080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666C5B"/>
                </a:solidFill>
                <a:latin typeface="Alef"/>
                <a:cs typeface="Alef"/>
              </a:rPr>
              <a:t>2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rtist photo" descr="peles.jpg"/>
          <p:cNvPicPr>
            <a:picLocks noChangeAspect="1"/>
          </p:cNvPicPr>
          <p:nvPr/>
        </p:nvPicPr>
        <p:blipFill>
          <a:blip r:embed="rId3"/>
          <a:srcRect t="49486" b="30330"/>
          <a:stretch>
            <a:fillRect/>
          </a:stretch>
        </p:blipFill>
        <p:spPr>
          <a:xfrm>
            <a:off x="0" y="0"/>
            <a:ext cx="12191695" cy="2514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2560320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1">
              <a:buNone/>
            </a:pPr>
            <a:r>
              <a:rPr lang="he-IL" altLang="en-US" sz="1000" b="0">
                <a:solidFill>
                  <a:srgbClr val="666C5B"/>
                </a:solidFill>
                <a:latin typeface="Alef"/>
                <a:cs typeface="Alef"/>
              </a:rPr>
              <a:t>צילום: דניאל קמינסקי, ויקישיתוף, CC BY-SA 3.0</a:t>
            </a:r>
            <a:endParaRPr lang="he-IL" sz="1000"/>
          </a:p>
        </p:txBody>
      </p:sp>
      <p:sp>
        <p:nvSpPr>
          <p:cNvPr id="5" name="Title"/>
          <p:cNvSpPr txBox="1"/>
          <p:nvPr/>
        </p:nvSpPr>
        <p:spPr>
          <a:xfrm>
            <a:off x="640080" y="2697480"/>
            <a:ext cx="10911535" cy="86868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3600" b="0">
                <a:solidFill>
                  <a:srgbClr val="2C3424"/>
                </a:solidFill>
                <a:latin typeface="Noto Serif Hebrew Light"/>
                <a:cs typeface="Noto Serif Hebrew Light"/>
              </a:rPr>
              <a:t>קרן פלס</a:t>
            </a:r>
            <a:endParaRPr lang="he-IL" sz="3600"/>
          </a:p>
        </p:txBody>
      </p:sp>
      <p:sp>
        <p:nvSpPr>
          <p:cNvPr id="6" name="TextBox 5"/>
          <p:cNvSpPr txBox="1"/>
          <p:nvPr/>
        </p:nvSpPr>
        <p:spPr>
          <a:xfrm>
            <a:off x="6370167" y="3794760"/>
            <a:ext cx="5181447" cy="86868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200" b="0">
                <a:solidFill>
                  <a:srgbClr val="A8731F"/>
                </a:solidFill>
                <a:latin typeface="Alef"/>
                <a:cs typeface="Alef"/>
              </a:rPr>
              <a:t>1979  </a:t>
            </a:r>
            <a:r>
              <a:rPr lang="he-IL" altLang="en-US" sz="2200" b="0">
                <a:solidFill>
                  <a:srgbClr val="2C3424"/>
                </a:solidFill>
                <a:latin typeface="Alef"/>
                <a:cs typeface="Alef"/>
              </a:rPr>
              <a:t>נולדה ביבנאל, ולמדה שלוש שנים בבית הספר למוזיקה ״רימון״.</a:t>
            </a:r>
            <a:endParaRPr lang="he-IL" sz="2200"/>
          </a:p>
        </p:txBody>
      </p:sp>
      <p:sp>
        <p:nvSpPr>
          <p:cNvPr id="7" name="TextBox 6"/>
          <p:cNvSpPr txBox="1"/>
          <p:nvPr/>
        </p:nvSpPr>
        <p:spPr>
          <a:xfrm>
            <a:off x="6370167" y="4709160"/>
            <a:ext cx="5181447" cy="86868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200" b="0">
                <a:solidFill>
                  <a:srgbClr val="A8731F"/>
                </a:solidFill>
                <a:latin typeface="Alef"/>
                <a:cs typeface="Alef"/>
              </a:rPr>
              <a:t>2005  </a:t>
            </a:r>
            <a:r>
              <a:rPr lang="he-IL" altLang="en-US" sz="2200" b="0">
                <a:solidFill>
                  <a:srgbClr val="2C3424"/>
                </a:solidFill>
                <a:latin typeface="Alef"/>
                <a:cs typeface="Alef"/>
              </a:rPr>
              <a:t>כתבה למירי מסיקה את ״לשם״, שנבחר לשיר השנה בגלגלצ.</a:t>
            </a:r>
            <a:endParaRPr lang="he-IL" sz="2200"/>
          </a:p>
        </p:txBody>
      </p:sp>
      <p:sp>
        <p:nvSpPr>
          <p:cNvPr id="8" name="TextBox 7"/>
          <p:cNvSpPr txBox="1"/>
          <p:nvPr/>
        </p:nvSpPr>
        <p:spPr>
          <a:xfrm>
            <a:off x="6370167" y="5623560"/>
            <a:ext cx="5181447" cy="86868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200" b="0">
                <a:solidFill>
                  <a:srgbClr val="A8731F"/>
                </a:solidFill>
                <a:latin typeface="Alef"/>
                <a:cs typeface="Alef"/>
              </a:rPr>
              <a:t>2006  </a:t>
            </a:r>
            <a:r>
              <a:rPr lang="he-IL" altLang="en-US" sz="2200" b="0">
                <a:solidFill>
                  <a:srgbClr val="2C3424"/>
                </a:solidFill>
                <a:latin typeface="Alef"/>
                <a:cs typeface="Alef"/>
              </a:rPr>
              <a:t>הוציאה את אלבום הבכורה שלה, ״אם אלה החיים״.</a:t>
            </a:r>
            <a:endParaRPr lang="he-IL" sz="2200"/>
          </a:p>
        </p:txBody>
      </p:sp>
      <p:sp>
        <p:nvSpPr>
          <p:cNvPr id="9" name="TextBox 8"/>
          <p:cNvSpPr txBox="1"/>
          <p:nvPr/>
        </p:nvSpPr>
        <p:spPr>
          <a:xfrm>
            <a:off x="640080" y="3794760"/>
            <a:ext cx="5181447" cy="86868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200" b="0">
                <a:solidFill>
                  <a:srgbClr val="A8731F"/>
                </a:solidFill>
                <a:latin typeface="Alef"/>
                <a:cs typeface="Alef"/>
              </a:rPr>
              <a:t>2024  </a:t>
            </a:r>
            <a:r>
              <a:rPr lang="he-IL" altLang="en-US" sz="2200" b="0">
                <a:solidFill>
                  <a:srgbClr val="2C3424"/>
                </a:solidFill>
                <a:latin typeface="Alef"/>
                <a:cs typeface="Alef"/>
              </a:rPr>
              <a:t>כתבה עם שותפים את ״הוריקן״, שייצג את ישראל באירוויזיון.</a:t>
            </a:r>
            <a:endParaRPr lang="he-IL" sz="2200"/>
          </a:p>
        </p:txBody>
      </p:sp>
      <p:sp>
        <p:nvSpPr>
          <p:cNvPr id="10" name="TextBox 9"/>
          <p:cNvSpPr txBox="1"/>
          <p:nvPr/>
        </p:nvSpPr>
        <p:spPr>
          <a:xfrm>
            <a:off x="640080" y="4709160"/>
            <a:ext cx="5181447" cy="86868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200" b="0">
                <a:solidFill>
                  <a:srgbClr val="A8731F"/>
                </a:solidFill>
                <a:latin typeface="Alef"/>
                <a:cs typeface="Alef"/>
              </a:rPr>
              <a:t>2025  </a:t>
            </a:r>
            <a:r>
              <a:rPr lang="he-IL" altLang="en-US" sz="2200" b="0">
                <a:solidFill>
                  <a:srgbClr val="2C3424"/>
                </a:solidFill>
                <a:latin typeface="Alef"/>
                <a:cs typeface="Alef"/>
              </a:rPr>
              <a:t>כתבה את השיר של יובל רפאל לאירוויזיון, שהגיע למקום השני.</a:t>
            </a:r>
            <a:endParaRPr lang="he-IL" sz="2200"/>
          </a:p>
        </p:txBody>
      </p:sp>
      <p:sp>
        <p:nvSpPr>
          <p:cNvPr id="11" name="Slide number"/>
          <p:cNvSpPr txBox="1"/>
          <p:nvPr/>
        </p:nvSpPr>
        <p:spPr>
          <a:xfrm>
            <a:off x="640080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666C5B"/>
                </a:solidFill>
                <a:latin typeface="Alef"/>
                <a:cs typeface="Alef"/>
              </a:rPr>
              <a:t>3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640080" y="457200"/>
            <a:ext cx="10911535" cy="86868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4000" b="0">
                <a:solidFill>
                  <a:srgbClr val="2C3424"/>
                </a:solidFill>
                <a:latin typeface="Noto Serif Hebrew Light"/>
                <a:cs typeface="Noto Serif Hebrew Light"/>
              </a:rPr>
              <a:t>מילות השיר</a:t>
            </a:r>
            <a:endParaRPr lang="he-IL" sz="4000"/>
          </a:p>
        </p:txBody>
      </p:sp>
      <p:sp>
        <p:nvSpPr>
          <p:cNvPr id="4" name="Lyrics placeholder"/>
          <p:cNvSpPr/>
          <p:nvPr/>
        </p:nvSpPr>
        <p:spPr>
          <a:xfrm>
            <a:off x="640080" y="1463040"/>
            <a:ext cx="10911535" cy="4434840"/>
          </a:xfrm>
          <a:prstGeom prst="rect">
            <a:avLst/>
          </a:prstGeom>
          <a:noFill/>
          <a:ln w="15875">
            <a:solidFill>
              <a:srgbClr val="D2D6C4"/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5" name="Lyrics"/>
          <p:cNvSpPr txBox="1"/>
          <p:nvPr/>
        </p:nvSpPr>
        <p:spPr>
          <a:xfrm>
            <a:off x="640080" y="1463040"/>
            <a:ext cx="10911535" cy="443484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ctr" rtl="1">
              <a:spcAft>
                <a:spcPts val="800"/>
              </a:spcAft>
              <a:buNone/>
            </a:pPr>
            <a:r>
              <a:rPr lang="he-IL" altLang="en-US" sz="2600" b="0">
                <a:solidFill>
                  <a:srgbClr val="666C5B"/>
                </a:solidFill>
                <a:latin typeface="Noto Serif Hebrew Light"/>
                <a:cs typeface="Noto Serif Hebrew Light"/>
              </a:rPr>
              <a:t>כאן יודבקו מילות השיר המלאות</a:t>
            </a:r>
            <a:endParaRPr lang="he-IL" sz="2600"/>
          </a:p>
          <a:p>
            <a:pPr algn="ctr" rtl="1">
              <a:buNone/>
            </a:pPr>
            <a:r>
              <a:rPr lang="he-IL" altLang="en-US" sz="1800" b="0">
                <a:solidFill>
                  <a:srgbClr val="666C5B"/>
                </a:solidFill>
                <a:latin typeface="Alef"/>
                <a:cs typeface="Alef"/>
              </a:rPr>
              <a:t>לפי חלוקת הבתים והשורות המקורית</a:t>
            </a:r>
            <a:endParaRPr lang="he-IL" sz="1800"/>
          </a:p>
        </p:txBody>
      </p:sp>
      <p:sp>
        <p:nvSpPr>
          <p:cNvPr id="6" name="TextBox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1400" b="0">
                <a:solidFill>
                  <a:srgbClr val="666C5B"/>
                </a:solidFill>
                <a:latin typeface="Alef"/>
                <a:cs typeface="Alef"/>
              </a:rPr>
              <a:t>מילים ולחן: קרן פלס · הפקה: תומר בירן · יצא ב-7 באוקטובר 2024</a:t>
            </a:r>
            <a:endParaRPr lang="he-IL" sz="1400"/>
          </a:p>
        </p:txBody>
      </p:sp>
      <p:sp>
        <p:nvSpPr>
          <p:cNvPr id="7" name="Slide number"/>
          <p:cNvSpPr txBox="1"/>
          <p:nvPr/>
        </p:nvSpPr>
        <p:spPr>
          <a:xfrm>
            <a:off x="640080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666C5B"/>
                </a:solidFill>
                <a:latin typeface="Alef"/>
                <a:cs typeface="Alef"/>
              </a:rPr>
              <a:t>4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35040" y="411480"/>
            <a:ext cx="5516575" cy="3657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1800" b="0">
                <a:solidFill>
                  <a:srgbClr val="666C5B"/>
                </a:solidFill>
                <a:latin typeface="Alef"/>
                <a:cs typeface="Alef"/>
              </a:rPr>
              <a:t>מושג ראשון</a:t>
            </a:r>
            <a:endParaRPr lang="he-IL" sz="1800"/>
          </a:p>
        </p:txBody>
      </p:sp>
      <p:sp>
        <p:nvSpPr>
          <p:cNvPr id="4" name="Title"/>
          <p:cNvSpPr txBox="1"/>
          <p:nvPr/>
        </p:nvSpPr>
        <p:spPr>
          <a:xfrm>
            <a:off x="6035040" y="731520"/>
            <a:ext cx="5516575" cy="9601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5200" b="0">
                <a:solidFill>
                  <a:srgbClr val="A8731F"/>
                </a:solidFill>
                <a:latin typeface="Noto Serif Hebrew Light"/>
                <a:cs typeface="Noto Serif Hebrew Light"/>
              </a:rPr>
              <a:t>מטאפורה</a:t>
            </a:r>
            <a:endParaRPr lang="he-IL" sz="5200"/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5120640" cy="11887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1">
              <a:lnSpc>
                <a:spcPct val="104000"/>
              </a:lnSpc>
              <a:buNone/>
            </a:pPr>
            <a:r>
              <a:rPr lang="he-IL" altLang="en-US" sz="2000" b="0">
                <a:solidFill>
                  <a:srgbClr val="666C5B"/>
                </a:solidFill>
                <a:latin typeface="Alef"/>
                <a:cs typeface="Alef"/>
              </a:rPr>
              <a:t>תיאור של דבר אחד באמצעות דבר מעולם אחר, בלי מילת דימוי כמו ״כמו״ או ״כְּ״.</a:t>
            </a:r>
            <a:endParaRPr lang="he-IL" sz="2000"/>
          </a:p>
        </p:txBody>
      </p:sp>
      <p:sp>
        <p:nvSpPr>
          <p:cNvPr id="6" name="Quote band"/>
          <p:cNvSpPr/>
          <p:nvPr/>
        </p:nvSpPr>
        <p:spPr>
          <a:xfrm>
            <a:off x="0" y="1920240"/>
            <a:ext cx="12191695" cy="1965960"/>
          </a:xfrm>
          <a:prstGeom prst="rect">
            <a:avLst/>
          </a:prstGeom>
          <a:solidFill>
            <a:srgbClr val="3E513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0911535" cy="196596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ctr" rtl="1">
              <a:lnSpc>
                <a:spcPct val="112000"/>
              </a:lnSpc>
              <a:spcAft>
                <a:spcPts val="400"/>
              </a:spcAft>
              <a:buNone/>
            </a:pPr>
            <a:r>
              <a:rPr lang="he-IL" altLang="en-US" sz="3000" b="0">
                <a:solidFill>
                  <a:srgbClr val="F4F1E4"/>
                </a:solidFill>
                <a:latin typeface="Noto Serif Hebrew Light"/>
                <a:cs typeface="Noto Serif Hebrew Light"/>
              </a:rPr>
              <a:t>ואומרים ש</a:t>
            </a:r>
            <a:r>
              <a:rPr lang="he-IL" altLang="en-US" sz="3000" b="0">
                <a:solidFill>
                  <a:srgbClr val="EBC27A"/>
                </a:solidFill>
                <a:latin typeface="Noto Serif Hebrew Light"/>
                <a:cs typeface="Noto Serif Hebrew Light"/>
              </a:rPr>
              <a:t>סופה</a:t>
            </a:r>
            <a:endParaRPr lang="he-IL" sz="3000"/>
          </a:p>
          <a:p>
            <a:pPr algn="ctr" rtl="1">
              <a:lnSpc>
                <a:spcPct val="112000"/>
              </a:lnSpc>
              <a:spcAft>
                <a:spcPts val="400"/>
              </a:spcAft>
              <a:buNone/>
            </a:pPr>
            <a:r>
              <a:rPr lang="he-IL" altLang="en-US" sz="3000" b="0">
                <a:solidFill>
                  <a:srgbClr val="F4F1E4"/>
                </a:solidFill>
                <a:latin typeface="Noto Serif Hebrew Light"/>
                <a:cs typeface="Noto Serif Hebrew Light"/>
              </a:rPr>
              <a:t>לא מכה פעמיים</a:t>
            </a:r>
            <a:endParaRPr lang="he-IL" sz="3000"/>
          </a:p>
        </p:txBody>
      </p:sp>
      <p:sp>
        <p:nvSpPr>
          <p:cNvPr id="8" name="TextBox 7"/>
          <p:cNvSpPr txBox="1"/>
          <p:nvPr/>
        </p:nvSpPr>
        <p:spPr>
          <a:xfrm>
            <a:off x="6355080" y="4206240"/>
            <a:ext cx="5196535" cy="210312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spcAft>
                <a:spcPts val="400"/>
              </a:spcAft>
              <a:buNone/>
            </a:pPr>
            <a:r>
              <a:rPr lang="he-IL" altLang="en-US" sz="2200" b="0">
                <a:solidFill>
                  <a:srgbClr val="A8731F"/>
                </a:solidFill>
                <a:latin typeface="Alef"/>
                <a:cs typeface="Alef"/>
              </a:rPr>
              <a:t>איך זה מופיע בשיר</a:t>
            </a:r>
            <a:endParaRPr lang="he-IL" sz="2200"/>
          </a:p>
          <a:p>
            <a:pPr algn="r" rtl="1">
              <a:lnSpc>
                <a:spcPct val="104000"/>
              </a:lnSpc>
              <a:buNone/>
            </a:pPr>
            <a:r>
              <a:rPr lang="he-IL" altLang="en-US" sz="2200" b="0">
                <a:solidFill>
                  <a:srgbClr val="2C3424"/>
                </a:solidFill>
                <a:latin typeface="Alef"/>
                <a:cs typeface="Alef"/>
              </a:rPr>
              <a:t>המלחמה מתוארת כ״סופה״, סערה שמגיעה ומשאירה הרס. הדוברת מקווה שהיא לא תחזור.</a:t>
            </a:r>
            <a:endParaRPr lang="he-IL" sz="2200"/>
          </a:p>
        </p:txBody>
      </p:sp>
      <p:sp>
        <p:nvSpPr>
          <p:cNvPr id="9" name="TextBox 8"/>
          <p:cNvSpPr txBox="1"/>
          <p:nvPr/>
        </p:nvSpPr>
        <p:spPr>
          <a:xfrm>
            <a:off x="640080" y="4206240"/>
            <a:ext cx="5257800" cy="210312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spcAft>
                <a:spcPts val="400"/>
              </a:spcAft>
              <a:buNone/>
            </a:pPr>
            <a:r>
              <a:rPr lang="he-IL" altLang="en-US" sz="2200" b="0">
                <a:solidFill>
                  <a:srgbClr val="A8731F"/>
                </a:solidFill>
                <a:latin typeface="Alef"/>
                <a:cs typeface="Alef"/>
              </a:rPr>
              <a:t>מה זה מוסיף למשמעות</a:t>
            </a:r>
            <a:endParaRPr lang="he-IL" sz="2200"/>
          </a:p>
          <a:p>
            <a:pPr algn="r" rtl="1">
              <a:lnSpc>
                <a:spcPct val="104000"/>
              </a:lnSpc>
              <a:buNone/>
            </a:pPr>
            <a:r>
              <a:rPr lang="he-IL" altLang="en-US" sz="2200" b="0">
                <a:solidFill>
                  <a:srgbClr val="2C3424"/>
                </a:solidFill>
                <a:latin typeface="Alef"/>
                <a:cs typeface="Alef"/>
              </a:rPr>
              <a:t>המטאפורה הופכת את המלחמה לסערה שעוברת. אחרי סערה יש שקט, ולכן היא מכינה את המקום לתקווה.</a:t>
            </a:r>
            <a:endParaRPr lang="he-IL" sz="2200"/>
          </a:p>
        </p:txBody>
      </p:sp>
      <p:sp>
        <p:nvSpPr>
          <p:cNvPr id="10" name="Slide number"/>
          <p:cNvSpPr txBox="1"/>
          <p:nvPr/>
        </p:nvSpPr>
        <p:spPr>
          <a:xfrm>
            <a:off x="640080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666C5B"/>
                </a:solidFill>
                <a:latin typeface="Alef"/>
                <a:cs typeface="Alef"/>
              </a:rPr>
              <a:t>5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35040" y="411480"/>
            <a:ext cx="5516575" cy="3657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1800" b="0">
                <a:solidFill>
                  <a:srgbClr val="666C5B"/>
                </a:solidFill>
                <a:latin typeface="Alef"/>
                <a:cs typeface="Alef"/>
              </a:rPr>
              <a:t>מושג שני</a:t>
            </a:r>
            <a:endParaRPr lang="he-IL" sz="1800"/>
          </a:p>
        </p:txBody>
      </p:sp>
      <p:sp>
        <p:nvSpPr>
          <p:cNvPr id="4" name="Title"/>
          <p:cNvSpPr txBox="1"/>
          <p:nvPr/>
        </p:nvSpPr>
        <p:spPr>
          <a:xfrm>
            <a:off x="6035040" y="731520"/>
            <a:ext cx="5516575" cy="9601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5200" b="0">
                <a:solidFill>
                  <a:srgbClr val="A8731F"/>
                </a:solidFill>
                <a:latin typeface="Noto Serif Hebrew Light"/>
                <a:cs typeface="Noto Serif Hebrew Light"/>
              </a:rPr>
              <a:t>האנשה</a:t>
            </a:r>
            <a:endParaRPr lang="he-IL" sz="5200"/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5120640" cy="11887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1">
              <a:lnSpc>
                <a:spcPct val="104000"/>
              </a:lnSpc>
              <a:buNone/>
            </a:pPr>
            <a:r>
              <a:rPr lang="he-IL" altLang="en-US" sz="2000" b="0">
                <a:solidFill>
                  <a:srgbClr val="666C5B"/>
                </a:solidFill>
                <a:latin typeface="Alef"/>
                <a:cs typeface="Alef"/>
              </a:rPr>
              <a:t>ייחוס תכונות או פעולות של בני אדם לדבר שאינו אדם.</a:t>
            </a:r>
            <a:endParaRPr lang="he-IL" sz="2000"/>
          </a:p>
        </p:txBody>
      </p:sp>
      <p:sp>
        <p:nvSpPr>
          <p:cNvPr id="6" name="Quote band"/>
          <p:cNvSpPr/>
          <p:nvPr/>
        </p:nvSpPr>
        <p:spPr>
          <a:xfrm>
            <a:off x="0" y="1920240"/>
            <a:ext cx="12191695" cy="1965960"/>
          </a:xfrm>
          <a:prstGeom prst="rect">
            <a:avLst/>
          </a:prstGeom>
          <a:solidFill>
            <a:srgbClr val="3E513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0911535" cy="196596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ctr" rtl="1">
              <a:lnSpc>
                <a:spcPct val="112000"/>
              </a:lnSpc>
              <a:spcAft>
                <a:spcPts val="400"/>
              </a:spcAft>
              <a:buNone/>
            </a:pPr>
            <a:r>
              <a:rPr lang="he-IL" altLang="en-US" sz="3000" b="0">
                <a:solidFill>
                  <a:srgbClr val="F4F1E4"/>
                </a:solidFill>
                <a:latin typeface="Noto Serif Hebrew Light"/>
                <a:cs typeface="Noto Serif Hebrew Light"/>
              </a:rPr>
              <a:t>גם בחשיכה</a:t>
            </a:r>
            <a:endParaRPr lang="he-IL" sz="3000"/>
          </a:p>
          <a:p>
            <a:pPr algn="ctr" rtl="1">
              <a:lnSpc>
                <a:spcPct val="112000"/>
              </a:lnSpc>
              <a:spcAft>
                <a:spcPts val="400"/>
              </a:spcAft>
              <a:buNone/>
            </a:pPr>
            <a:r>
              <a:rPr lang="he-IL" altLang="en-US" sz="3000" b="0">
                <a:solidFill>
                  <a:srgbClr val="F4F1E4"/>
                </a:solidFill>
                <a:latin typeface="Noto Serif Hebrew Light"/>
                <a:cs typeface="Noto Serif Hebrew Light"/>
              </a:rPr>
              <a:t>האור שלך </a:t>
            </a:r>
            <a:r>
              <a:rPr lang="he-IL" altLang="en-US" sz="3000" b="0">
                <a:solidFill>
                  <a:srgbClr val="EBC27A"/>
                </a:solidFill>
                <a:latin typeface="Noto Serif Hebrew Light"/>
                <a:cs typeface="Noto Serif Hebrew Light"/>
              </a:rPr>
              <a:t>מטייל איתי</a:t>
            </a:r>
            <a:endParaRPr lang="he-IL" sz="3000"/>
          </a:p>
        </p:txBody>
      </p:sp>
      <p:sp>
        <p:nvSpPr>
          <p:cNvPr id="8" name="TextBox 7"/>
          <p:cNvSpPr txBox="1"/>
          <p:nvPr/>
        </p:nvSpPr>
        <p:spPr>
          <a:xfrm>
            <a:off x="6355080" y="4206240"/>
            <a:ext cx="5196535" cy="210312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spcAft>
                <a:spcPts val="400"/>
              </a:spcAft>
              <a:buNone/>
            </a:pPr>
            <a:r>
              <a:rPr lang="he-IL" altLang="en-US" sz="2200" b="0">
                <a:solidFill>
                  <a:srgbClr val="A8731F"/>
                </a:solidFill>
                <a:latin typeface="Alef"/>
                <a:cs typeface="Alef"/>
              </a:rPr>
              <a:t>איך זה מופיע בשיר</a:t>
            </a:r>
            <a:endParaRPr lang="he-IL" sz="2200"/>
          </a:p>
          <a:p>
            <a:pPr algn="r" rtl="1">
              <a:lnSpc>
                <a:spcPct val="104000"/>
              </a:lnSpc>
              <a:buNone/>
            </a:pPr>
            <a:r>
              <a:rPr lang="he-IL" altLang="en-US" sz="2200" b="0">
                <a:solidFill>
                  <a:srgbClr val="2C3424"/>
                </a:solidFill>
                <a:latin typeface="Alef"/>
                <a:cs typeface="Alef"/>
              </a:rPr>
              <a:t>האור ״מטייל״ עם הדוברת, כאילו הוא אדם שהולך לצידה בחושך.</a:t>
            </a:r>
            <a:endParaRPr lang="he-IL" sz="2200"/>
          </a:p>
        </p:txBody>
      </p:sp>
      <p:sp>
        <p:nvSpPr>
          <p:cNvPr id="9" name="TextBox 8"/>
          <p:cNvSpPr txBox="1"/>
          <p:nvPr/>
        </p:nvSpPr>
        <p:spPr>
          <a:xfrm>
            <a:off x="640080" y="4206240"/>
            <a:ext cx="5257800" cy="210312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spcAft>
                <a:spcPts val="400"/>
              </a:spcAft>
              <a:buNone/>
            </a:pPr>
            <a:r>
              <a:rPr lang="he-IL" altLang="en-US" sz="2200" b="0">
                <a:solidFill>
                  <a:srgbClr val="A8731F"/>
                </a:solidFill>
                <a:latin typeface="Alef"/>
                <a:cs typeface="Alef"/>
              </a:rPr>
              <a:t>מה זה מוסיף למשמעות</a:t>
            </a:r>
            <a:endParaRPr lang="he-IL" sz="2200"/>
          </a:p>
          <a:p>
            <a:pPr algn="r" rtl="1">
              <a:lnSpc>
                <a:spcPct val="104000"/>
              </a:lnSpc>
              <a:buNone/>
            </a:pPr>
            <a:r>
              <a:rPr lang="he-IL" altLang="en-US" sz="2200" b="0">
                <a:solidFill>
                  <a:srgbClr val="2C3424"/>
                </a:solidFill>
                <a:latin typeface="Alef"/>
                <a:cs typeface="Alef"/>
              </a:rPr>
              <a:t>האנשה מראה שמי שחסר עדיין איתה. גם בלילה היא לא לבד.</a:t>
            </a:r>
            <a:endParaRPr lang="he-IL" sz="2200"/>
          </a:p>
        </p:txBody>
      </p:sp>
      <p:sp>
        <p:nvSpPr>
          <p:cNvPr id="10" name="Slide number"/>
          <p:cNvSpPr txBox="1"/>
          <p:nvPr/>
        </p:nvSpPr>
        <p:spPr>
          <a:xfrm>
            <a:off x="640080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666C5B"/>
                </a:solidFill>
                <a:latin typeface="Alef"/>
                <a:cs typeface="Alef"/>
              </a:rPr>
              <a:t>6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640080" y="457200"/>
            <a:ext cx="10911535" cy="86868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4000" b="0">
                <a:solidFill>
                  <a:srgbClr val="2C3424"/>
                </a:solidFill>
                <a:latin typeface="Noto Serif Hebrew Light"/>
                <a:cs typeface="Noto Serif Hebrew Light"/>
              </a:rPr>
              <a:t>מילים שמעוררות את המלחמה</a:t>
            </a:r>
            <a:endParaRPr lang="he-IL" sz="4000"/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000" b="0">
                <a:solidFill>
                  <a:srgbClr val="666C5B"/>
                </a:solidFill>
                <a:latin typeface="Alef"/>
                <a:cs typeface="Alef"/>
              </a:rPr>
              <a:t>מילים מהשיר שמזכירות את מה שקרה בעוטף, גם כשהשדה כבר שקט</a:t>
            </a:r>
            <a:endParaRPr lang="he-IL" sz="2000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362895" cy="420624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ctr" rtl="1">
              <a:lnSpc>
                <a:spcPct val="145000"/>
              </a:lnSpc>
              <a:buNone/>
            </a:pPr>
            <a:r>
              <a:rPr lang="he-IL" altLang="en-US" sz="4000" b="0">
                <a:solidFill>
                  <a:srgbClr val="A8731F"/>
                </a:solidFill>
                <a:latin typeface="Noto Serif Hebrew Light"/>
                <a:cs typeface="Noto Serif Hebrew Light"/>
              </a:rPr>
              <a:t>עשן</a:t>
            </a:r>
            <a:r>
              <a:rPr lang="he-IL" altLang="en-US" sz="4000" b="0">
                <a:solidFill>
                  <a:srgbClr val="666C5B"/>
                </a:solidFill>
                <a:latin typeface="Alef"/>
                <a:cs typeface="Alef"/>
              </a:rPr>
              <a:t>   ·   </a:t>
            </a:r>
            <a:r>
              <a:rPr lang="he-IL" altLang="en-US" sz="4000" b="0">
                <a:solidFill>
                  <a:srgbClr val="2C3424"/>
                </a:solidFill>
                <a:latin typeface="Noto Serif Hebrew Light"/>
                <a:cs typeface="Noto Serif Hebrew Light"/>
              </a:rPr>
              <a:t>הגשרים שנשרפו</a:t>
            </a:r>
            <a:r>
              <a:rPr lang="he-IL" altLang="en-US" sz="4000" b="0">
                <a:solidFill>
                  <a:srgbClr val="666C5B"/>
                </a:solidFill>
                <a:latin typeface="Alef"/>
                <a:cs typeface="Alef"/>
              </a:rPr>
              <a:t>   ·   </a:t>
            </a:r>
            <a:r>
              <a:rPr lang="he-IL" altLang="en-US" sz="4000" b="0">
                <a:solidFill>
                  <a:srgbClr val="A8731F"/>
                </a:solidFill>
                <a:latin typeface="Noto Serif Hebrew Light"/>
                <a:cs typeface="Noto Serif Hebrew Light"/>
              </a:rPr>
              <a:t>הלילה איבדתי</a:t>
            </a:r>
            <a:r>
              <a:rPr lang="he-IL" altLang="en-US" sz="4000" b="0">
                <a:solidFill>
                  <a:srgbClr val="666C5B"/>
                </a:solidFill>
                <a:latin typeface="Alef"/>
                <a:cs typeface="Alef"/>
              </a:rPr>
              <a:t>   ·   </a:t>
            </a:r>
            <a:r>
              <a:rPr lang="he-IL" altLang="en-US" sz="4000" b="0">
                <a:solidFill>
                  <a:srgbClr val="2C3424"/>
                </a:solidFill>
                <a:latin typeface="Noto Serif Hebrew Light"/>
                <a:cs typeface="Noto Serif Hebrew Light"/>
              </a:rPr>
              <a:t>הפחדים והשריטות</a:t>
            </a:r>
            <a:r>
              <a:rPr lang="he-IL" altLang="en-US" sz="4000" b="0">
                <a:solidFill>
                  <a:srgbClr val="666C5B"/>
                </a:solidFill>
                <a:latin typeface="Alef"/>
                <a:cs typeface="Alef"/>
              </a:rPr>
              <a:t>   ·   </a:t>
            </a:r>
            <a:r>
              <a:rPr lang="he-IL" altLang="en-US" sz="4000" b="0">
                <a:solidFill>
                  <a:srgbClr val="A8731F"/>
                </a:solidFill>
                <a:latin typeface="Noto Serif Hebrew Light"/>
                <a:cs typeface="Noto Serif Hebrew Light"/>
              </a:rPr>
              <a:t>שירי מלחמה</a:t>
            </a:r>
            <a:r>
              <a:rPr lang="he-IL" altLang="en-US" sz="4000" b="0">
                <a:solidFill>
                  <a:srgbClr val="666C5B"/>
                </a:solidFill>
                <a:latin typeface="Alef"/>
                <a:cs typeface="Alef"/>
              </a:rPr>
              <a:t>   ·   </a:t>
            </a:r>
            <a:r>
              <a:rPr lang="he-IL" altLang="en-US" sz="4000" b="0">
                <a:solidFill>
                  <a:srgbClr val="2C3424"/>
                </a:solidFill>
                <a:latin typeface="Noto Serif Hebrew Light"/>
                <a:cs typeface="Noto Serif Hebrew Light"/>
              </a:rPr>
              <a:t>נפלו השמיים</a:t>
            </a:r>
            <a:r>
              <a:rPr lang="he-IL" altLang="en-US" sz="4000" b="0">
                <a:solidFill>
                  <a:srgbClr val="666C5B"/>
                </a:solidFill>
                <a:latin typeface="Alef"/>
                <a:cs typeface="Alef"/>
              </a:rPr>
              <a:t>   ·   </a:t>
            </a:r>
            <a:r>
              <a:rPr lang="he-IL" altLang="en-US" sz="4000" b="0">
                <a:solidFill>
                  <a:srgbClr val="A8731F"/>
                </a:solidFill>
                <a:latin typeface="Noto Serif Hebrew Light"/>
                <a:cs typeface="Noto Serif Hebrew Light"/>
              </a:rPr>
              <a:t>סופה</a:t>
            </a:r>
            <a:r>
              <a:rPr lang="he-IL" altLang="en-US" sz="4000" b="0">
                <a:solidFill>
                  <a:srgbClr val="666C5B"/>
                </a:solidFill>
                <a:latin typeface="Alef"/>
                <a:cs typeface="Alef"/>
              </a:rPr>
              <a:t>   ·   </a:t>
            </a:r>
            <a:r>
              <a:rPr lang="he-IL" altLang="en-US" sz="4000" b="0">
                <a:solidFill>
                  <a:srgbClr val="2C3424"/>
                </a:solidFill>
                <a:latin typeface="Noto Serif Hebrew Light"/>
                <a:cs typeface="Noto Serif Hebrew Light"/>
              </a:rPr>
              <a:t>את הפחד כבר איבדתי</a:t>
            </a:r>
            <a:endParaRPr lang="he-IL" sz="4000"/>
          </a:p>
        </p:txBody>
      </p:sp>
      <p:sp>
        <p:nvSpPr>
          <p:cNvPr id="6" name="Slide number"/>
          <p:cNvSpPr txBox="1"/>
          <p:nvPr/>
        </p:nvSpPr>
        <p:spPr>
          <a:xfrm>
            <a:off x="640080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666C5B"/>
                </a:solidFill>
                <a:latin typeface="Alef"/>
                <a:cs typeface="Alef"/>
              </a:rPr>
              <a:t>7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640080" y="457200"/>
            <a:ext cx="10911535" cy="86868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4000" b="0">
                <a:solidFill>
                  <a:srgbClr val="2C3424"/>
                </a:solidFill>
                <a:latin typeface="Noto Serif Hebrew Light"/>
                <a:cs typeface="Noto Serif Hebrew Light"/>
              </a:rPr>
              <a:t>האירועים שהמילים מעוררות</a:t>
            </a:r>
            <a:endParaRPr lang="he-IL" sz="4000"/>
          </a:p>
        </p:txBody>
      </p:sp>
      <p:pic>
        <p:nvPicPr>
          <p:cNvPr id="4" name="Event photo" descr="hostages_square_dec2023_chenspec_ccbysa4.jpg"/>
          <p:cNvPicPr>
            <a:picLocks noChangeAspect="1"/>
          </p:cNvPicPr>
          <p:nvPr/>
        </p:nvPicPr>
        <p:blipFill>
          <a:blip r:embed="rId3"/>
          <a:srcRect t="32174" b="39323"/>
          <a:stretch>
            <a:fillRect/>
          </a:stretch>
        </p:blipFill>
        <p:spPr>
          <a:xfrm>
            <a:off x="0" y="1325880"/>
            <a:ext cx="12191695" cy="2011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023360" y="3383280"/>
            <a:ext cx="7528255" cy="50292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2000"/>
              </a:lnSpc>
              <a:buNone/>
            </a:pPr>
            <a:r>
              <a:rPr lang="he-IL" altLang="en-US" sz="1600" b="0">
                <a:solidFill>
                  <a:srgbClr val="666C5B"/>
                </a:solidFill>
                <a:latin typeface="Alef"/>
                <a:cs typeface="Alef"/>
              </a:rPr>
              <a:t>קיר הכתובות והתמונות בכיכר החטופים, דצמבר 2023. השיר נעשה יחד עם המשפחות שמחכות.</a:t>
            </a:r>
            <a:endParaRPr lang="he-IL" sz="1600"/>
          </a:p>
        </p:txBody>
      </p:sp>
      <p:sp>
        <p:nvSpPr>
          <p:cNvPr id="6" name="TextBox 5"/>
          <p:cNvSpPr txBox="1"/>
          <p:nvPr/>
        </p:nvSpPr>
        <p:spPr>
          <a:xfrm>
            <a:off x="640080" y="3383280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1">
              <a:buNone/>
            </a:pPr>
            <a:r>
              <a:rPr lang="he-IL" altLang="en-US" sz="1000" b="0">
                <a:solidFill>
                  <a:srgbClr val="666C5B"/>
                </a:solidFill>
                <a:latin typeface="Alef"/>
                <a:cs typeface="Alef"/>
              </a:rPr>
              <a:t>צילום: Chenspec, ויקישיתוף, CC BY-SA 4.0</a:t>
            </a:r>
            <a:endParaRPr lang="he-IL" sz="1000"/>
          </a:p>
        </p:txBody>
      </p:sp>
      <p:sp>
        <p:nvSpPr>
          <p:cNvPr id="7" name="TextBox 6"/>
          <p:cNvSpPr txBox="1"/>
          <p:nvPr/>
        </p:nvSpPr>
        <p:spPr>
          <a:xfrm>
            <a:off x="6370167" y="3977639"/>
            <a:ext cx="5181447" cy="768096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100" b="0">
                <a:solidFill>
                  <a:srgbClr val="A8731F"/>
                </a:solidFill>
                <a:latin typeface="Alef"/>
                <a:cs typeface="Alef"/>
              </a:rPr>
              <a:t>7.10.2023  </a:t>
            </a:r>
            <a:r>
              <a:rPr lang="he-IL" altLang="en-US" sz="2100" b="0">
                <a:solidFill>
                  <a:srgbClr val="2C3424"/>
                </a:solidFill>
                <a:latin typeface="Alef"/>
                <a:cs typeface="Alef"/>
              </a:rPr>
              <a:t>מחבלי חמאס תוקפים את יישובי עוטף עזה.</a:t>
            </a:r>
            <a:endParaRPr lang="he-IL" sz="2100"/>
          </a:p>
        </p:txBody>
      </p:sp>
      <p:sp>
        <p:nvSpPr>
          <p:cNvPr id="8" name="TextBox 7"/>
          <p:cNvSpPr txBox="1"/>
          <p:nvPr/>
        </p:nvSpPr>
        <p:spPr>
          <a:xfrm>
            <a:off x="6370167" y="4764024"/>
            <a:ext cx="5181447" cy="768096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100" b="0">
                <a:solidFill>
                  <a:srgbClr val="A8731F"/>
                </a:solidFill>
                <a:latin typeface="Alef"/>
                <a:cs typeface="Alef"/>
              </a:rPr>
              <a:t>החטופים  </a:t>
            </a:r>
            <a:r>
              <a:rPr lang="he-IL" altLang="en-US" sz="2100" b="0">
                <a:solidFill>
                  <a:srgbClr val="2C3424"/>
                </a:solidFill>
                <a:latin typeface="Alef"/>
                <a:cs typeface="Alef"/>
              </a:rPr>
              <a:t>רבים נחטפים לעזה, ומשפחות שלמות מחכות לחזרתם.</a:t>
            </a:r>
            <a:endParaRPr lang="he-IL" sz="2100"/>
          </a:p>
        </p:txBody>
      </p:sp>
      <p:sp>
        <p:nvSpPr>
          <p:cNvPr id="9" name="TextBox 8"/>
          <p:cNvSpPr txBox="1"/>
          <p:nvPr/>
        </p:nvSpPr>
        <p:spPr>
          <a:xfrm>
            <a:off x="6370167" y="5550407"/>
            <a:ext cx="5181447" cy="768096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100" b="0">
                <a:solidFill>
                  <a:srgbClr val="A8731F"/>
                </a:solidFill>
                <a:latin typeface="Alef"/>
                <a:cs typeface="Alef"/>
              </a:rPr>
              <a:t>השיר  </a:t>
            </a:r>
            <a:r>
              <a:rPr lang="he-IL" altLang="en-US" sz="2100" b="0">
                <a:solidFill>
                  <a:srgbClr val="2C3424"/>
                </a:solidFill>
                <a:latin typeface="Alef"/>
                <a:cs typeface="Alef"/>
              </a:rPr>
              <a:t>פלס כותבת על רגעי השקט שאחרי סערה גדולה.</a:t>
            </a:r>
            <a:endParaRPr lang="he-IL" sz="2100"/>
          </a:p>
        </p:txBody>
      </p:sp>
      <p:sp>
        <p:nvSpPr>
          <p:cNvPr id="10" name="TextBox 9"/>
          <p:cNvSpPr txBox="1"/>
          <p:nvPr/>
        </p:nvSpPr>
        <p:spPr>
          <a:xfrm>
            <a:off x="640080" y="3977639"/>
            <a:ext cx="5181447" cy="768096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100" b="0">
                <a:solidFill>
                  <a:srgbClr val="A8731F"/>
                </a:solidFill>
                <a:latin typeface="Alef"/>
                <a:cs typeface="Alef"/>
              </a:rPr>
              <a:t>7.10.2024  </a:t>
            </a:r>
            <a:r>
              <a:rPr lang="he-IL" altLang="en-US" sz="2100" b="0">
                <a:solidFill>
                  <a:srgbClr val="2C3424"/>
                </a:solidFill>
                <a:latin typeface="Alef"/>
                <a:cs typeface="Alef"/>
              </a:rPr>
              <a:t>השיר יוצא, בשיתוף פורום משפחות החטופים והנעדרים.</a:t>
            </a:r>
            <a:endParaRPr lang="he-IL" sz="2100"/>
          </a:p>
        </p:txBody>
      </p:sp>
      <p:sp>
        <p:nvSpPr>
          <p:cNvPr id="11" name="TextBox 10"/>
          <p:cNvSpPr txBox="1"/>
          <p:nvPr/>
        </p:nvSpPr>
        <p:spPr>
          <a:xfrm>
            <a:off x="640080" y="4764024"/>
            <a:ext cx="5181447" cy="768096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100" b="0">
                <a:solidFill>
                  <a:srgbClr val="A8731F"/>
                </a:solidFill>
                <a:latin typeface="Alef"/>
                <a:cs typeface="Alef"/>
              </a:rPr>
              <a:t>הקליפ  </a:t>
            </a:r>
            <a:r>
              <a:rPr lang="he-IL" altLang="en-US" sz="2100" b="0">
                <a:solidFill>
                  <a:srgbClr val="2C3424"/>
                </a:solidFill>
                <a:latin typeface="Alef"/>
                <a:cs typeface="Alef"/>
              </a:rPr>
              <a:t>משתתפים בו ילדים מהעוטף ובנות שחזרו מהשבי.</a:t>
            </a:r>
            <a:endParaRPr lang="he-IL" sz="2100"/>
          </a:p>
        </p:txBody>
      </p:sp>
      <p:sp>
        <p:nvSpPr>
          <p:cNvPr id="12" name="Slide number"/>
          <p:cNvSpPr txBox="1"/>
          <p:nvPr/>
        </p:nvSpPr>
        <p:spPr>
          <a:xfrm>
            <a:off x="640080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666C5B"/>
                </a:solidFill>
                <a:latin typeface="Alef"/>
                <a:cs typeface="Alef"/>
              </a:rPr>
              <a:t>8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640080" y="1280160"/>
            <a:ext cx="10911535" cy="420624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ctr" rtl="1">
              <a:lnSpc>
                <a:spcPct val="105000"/>
              </a:lnSpc>
              <a:spcAft>
                <a:spcPts val="1400"/>
              </a:spcAft>
              <a:buNone/>
            </a:pPr>
            <a:r>
              <a:rPr lang="he-IL" altLang="en-US" sz="3600" b="0">
                <a:solidFill>
                  <a:srgbClr val="2C3424"/>
                </a:solidFill>
                <a:latin typeface="Alef"/>
                <a:cs typeface="Alef"/>
              </a:rPr>
              <a:t>קרן פלס לא שוכחת את העשן,</a:t>
            </a:r>
            <a:endParaRPr lang="he-IL" sz="3600"/>
          </a:p>
          <a:p>
            <a:pPr algn="ctr" rtl="1">
              <a:lnSpc>
                <a:spcPct val="105000"/>
              </a:lnSpc>
              <a:spcAft>
                <a:spcPts val="1400"/>
              </a:spcAft>
              <a:buNone/>
            </a:pPr>
            <a:r>
              <a:rPr lang="he-IL" altLang="en-US" sz="4000" b="0">
                <a:solidFill>
                  <a:srgbClr val="A8731F"/>
                </a:solidFill>
                <a:latin typeface="Noto Serif Hebrew Light"/>
                <a:cs typeface="Noto Serif Hebrew Light"/>
              </a:rPr>
              <a:t>אבל היא בוחרת להסתכל על הצמח</a:t>
            </a:r>
            <a:endParaRPr lang="he-IL" sz="4000"/>
          </a:p>
          <a:p>
            <a:pPr algn="ctr" rtl="1">
              <a:lnSpc>
                <a:spcPct val="105000"/>
              </a:lnSpc>
              <a:spcAft>
                <a:spcPts val="1400"/>
              </a:spcAft>
              <a:buNone/>
            </a:pPr>
            <a:r>
              <a:rPr lang="he-IL" altLang="en-US" sz="3400" b="0">
                <a:solidFill>
                  <a:srgbClr val="2C3424"/>
                </a:solidFill>
                <a:latin typeface="Noto Serif Hebrew Light"/>
                <a:cs typeface="Noto Serif Hebrew Light"/>
              </a:rPr>
              <a:t>שמטפס על הגשר השרוף.</a:t>
            </a:r>
            <a:endParaRPr lang="he-IL" sz="3400"/>
          </a:p>
        </p:txBody>
      </p:sp>
      <p:sp>
        <p:nvSpPr>
          <p:cNvPr id="4" name="Slide number"/>
          <p:cNvSpPr txBox="1"/>
          <p:nvPr/>
        </p:nvSpPr>
        <p:spPr>
          <a:xfrm>
            <a:off x="640080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666C5B"/>
                </a:solidFill>
                <a:latin typeface="Alef"/>
                <a:cs typeface="Alef"/>
              </a:rPr>
              <a:t>9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