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A8731F"/>
                </a:solidFill>
                <a:latin typeface="Alef"/>
                <a:cs typeface="Alef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40080" y="868680"/>
            <a:ext cx="10911535" cy="16002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he-IL" altLang="en-US" sz="88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בשדה מאחורי ביתי</a:t>
            </a:r>
            <a:endParaRPr lang="he-IL" sz="8800"/>
          </a:p>
        </p:txBody>
      </p:sp>
      <p:pic>
        <p:nvPicPr>
          <p:cNvPr id="5" name="Cover photo" descr="ev_anemones.jpg"/>
          <p:cNvPicPr>
            <a:picLocks noChangeAspect="1"/>
          </p:cNvPicPr>
          <p:nvPr/>
        </p:nvPicPr>
        <p:blipFill>
          <a:blip r:embed="rId3"/>
          <a:srcRect t="40975" b="33525"/>
          <a:stretch>
            <a:fillRect/>
          </a:stretch>
        </p:blipFill>
        <p:spPr>
          <a:xfrm>
            <a:off x="0" y="2651760"/>
            <a:ext cx="12191695" cy="2331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0292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666C5B"/>
                </a:solidFill>
                <a:latin typeface="Alef"/>
                <a:cs typeface="Alef"/>
              </a:rPr>
              <a:t>כלניות ליד קיבוץ עלומים · צילום: שלמה רודד, פיקיוויקי, CC BY 2.5</a:t>
            </a:r>
            <a:endParaRPr lang="he-IL" sz="1000"/>
          </a:p>
        </p:txBody>
      </p:sp>
      <p:sp>
        <p:nvSpPr>
          <p:cNvPr id="7" name="TextBox 6"/>
          <p:cNvSpPr txBox="1"/>
          <p:nvPr/>
        </p:nvSpPr>
        <p:spPr>
          <a:xfrm>
            <a:off x="5486400" y="5212080"/>
            <a:ext cx="6065215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קרן פלס</a:t>
            </a:r>
            <a:endParaRPr lang="he-IL" sz="3200"/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666C5B"/>
                </a:solidFill>
                <a:latin typeface="Alef"/>
                <a:cs typeface="Alef"/>
              </a:rPr>
              <a:t>שיר על השקט שאחרי הסערה</a:t>
            </a:r>
            <a:endParaRPr lang="he-IL" sz="2000"/>
          </a:p>
        </p:txBody>
      </p:sp>
      <p:sp>
        <p:nvSpPr>
          <p:cNvPr id="9" name="TextBox 8"/>
          <p:cNvSpPr txBox="1"/>
          <p:nvPr/>
        </p:nvSpPr>
        <p:spPr>
          <a:xfrm>
            <a:off x="640080" y="52578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l" rtl="1">
              <a:buNone/>
            </a:pPr>
            <a:r>
              <a:rPr lang="he-IL" altLang="en-US" sz="2000" b="0">
                <a:solidFill>
                  <a:srgbClr val="2C3424"/>
                </a:solidFill>
                <a:latin typeface="Alef"/>
                <a:cs typeface="Alef"/>
              </a:rPr>
              <a:t>אליה טולדנו ואריאל שמש</a:t>
            </a:r>
            <a:endParaRPr lang="he-IL" sz="20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Quote panel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3E513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F4F1E4"/>
                </a:solidFill>
                <a:latin typeface="Alef"/>
                <a:cs typeface="Alef"/>
              </a:rPr>
              <a:t>הקטע שבחרנו</a:t>
            </a:r>
            <a:endParaRPr lang="he-IL" sz="1800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F4F1E4"/>
                </a:solidFill>
                <a:latin typeface="Noto Serif Hebrew Light"/>
                <a:cs typeface="Noto Serif Hebrew Light"/>
              </a:rPr>
              <a:t>בשדה מאחורי ביתי כבר התפזר עשן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EBC27A"/>
                </a:solidFill>
                <a:latin typeface="Noto Serif Hebrew Light"/>
                <a:cs typeface="Noto Serif Hebrew Light"/>
              </a:rPr>
              <a:t>צמח מטפס</a:t>
            </a:r>
            <a:r>
              <a:rPr lang="he-IL" altLang="en-US" sz="2400" b="0">
                <a:solidFill>
                  <a:srgbClr val="F4F1E4"/>
                </a:solidFill>
                <a:latin typeface="Noto Serif Hebrew Light"/>
                <a:cs typeface="Noto Serif Hebrew Light"/>
              </a:rPr>
              <a:t> על הגשרים שנשרפו מזמן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EBC27A"/>
                </a:solidFill>
                <a:latin typeface="Noto Serif Hebrew Light"/>
                <a:cs typeface="Noto Serif Hebrew Light"/>
              </a:rPr>
              <a:t>שמש שוב עולה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F4F1E4"/>
                </a:solidFill>
                <a:latin typeface="Noto Serif Hebrew Light"/>
                <a:cs typeface="Noto Serif Hebrew Light"/>
              </a:rPr>
              <a:t>רק את הלילה איבדתי</a:t>
            </a:r>
            <a:endParaRPr lang="he-IL" sz="2400"/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F4F1E4"/>
                </a:solidFill>
                <a:latin typeface="Alef"/>
                <a:cs typeface="Alef"/>
              </a:rPr>
              <a:t>״בשדה מאחורי ביתי״, קרן פלס</a:t>
            </a:r>
            <a:endParaRPr lang="he-IL" sz="1600"/>
          </a:p>
        </p:txBody>
      </p:sp>
      <p:sp>
        <p:nvSpPr>
          <p:cNvPr id="7" name="Title"/>
          <p:cNvSpPr txBox="1"/>
          <p:nvPr/>
        </p:nvSpPr>
        <p:spPr>
          <a:xfrm>
            <a:off x="6492240" y="457200"/>
            <a:ext cx="50593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למה דווקא הקטע הזה</a:t>
            </a:r>
            <a:endParaRPr lang="he-IL" sz="3400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5059375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למה בחרנו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אלה השורות שפותחות את השיר. בארבע שורות עוברים מעשן ומגשרים שרופים אל צמח שמטפס ושמש שעולה. זה בדיוק מה שהשיר עושה: הוא צומח מתוך מה שנשרף.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92240" y="3977639"/>
            <a:ext cx="5059375" cy="2377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החיבור האישי שלנו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התמונה של צמח שמטפס על גשר שרוף נשארה איתנו. היא מזכירה לנו את יישובי העוטף שחוזרים לאט לחיים, ואת הילדים מהעוטף ששרים בקליפ.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peles.jpg"/>
          <p:cNvPicPr>
            <a:picLocks noChangeAspect="1"/>
          </p:cNvPicPr>
          <p:nvPr/>
        </p:nvPicPr>
        <p:blipFill>
          <a:blip r:embed="rId3"/>
          <a:srcRect t="49486" b="30330"/>
          <a:stretch>
            <a:fillRect/>
          </a:stretch>
        </p:blipFill>
        <p:spPr>
          <a:xfrm>
            <a:off x="0" y="0"/>
            <a:ext cx="12191695" cy="2514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56032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666C5B"/>
                </a:solidFill>
                <a:latin typeface="Alef"/>
                <a:cs typeface="Alef"/>
              </a:rPr>
              <a:t>צילום: דניאל קמינסקי,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269748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6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קרן פלס</a:t>
            </a:r>
            <a:endParaRPr lang="he-IL" sz="3600"/>
          </a:p>
        </p:txBody>
      </p:sp>
      <p:sp>
        <p:nvSpPr>
          <p:cNvPr id="6" name="TextBox 5"/>
          <p:cNvSpPr txBox="1"/>
          <p:nvPr/>
        </p:nvSpPr>
        <p:spPr>
          <a:xfrm>
            <a:off x="6370167" y="37947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1979  </a:t>
            </a: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נולדה ביבנאל, ולמדה שלוש שנים בבית הספר למוזיקה ״רימון״.</a:t>
            </a:r>
            <a:endParaRPr lang="he-IL" sz="2200"/>
          </a:p>
        </p:txBody>
      </p:sp>
      <p:sp>
        <p:nvSpPr>
          <p:cNvPr id="7" name="TextBox 6"/>
          <p:cNvSpPr txBox="1"/>
          <p:nvPr/>
        </p:nvSpPr>
        <p:spPr>
          <a:xfrm>
            <a:off x="6370167" y="47091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2005  </a:t>
            </a: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כתבה למירי מסיקה את ״לשם״, שנבחר לשיר השנה בגלגלצ.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370167" y="56235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2006  </a:t>
            </a: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הוציאה את אלבום הבכורה שלה, ״אם אלה החיים״.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2024  </a:t>
            </a: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כתבה עם שותפים את ״הוריקן״, שייצג את ישראל באירוויזיון.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709160"/>
            <a:ext cx="5181447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2025  </a:t>
            </a: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כתבה את השיר של יובל רפאל לאירוויזיון, שהגיע למקום השני.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מילות השיר</a:t>
            </a:r>
            <a:endParaRPr lang="he-IL" sz="40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D2D6C4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666C5B"/>
                </a:solidFill>
                <a:latin typeface="Noto Serif Hebrew Light"/>
                <a:cs typeface="Noto Serif Hebrew Light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666C5B"/>
                </a:solidFill>
                <a:latin typeface="Alef"/>
                <a:cs typeface="Alef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666C5B"/>
                </a:solidFill>
                <a:latin typeface="Alef"/>
                <a:cs typeface="Alef"/>
              </a:rPr>
              <a:t>מילים ולחן: קרן פלס · הפקה: תומר בירן · יצא ב-7 באוקטובר 2024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5040" y="411480"/>
            <a:ext cx="55165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666C5B"/>
                </a:solidFill>
                <a:latin typeface="Alef"/>
                <a:cs typeface="Alef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31520"/>
            <a:ext cx="5516575" cy="9601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2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מטאפורה</a:t>
            </a:r>
            <a:endParaRPr lang="he-IL" sz="5200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666C5B"/>
                </a:solidFill>
                <a:latin typeface="Alef"/>
                <a:cs typeface="Alef"/>
              </a:rPr>
              <a:t>תיאור של דבר אחד באמצעות דבר מעולם אחר, בלי מילת דימוי כמו ״כמו״ או ״כְּ״.</a:t>
            </a:r>
            <a:endParaRPr lang="he-IL" sz="2000"/>
          </a:p>
        </p:txBody>
      </p:sp>
      <p:sp>
        <p:nvSpPr>
          <p:cNvPr id="6" name="Quote band"/>
          <p:cNvSpPr/>
          <p:nvPr/>
        </p:nvSpPr>
        <p:spPr>
          <a:xfrm>
            <a:off x="0" y="1920240"/>
            <a:ext cx="12191695" cy="1965960"/>
          </a:xfrm>
          <a:prstGeom prst="rect">
            <a:avLst/>
          </a:prstGeom>
          <a:solidFill>
            <a:srgbClr val="3E513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11535" cy="1965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4F1E4"/>
                </a:solidFill>
                <a:latin typeface="Noto Serif Hebrew Light"/>
                <a:cs typeface="Noto Serif Hebrew Light"/>
              </a:rPr>
              <a:t>ואומרים ש</a:t>
            </a:r>
            <a:r>
              <a:rPr lang="he-IL" altLang="en-US" sz="3000" b="0">
                <a:solidFill>
                  <a:srgbClr val="EBC27A"/>
                </a:solidFill>
                <a:latin typeface="Noto Serif Hebrew Light"/>
                <a:cs typeface="Noto Serif Hebrew Light"/>
              </a:rPr>
              <a:t>סופה</a:t>
            </a:r>
            <a:endParaRPr lang="he-IL" sz="30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4F1E4"/>
                </a:solidFill>
                <a:latin typeface="Noto Serif Hebrew Light"/>
                <a:cs typeface="Noto Serif Hebrew Light"/>
              </a:rPr>
              <a:t>לא מכה פעמיים</a:t>
            </a:r>
            <a:endParaRPr lang="he-IL" sz="3000"/>
          </a:p>
        </p:txBody>
      </p:sp>
      <p:sp>
        <p:nvSpPr>
          <p:cNvPr id="8" name="TextBox 7"/>
          <p:cNvSpPr txBox="1"/>
          <p:nvPr/>
        </p:nvSpPr>
        <p:spPr>
          <a:xfrm>
            <a:off x="6355080" y="4206240"/>
            <a:ext cx="5196535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המלחמה מתוארת כ״סופה״, סערה שמגיעה ומשאירה הרס. הדוברת מקווה שהיא לא תחזור.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המטאפורה הופכת את המלחמה לסערה שעוברת. אחרי סערה יש שקט, ולכן היא מכינה את המקום לתקווה.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5040" y="411480"/>
            <a:ext cx="55165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666C5B"/>
                </a:solidFill>
                <a:latin typeface="Alef"/>
                <a:cs typeface="Alef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31520"/>
            <a:ext cx="5516575" cy="9601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2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האנשה</a:t>
            </a:r>
            <a:endParaRPr lang="he-IL" sz="5200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666C5B"/>
                </a:solidFill>
                <a:latin typeface="Alef"/>
                <a:cs typeface="Alef"/>
              </a:rPr>
              <a:t>ייחוס תכונות או פעולות של בני אדם לדבר שאינו אדם.</a:t>
            </a:r>
            <a:endParaRPr lang="he-IL" sz="2000"/>
          </a:p>
        </p:txBody>
      </p:sp>
      <p:sp>
        <p:nvSpPr>
          <p:cNvPr id="6" name="Quote band"/>
          <p:cNvSpPr/>
          <p:nvPr/>
        </p:nvSpPr>
        <p:spPr>
          <a:xfrm>
            <a:off x="0" y="1920240"/>
            <a:ext cx="12191695" cy="1965960"/>
          </a:xfrm>
          <a:prstGeom prst="rect">
            <a:avLst/>
          </a:prstGeom>
          <a:solidFill>
            <a:srgbClr val="3E513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11535" cy="1965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4F1E4"/>
                </a:solidFill>
                <a:latin typeface="Noto Serif Hebrew Light"/>
                <a:cs typeface="Noto Serif Hebrew Light"/>
              </a:rPr>
              <a:t>גם בחשיכה</a:t>
            </a:r>
            <a:endParaRPr lang="he-IL" sz="30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4F1E4"/>
                </a:solidFill>
                <a:latin typeface="Noto Serif Hebrew Light"/>
                <a:cs typeface="Noto Serif Hebrew Light"/>
              </a:rPr>
              <a:t>האור שלך </a:t>
            </a:r>
            <a:r>
              <a:rPr lang="he-IL" altLang="en-US" sz="3000" b="0">
                <a:solidFill>
                  <a:srgbClr val="EBC27A"/>
                </a:solidFill>
                <a:latin typeface="Noto Serif Hebrew Light"/>
                <a:cs typeface="Noto Serif Hebrew Light"/>
              </a:rPr>
              <a:t>מטייל איתי</a:t>
            </a:r>
            <a:endParaRPr lang="he-IL" sz="3000"/>
          </a:p>
        </p:txBody>
      </p:sp>
      <p:sp>
        <p:nvSpPr>
          <p:cNvPr id="8" name="TextBox 7"/>
          <p:cNvSpPr txBox="1"/>
          <p:nvPr/>
        </p:nvSpPr>
        <p:spPr>
          <a:xfrm>
            <a:off x="6355080" y="4206240"/>
            <a:ext cx="5196535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האור ״מטייל״ עם הדוברת, כאילו הוא אדם שהולך לצידה בחושך.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A8731F"/>
                </a:solidFill>
                <a:latin typeface="Alef"/>
                <a:cs typeface="Alef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C3424"/>
                </a:solidFill>
                <a:latin typeface="Alef"/>
                <a:cs typeface="Alef"/>
              </a:rPr>
              <a:t>האנשה מראה שמי שחסר עדיין איתה. גם בלילה היא לא לבד.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מילים שמעוררות את המלחמה</a:t>
            </a:r>
            <a:endParaRPr lang="he-IL" sz="40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666C5B"/>
                </a:solidFill>
                <a:latin typeface="Alef"/>
                <a:cs typeface="Alef"/>
              </a:rPr>
              <a:t>מילים מהשיר שמזכירות את מה שקרה בעוטף, גם כשהשדה כבר שקט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289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45000"/>
              </a:lnSpc>
              <a:buNone/>
            </a:pPr>
            <a:r>
              <a:rPr lang="he-IL" altLang="en-US" sz="40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עשן</a:t>
            </a:r>
            <a:r>
              <a:rPr lang="he-IL" altLang="en-US" sz="4000" b="0">
                <a:solidFill>
                  <a:srgbClr val="666C5B"/>
                </a:solidFill>
                <a:latin typeface="Alef"/>
                <a:cs typeface="Alef"/>
              </a:rPr>
              <a:t>   ·   </a:t>
            </a:r>
            <a:r>
              <a:rPr lang="he-IL" altLang="en-US" sz="40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הגשרים שנשרפו</a:t>
            </a:r>
            <a:r>
              <a:rPr lang="he-IL" altLang="en-US" sz="4000" b="0">
                <a:solidFill>
                  <a:srgbClr val="666C5B"/>
                </a:solidFill>
                <a:latin typeface="Alef"/>
                <a:cs typeface="Alef"/>
              </a:rPr>
              <a:t>   ·   </a:t>
            </a:r>
            <a:r>
              <a:rPr lang="he-IL" altLang="en-US" sz="40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הלילה איבדתי</a:t>
            </a:r>
            <a:r>
              <a:rPr lang="he-IL" altLang="en-US" sz="4000" b="0">
                <a:solidFill>
                  <a:srgbClr val="666C5B"/>
                </a:solidFill>
                <a:latin typeface="Alef"/>
                <a:cs typeface="Alef"/>
              </a:rPr>
              <a:t>   ·   </a:t>
            </a:r>
            <a:r>
              <a:rPr lang="he-IL" altLang="en-US" sz="40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הפחדים והשריטות</a:t>
            </a:r>
            <a:r>
              <a:rPr lang="he-IL" altLang="en-US" sz="4000" b="0">
                <a:solidFill>
                  <a:srgbClr val="666C5B"/>
                </a:solidFill>
                <a:latin typeface="Alef"/>
                <a:cs typeface="Alef"/>
              </a:rPr>
              <a:t>   ·   </a:t>
            </a:r>
            <a:r>
              <a:rPr lang="he-IL" altLang="en-US" sz="40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שירי מלחמה</a:t>
            </a:r>
            <a:r>
              <a:rPr lang="he-IL" altLang="en-US" sz="4000" b="0">
                <a:solidFill>
                  <a:srgbClr val="666C5B"/>
                </a:solidFill>
                <a:latin typeface="Alef"/>
                <a:cs typeface="Alef"/>
              </a:rPr>
              <a:t>   ·   </a:t>
            </a:r>
            <a:r>
              <a:rPr lang="he-IL" altLang="en-US" sz="40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נפלו השמיים</a:t>
            </a:r>
            <a:r>
              <a:rPr lang="he-IL" altLang="en-US" sz="4000" b="0">
                <a:solidFill>
                  <a:srgbClr val="666C5B"/>
                </a:solidFill>
                <a:latin typeface="Alef"/>
                <a:cs typeface="Alef"/>
              </a:rPr>
              <a:t>   ·   </a:t>
            </a:r>
            <a:r>
              <a:rPr lang="he-IL" altLang="en-US" sz="40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סופה</a:t>
            </a:r>
            <a:r>
              <a:rPr lang="he-IL" altLang="en-US" sz="4000" b="0">
                <a:solidFill>
                  <a:srgbClr val="666C5B"/>
                </a:solidFill>
                <a:latin typeface="Alef"/>
                <a:cs typeface="Alef"/>
              </a:rPr>
              <a:t>   ·   </a:t>
            </a:r>
            <a:r>
              <a:rPr lang="he-IL" altLang="en-US" sz="40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את הפחד כבר איבדתי</a:t>
            </a:r>
            <a:endParaRPr lang="he-IL" sz="4000"/>
          </a:p>
        </p:txBody>
      </p:sp>
      <p:sp>
        <p:nvSpPr>
          <p:cNvPr id="6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האירועים שהמילים מעוררות</a:t>
            </a:r>
            <a:endParaRPr lang="he-IL" sz="4000"/>
          </a:p>
        </p:txBody>
      </p:sp>
      <p:pic>
        <p:nvPicPr>
          <p:cNvPr id="4" name="Event photo" descr="hostages_square_dec2023_chenspec_ccbysa4.jpg"/>
          <p:cNvPicPr>
            <a:picLocks noChangeAspect="1"/>
          </p:cNvPicPr>
          <p:nvPr/>
        </p:nvPicPr>
        <p:blipFill>
          <a:blip r:embed="rId3"/>
          <a:srcRect t="32174" b="39323"/>
          <a:stretch>
            <a:fillRect/>
          </a:stretch>
        </p:blipFill>
        <p:spPr>
          <a:xfrm>
            <a:off x="0" y="1325880"/>
            <a:ext cx="12191695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23360" y="3383280"/>
            <a:ext cx="7528255" cy="5029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666C5B"/>
                </a:solidFill>
                <a:latin typeface="Alef"/>
                <a:cs typeface="Alef"/>
              </a:rPr>
              <a:t>קיר הכתובות והתמונות בכיכר החטופים, דצמבר 2023. השיר נעשה יחד עם המשפחות שמחכות.</a:t>
            </a:r>
            <a:endParaRPr lang="he-IL" sz="1600"/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666C5B"/>
                </a:solidFill>
                <a:latin typeface="Alef"/>
                <a:cs typeface="Alef"/>
              </a:rPr>
              <a:t>צילום: Chenspec, ויקישיתוף, CC BY-SA 4.0</a:t>
            </a:r>
            <a:endParaRPr lang="he-IL" sz="1000"/>
          </a:p>
        </p:txBody>
      </p:sp>
      <p:sp>
        <p:nvSpPr>
          <p:cNvPr id="7" name="TextBox 6"/>
          <p:cNvSpPr txBox="1"/>
          <p:nvPr/>
        </p:nvSpPr>
        <p:spPr>
          <a:xfrm>
            <a:off x="6370167" y="3977639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A8731F"/>
                </a:solidFill>
                <a:latin typeface="Alef"/>
                <a:cs typeface="Alef"/>
              </a:rPr>
              <a:t>7.10.2023  </a:t>
            </a:r>
            <a:r>
              <a:rPr lang="he-IL" altLang="en-US" sz="2100" b="0">
                <a:solidFill>
                  <a:srgbClr val="2C3424"/>
                </a:solidFill>
                <a:latin typeface="Alef"/>
                <a:cs typeface="Alef"/>
              </a:rPr>
              <a:t>מחבלי חמאס תוקפים את יישובי עוטף עזה.</a:t>
            </a:r>
            <a:endParaRPr lang="he-IL" sz="2100"/>
          </a:p>
        </p:txBody>
      </p:sp>
      <p:sp>
        <p:nvSpPr>
          <p:cNvPr id="8" name="TextBox 7"/>
          <p:cNvSpPr txBox="1"/>
          <p:nvPr/>
        </p:nvSpPr>
        <p:spPr>
          <a:xfrm>
            <a:off x="6370167" y="4764024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A8731F"/>
                </a:solidFill>
                <a:latin typeface="Alef"/>
                <a:cs typeface="Alef"/>
              </a:rPr>
              <a:t>החטופים  </a:t>
            </a:r>
            <a:r>
              <a:rPr lang="he-IL" altLang="en-US" sz="2100" b="0">
                <a:solidFill>
                  <a:srgbClr val="2C3424"/>
                </a:solidFill>
                <a:latin typeface="Alef"/>
                <a:cs typeface="Alef"/>
              </a:rPr>
              <a:t>רבים נחטפים לעזה, ומשפחות שלמות מחכות לחזרתם.</a:t>
            </a:r>
            <a:endParaRPr lang="he-IL" sz="2100"/>
          </a:p>
        </p:txBody>
      </p:sp>
      <p:sp>
        <p:nvSpPr>
          <p:cNvPr id="9" name="TextBox 8"/>
          <p:cNvSpPr txBox="1"/>
          <p:nvPr/>
        </p:nvSpPr>
        <p:spPr>
          <a:xfrm>
            <a:off x="6370167" y="5550407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A8731F"/>
                </a:solidFill>
                <a:latin typeface="Alef"/>
                <a:cs typeface="Alef"/>
              </a:rPr>
              <a:t>השיר  </a:t>
            </a:r>
            <a:r>
              <a:rPr lang="he-IL" altLang="en-US" sz="2100" b="0">
                <a:solidFill>
                  <a:srgbClr val="2C3424"/>
                </a:solidFill>
                <a:latin typeface="Alef"/>
                <a:cs typeface="Alef"/>
              </a:rPr>
              <a:t>פלס כותבת על רגעי השקט שאחרי סערה גדולה.</a:t>
            </a:r>
            <a:endParaRPr lang="he-IL" sz="2100"/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A8731F"/>
                </a:solidFill>
                <a:latin typeface="Alef"/>
                <a:cs typeface="Alef"/>
              </a:rPr>
              <a:t>7.10.2024  </a:t>
            </a:r>
            <a:r>
              <a:rPr lang="he-IL" altLang="en-US" sz="2100" b="0">
                <a:solidFill>
                  <a:srgbClr val="2C3424"/>
                </a:solidFill>
                <a:latin typeface="Alef"/>
                <a:cs typeface="Alef"/>
              </a:rPr>
              <a:t>השיר יוצא, בשיתוף פורום משפחות החטופים והנעדרים.</a:t>
            </a:r>
            <a:endParaRPr lang="he-IL" sz="2100"/>
          </a:p>
        </p:txBody>
      </p:sp>
      <p:sp>
        <p:nvSpPr>
          <p:cNvPr id="11" name="TextBox 10"/>
          <p:cNvSpPr txBox="1"/>
          <p:nvPr/>
        </p:nvSpPr>
        <p:spPr>
          <a:xfrm>
            <a:off x="640080" y="4764024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A8731F"/>
                </a:solidFill>
                <a:latin typeface="Alef"/>
                <a:cs typeface="Alef"/>
              </a:rPr>
              <a:t>הקליפ  </a:t>
            </a:r>
            <a:r>
              <a:rPr lang="he-IL" altLang="en-US" sz="2100" b="0">
                <a:solidFill>
                  <a:srgbClr val="2C3424"/>
                </a:solidFill>
                <a:latin typeface="Alef"/>
                <a:cs typeface="Alef"/>
              </a:rPr>
              <a:t>משתתפים בו ילדים מהעוטף ובנות שחזרו מהשבי.</a:t>
            </a:r>
            <a:endParaRPr lang="he-IL" sz="2100"/>
          </a:p>
        </p:txBody>
      </p:sp>
      <p:sp>
        <p:nvSpPr>
          <p:cNvPr id="12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280160"/>
            <a:ext cx="1091153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600" b="0">
                <a:solidFill>
                  <a:srgbClr val="2C3424"/>
                </a:solidFill>
                <a:latin typeface="Alef"/>
                <a:cs typeface="Alef"/>
              </a:rPr>
              <a:t>קרן פלס לא שוכחת את העשן,</a:t>
            </a:r>
            <a:endParaRPr lang="he-IL" sz="36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4000" b="0">
                <a:solidFill>
                  <a:srgbClr val="A8731F"/>
                </a:solidFill>
                <a:latin typeface="Noto Serif Hebrew Light"/>
                <a:cs typeface="Noto Serif Hebrew Light"/>
              </a:rPr>
              <a:t>אבל היא בוחרת להסתכל על הצמח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400" b="0">
                <a:solidFill>
                  <a:srgbClr val="2C3424"/>
                </a:solidFill>
                <a:latin typeface="Noto Serif Hebrew Light"/>
                <a:cs typeface="Noto Serif Hebrew Light"/>
              </a:rPr>
              <a:t>שמטפס על הגשר השרוף.</a:t>
            </a:r>
            <a:endParaRPr lang="he-IL" sz="34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6C5B"/>
                </a:solidFill>
                <a:latin typeface="Alef"/>
                <a:cs typeface="Alef"/>
              </a:rPr>
              <a:t>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