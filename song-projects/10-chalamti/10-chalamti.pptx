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858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C7A78"/>
                </a:solidFill>
                <a:latin typeface="Assistant"/>
                <a:cs typeface="Assistant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371600"/>
            <a:ext cx="10911535" cy="228600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5000" b="1">
                <a:solidFill>
                  <a:srgbClr val="2B2730"/>
                </a:solidFill>
                <a:latin typeface="Amatic SC"/>
                <a:cs typeface="Amatic SC"/>
              </a:rPr>
              <a:t>חלמתי שאתה פה</a:t>
            </a:r>
            <a:endParaRPr lang="he-IL" sz="15000"/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2C7A78"/>
                </a:solidFill>
                <a:latin typeface="Assistant Light"/>
                <a:cs typeface="Assistant Light"/>
              </a:rPr>
              <a:t>ג׳יין בורדו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736D7A"/>
                </a:solidFill>
                <a:latin typeface="Assistant Light"/>
                <a:cs typeface="Assistant Light"/>
              </a:rPr>
              <a:t>שיר אהבה שנכתב באמצע מלחמה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736D7A"/>
                </a:solidFill>
                <a:latin typeface="Assistant Light"/>
                <a:cs typeface="Assistant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1">
                <a:solidFill>
                  <a:srgbClr val="2B2730"/>
                </a:solidFill>
                <a:latin typeface="Amatic SC"/>
                <a:cs typeface="Amatic SC"/>
              </a:rPr>
              <a:t>הקטע שבחרנו</a:t>
            </a:r>
            <a:endParaRPr lang="he-IL" sz="5600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25146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2B2730"/>
                </a:solidFill>
                <a:latin typeface="Assistant Light"/>
                <a:cs typeface="Assistant Light"/>
              </a:rPr>
              <a:t>חלמתי שאתה פה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2B2730"/>
                </a:solidFill>
                <a:latin typeface="Assistant Light"/>
                <a:cs typeface="Assistant Light"/>
              </a:rPr>
              <a:t>לידי לוחש לי אל תדאגי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2B2730"/>
                </a:solidFill>
                <a:latin typeface="Assistant Light"/>
                <a:cs typeface="Assistant Light"/>
              </a:rPr>
              <a:t>עובר שבוע עוד שבוע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2B2730"/>
                </a:solidFill>
                <a:latin typeface="Assistant Light"/>
                <a:cs typeface="Assistant Light"/>
              </a:rPr>
              <a:t>זאת תקופה של געגוע</a:t>
            </a:r>
            <a:endParaRPr lang="he-IL" sz="2800"/>
          </a:p>
          <a:p>
            <a:pPr algn="r" rtl="1">
              <a:lnSpc>
                <a:spcPct val="100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2B2730"/>
                </a:solidFill>
                <a:latin typeface="Assistant Light"/>
                <a:cs typeface="Assistant Light"/>
              </a:rPr>
              <a:t>וזה שיר שבא </a:t>
            </a:r>
            <a:r>
              <a:rPr lang="he-IL" altLang="en-US" sz="2800" b="0">
                <a:solidFill>
                  <a:srgbClr val="2C7A78"/>
                </a:solidFill>
                <a:latin typeface="Assistant Light"/>
                <a:cs typeface="Assistant Light"/>
              </a:rPr>
              <a:t>באמצע מלחמה</a:t>
            </a:r>
            <a:endParaRPr lang="he-IL" sz="2800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l" rtl="1">
              <a:buNone/>
            </a:pPr>
            <a:r>
              <a:rPr lang="he-IL" altLang="en-US" sz="1600" b="0">
                <a:solidFill>
                  <a:srgbClr val="736D7A"/>
                </a:solidFill>
                <a:latin typeface="Assistant Light"/>
                <a:cs typeface="Assistant Light"/>
              </a:rPr>
              <a:t>״חלמתי שאתה פה״, ג׳יין בורדו</a:t>
            </a:r>
            <a:endParaRPr lang="he-IL" sz="1600"/>
          </a:p>
        </p:txBody>
      </p:sp>
      <p:cxnSp>
        <p:nvCxnSpPr>
          <p:cNvPr id="6" name="Connector 5"/>
          <p:cNvCxnSpPr/>
          <p:nvPr/>
        </p:nvCxnSpPr>
        <p:spPr>
          <a:xfrm>
            <a:off x="640080" y="4023360"/>
            <a:ext cx="10911535" cy="0"/>
          </a:xfrm>
          <a:prstGeom prst="line">
            <a:avLst/>
          </a:prstGeom>
          <a:ln w="9525">
            <a:solidFill>
              <a:srgbClr val="DDD2CA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6355080" y="4297680"/>
            <a:ext cx="5196535" cy="2057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C7A78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זה הפזמון, והוא חוזר שלוש פעמים. השורה ״וזה שיר שבא באמצע מלחמה״ כאילו מסבירה למה השיר נכתב. בחרנו בו כי הוא מראה איך המלחמה נכנסת גם לשיר אהבה.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5257800" cy="2057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C7A78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השיר מדבר על ״דור יפה כל כך״, הדור שנושא את המלחמה על הכתפיים. זה הדור של האחים, בני הדודים והמדריכים שלנו, ולכן הוא נגע בנו.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talmon.jpg"/>
          <p:cNvPicPr>
            <a:picLocks noChangeAspect="1"/>
          </p:cNvPicPr>
          <p:nvPr/>
        </p:nvPicPr>
        <p:blipFill>
          <a:blip r:embed="rId3"/>
          <a:srcRect l="7042" r="7042"/>
          <a:stretch>
            <a:fillRect/>
          </a:stretch>
        </p:blipFill>
        <p:spPr>
          <a:xfrm>
            <a:off x="640080" y="1417320"/>
            <a:ext cx="3657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62472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736D7A"/>
                </a:solidFill>
                <a:latin typeface="Assistant"/>
                <a:cs typeface="Assistant"/>
              </a:rPr>
              <a:t>דורון טלמון · צילום: Moshe Chitayat, ויקישיתוף, CC BY-SA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1">
                <a:solidFill>
                  <a:srgbClr val="2B2730"/>
                </a:solidFill>
                <a:latin typeface="Amatic SC"/>
                <a:cs typeface="Amatic SC"/>
              </a:rPr>
              <a:t>ג׳יין בורדו</a:t>
            </a:r>
            <a:endParaRPr lang="he-IL" sz="56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C7A78"/>
                </a:solidFill>
                <a:latin typeface="Assistant Light"/>
                <a:cs typeface="Assistant Light"/>
              </a:rPr>
              <a:t>2012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46320" y="1572768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הלהקה הוקמה, ומנגנת פולק וקאנטרי בעברית.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46320" y="2395728"/>
            <a:ext cx="6705295" cy="0"/>
          </a:xfrm>
          <a:prstGeom prst="line">
            <a:avLst/>
          </a:prstGeom>
          <a:ln w="9525">
            <a:solidFill>
              <a:srgbClr val="DDD2CA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C7A78"/>
                </a:solidFill>
                <a:latin typeface="Assistant Light"/>
                <a:cs typeface="Assistant Light"/>
              </a:rPr>
              <a:t>2014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46320" y="2523744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אלבום הבכורה מומן במימון המונים, ו״איך אפשר שלא״ הפך ללהיט.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46320" y="3346704"/>
            <a:ext cx="6705295" cy="0"/>
          </a:xfrm>
          <a:prstGeom prst="line">
            <a:avLst/>
          </a:prstGeom>
          <a:ln w="9525">
            <a:solidFill>
              <a:srgbClr val="DDD2CA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C7A78"/>
                </a:solidFill>
                <a:latin typeface="Assistant Light"/>
                <a:cs typeface="Assistant Light"/>
              </a:rPr>
              <a:t>2015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46320" y="3474720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הלהקה הייתה המושמעת ביותר בגלגלצ באותה שנה.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46320" y="4297680"/>
            <a:ext cx="6705295" cy="0"/>
          </a:xfrm>
          <a:prstGeom prst="line">
            <a:avLst/>
          </a:prstGeom>
          <a:ln w="9525">
            <a:solidFill>
              <a:srgbClr val="DDD2CA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C7A78"/>
                </a:solidFill>
                <a:latin typeface="Assistant Light"/>
                <a:cs typeface="Assistant Light"/>
              </a:rPr>
              <a:t>2016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46320" y="4425696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קיבלה אלבום זהב על אלבום הבכורה.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46320" y="5248656"/>
            <a:ext cx="6705295" cy="0"/>
          </a:xfrm>
          <a:prstGeom prst="line">
            <a:avLst/>
          </a:prstGeom>
          <a:ln w="9525">
            <a:solidFill>
              <a:srgbClr val="DDD2CA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2C7A78"/>
                </a:solidFill>
                <a:latin typeface="Assistant Light"/>
                <a:cs typeface="Assistant Light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46320" y="5376672"/>
            <a:ext cx="524225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בנובמבר, בזמן המלחמה, הוציאה את השיר ״לא לבד״.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1">
                <a:solidFill>
                  <a:srgbClr val="2B2730"/>
                </a:solidFill>
                <a:latin typeface="Amatic SC"/>
                <a:cs typeface="Amatic SC"/>
              </a:rPr>
              <a:t>מילות השיר</a:t>
            </a:r>
            <a:endParaRPr lang="he-IL" sz="56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DDD2CA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736D7A"/>
                </a:solidFill>
                <a:latin typeface="Assistant Light"/>
                <a:cs typeface="Assistant 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736D7A"/>
                </a:solidFill>
                <a:latin typeface="Assistant Light"/>
                <a:cs typeface="Assistant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736D7A"/>
                </a:solidFill>
                <a:latin typeface="Assistant Light"/>
                <a:cs typeface="Assistant Light"/>
              </a:rPr>
              <a:t>מילים: דורון טלמון · לחן: מתי גלעד ודורון טלמון · יצא ב-12 במרץ 2026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736D7A"/>
                </a:solidFill>
                <a:latin typeface="Assistant SemiBold"/>
                <a:cs typeface="Assistant SemiBold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1">
                <a:solidFill>
                  <a:srgbClr val="2C7A78"/>
                </a:solidFill>
                <a:latin typeface="Amatic SC"/>
                <a:cs typeface="Amatic SC"/>
              </a:rPr>
              <a:t>מטאפורה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736D7A"/>
                </a:solidFill>
                <a:latin typeface="Assistant Light"/>
                <a:cs typeface="Assistant Light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EADF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B2730"/>
                </a:solidFill>
                <a:latin typeface="Assistant Light"/>
                <a:cs typeface="Assistant Light"/>
              </a:rPr>
              <a:t>זה דור יפה כל כך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B2730"/>
                </a:solidFill>
                <a:latin typeface="Assistant Light"/>
                <a:cs typeface="Assistant Light"/>
              </a:rPr>
              <a:t>זאת </a:t>
            </a:r>
            <a:r>
              <a:rPr lang="he-IL" altLang="en-US" sz="3000" b="0">
                <a:solidFill>
                  <a:srgbClr val="2C7A78"/>
                </a:solidFill>
                <a:latin typeface="Assistant Light"/>
                <a:cs typeface="Assistant Light"/>
              </a:rPr>
              <a:t>הבטחה שנפרמה</a:t>
            </a:r>
            <a:endParaRPr lang="he-IL" sz="30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C7A78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הדור הצעיר מתואר כ״הבטחה שנפרמה״, כמו בד שהחוטים שלו נפתחים.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C7A78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המטאפורה מראה שהחלומות של הצעירים נפגעו במלחמה. משהו שהיה שלם מתחיל להתפרק.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736D7A"/>
                </a:solidFill>
                <a:latin typeface="Assistant SemiBold"/>
                <a:cs typeface="Assistant SemiBold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1">
                <a:solidFill>
                  <a:srgbClr val="2C7A78"/>
                </a:solidFill>
                <a:latin typeface="Amatic SC"/>
                <a:cs typeface="Amatic SC"/>
              </a:rPr>
              <a:t>שאלה רטורית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736D7A"/>
                </a:solidFill>
                <a:latin typeface="Assistant Light"/>
                <a:cs typeface="Assistant Light"/>
              </a:rPr>
              <a:t>שאלה שלא מחכים לה לתשובה. היא באה להביע רגש או לעורר מחשבה.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EADF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C7A78"/>
                </a:solidFill>
                <a:latin typeface="Assistant Light"/>
                <a:cs typeface="Assistant Light"/>
              </a:rPr>
              <a:t>האם</a:t>
            </a:r>
            <a:r>
              <a:rPr lang="he-IL" altLang="en-US" sz="3000" b="0">
                <a:solidFill>
                  <a:srgbClr val="2B2730"/>
                </a:solidFill>
                <a:latin typeface="Assistant Light"/>
                <a:cs typeface="Assistant Light"/>
              </a:rPr>
              <a:t> שפתיו ידעו רכות של נשיקה</a:t>
            </a:r>
            <a:endParaRPr lang="he-IL" sz="30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2C7A78"/>
                </a:solidFill>
                <a:latin typeface="Assistant Light"/>
                <a:cs typeface="Assistant Light"/>
              </a:rPr>
              <a:t>האם</a:t>
            </a:r>
            <a:r>
              <a:rPr lang="he-IL" altLang="en-US" sz="3000" b="0">
                <a:solidFill>
                  <a:srgbClr val="2B2730"/>
                </a:solidFill>
                <a:latin typeface="Assistant Light"/>
                <a:cs typeface="Assistant Light"/>
              </a:rPr>
              <a:t> שפתיה רעדו כשצחקה</a:t>
            </a:r>
            <a:endParaRPr lang="he-IL" sz="30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C7A78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השיר שואל אם הנופלים הספיקו להתאהב ולצחוק. אין מי שיענה על השאלות.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2C7A78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2B2730"/>
                </a:solidFill>
                <a:latin typeface="Assistant Light"/>
                <a:cs typeface="Assistant Light"/>
              </a:rPr>
              <a:t>השאלות מראות כמה צעירים היו הנופלים, וכמה דברים לא הספיקו לחוות.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1">
                <a:solidFill>
                  <a:srgbClr val="2B2730"/>
                </a:solidFill>
                <a:latin typeface="Amatic SC"/>
                <a:cs typeface="Amatic SC"/>
              </a:rPr>
              <a:t>מילים שמעוררות את המלחמה</a:t>
            </a:r>
            <a:endParaRPr lang="he-IL" sz="56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736D7A"/>
                </a:solidFill>
                <a:latin typeface="Assistant Light"/>
                <a:cs typeface="Assistant Light"/>
              </a:rPr>
              <a:t>מילים מהשיר שמתארות דור שלם שנושא את המלחמה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400214" y="2408301"/>
            <a:ext cx="2151400" cy="1069848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616" b="1">
                <a:solidFill>
                  <a:srgbClr val="2C7A78"/>
                </a:solidFill>
                <a:latin typeface="Amatic SC"/>
                <a:cs typeface="Amatic SC"/>
              </a:rPr>
              <a:t>אלונקה</a:t>
            </a:r>
            <a:endParaRPr lang="he-IL" sz="5616"/>
          </a:p>
        </p:txBody>
      </p:sp>
      <p:sp>
        <p:nvSpPr>
          <p:cNvPr id="6" name="TextBox 5"/>
          <p:cNvSpPr txBox="1"/>
          <p:nvPr/>
        </p:nvSpPr>
        <p:spPr>
          <a:xfrm>
            <a:off x="7210531" y="2792349"/>
            <a:ext cx="1641043" cy="59436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120" b="0">
                <a:solidFill>
                  <a:srgbClr val="2B2730"/>
                </a:solidFill>
                <a:latin typeface="Assistant Light"/>
                <a:cs typeface="Assistant Light"/>
              </a:rPr>
              <a:t>העול כבד</a:t>
            </a:r>
            <a:endParaRPr lang="he-IL" sz="3120"/>
          </a:p>
        </p:txBody>
      </p:sp>
      <p:sp>
        <p:nvSpPr>
          <p:cNvPr id="7" name="TextBox 6"/>
          <p:cNvSpPr txBox="1"/>
          <p:nvPr/>
        </p:nvSpPr>
        <p:spPr>
          <a:xfrm>
            <a:off x="4173291" y="2647187"/>
            <a:ext cx="2488600" cy="683514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588" b="0">
                <a:solidFill>
                  <a:srgbClr val="2B2730"/>
                </a:solidFill>
                <a:latin typeface="Assistant Light"/>
                <a:cs typeface="Assistant Light"/>
              </a:rPr>
              <a:t>בכי על כרית</a:t>
            </a:r>
            <a:endParaRPr lang="he-IL" sz="3588"/>
          </a:p>
        </p:txBody>
      </p:sp>
      <p:sp>
        <p:nvSpPr>
          <p:cNvPr id="8" name="TextBox 7"/>
          <p:cNvSpPr txBox="1"/>
          <p:nvPr/>
        </p:nvSpPr>
        <p:spPr>
          <a:xfrm>
            <a:off x="1190731" y="2660904"/>
            <a:ext cx="2433919" cy="564642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964" b="0">
                <a:solidFill>
                  <a:srgbClr val="2B2730"/>
                </a:solidFill>
                <a:latin typeface="Assistant Light"/>
                <a:cs typeface="Assistant Light"/>
              </a:rPr>
              <a:t>משלם את המחיר</a:t>
            </a:r>
            <a:endParaRPr lang="he-IL" sz="2964"/>
          </a:p>
        </p:txBody>
      </p:sp>
      <p:sp>
        <p:nvSpPr>
          <p:cNvPr id="9" name="TextBox 8"/>
          <p:cNvSpPr txBox="1"/>
          <p:nvPr/>
        </p:nvSpPr>
        <p:spPr>
          <a:xfrm>
            <a:off x="5798850" y="3615309"/>
            <a:ext cx="5295564" cy="980694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148" b="1">
                <a:solidFill>
                  <a:srgbClr val="2C7A78"/>
                </a:solidFill>
                <a:latin typeface="Amatic SC"/>
                <a:cs typeface="Amatic SC"/>
              </a:rPr>
              <a:t>המלחמות לא נגמרות</a:t>
            </a:r>
            <a:endParaRPr lang="he-IL" sz="5148"/>
          </a:p>
        </p:txBody>
      </p:sp>
      <p:sp>
        <p:nvSpPr>
          <p:cNvPr id="10" name="TextBox 9"/>
          <p:cNvSpPr txBox="1"/>
          <p:nvPr/>
        </p:nvSpPr>
        <p:spPr>
          <a:xfrm>
            <a:off x="1950506" y="3984498"/>
            <a:ext cx="3299703" cy="534924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808" b="0">
                <a:solidFill>
                  <a:srgbClr val="2B2730"/>
                </a:solidFill>
                <a:latin typeface="Assistant Light"/>
                <a:cs typeface="Assistant Light"/>
              </a:rPr>
              <a:t>חלום קפוא בתוך שממה</a:t>
            </a:r>
            <a:endParaRPr lang="he-IL" sz="2808"/>
          </a:p>
        </p:txBody>
      </p:sp>
      <p:sp>
        <p:nvSpPr>
          <p:cNvPr id="11" name="TextBox 10"/>
          <p:cNvSpPr txBox="1"/>
          <p:nvPr/>
        </p:nvSpPr>
        <p:spPr>
          <a:xfrm>
            <a:off x="7483632" y="4896612"/>
            <a:ext cx="3245022" cy="624077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276" b="0">
                <a:solidFill>
                  <a:srgbClr val="2B2730"/>
                </a:solidFill>
                <a:latin typeface="Assistant Light"/>
                <a:cs typeface="Assistant Light"/>
              </a:rPr>
              <a:t>שיחזרו כל הילדים</a:t>
            </a:r>
            <a:endParaRPr lang="he-IL" sz="3276"/>
          </a:p>
        </p:txBody>
      </p:sp>
      <p:sp>
        <p:nvSpPr>
          <p:cNvPr id="12" name="TextBox 11"/>
          <p:cNvSpPr txBox="1"/>
          <p:nvPr/>
        </p:nvSpPr>
        <p:spPr>
          <a:xfrm>
            <a:off x="3544153" y="4879467"/>
            <a:ext cx="3390839" cy="950976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992" b="1">
                <a:solidFill>
                  <a:srgbClr val="2C7A78"/>
                </a:solidFill>
                <a:latin typeface="Amatic SC"/>
                <a:cs typeface="Amatic SC"/>
              </a:rPr>
              <a:t>באמצע מלחמה</a:t>
            </a:r>
            <a:endParaRPr lang="he-IL" sz="4992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Event photo" descr="ev_reserve.jpg"/>
          <p:cNvPicPr>
            <a:picLocks noChangeAspect="1"/>
          </p:cNvPicPr>
          <p:nvPr/>
        </p:nvPicPr>
        <p:blipFill>
          <a:blip r:embed="rId3"/>
          <a:srcRect l="29524" r="29524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68335" y="6510528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Assistant"/>
                <a:cs typeface="Assistant"/>
              </a:rPr>
              <a:t>צילום: דובר צה״ל,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7967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1">
                <a:solidFill>
                  <a:srgbClr val="2B2730"/>
                </a:solidFill>
                <a:latin typeface="Amatic SC"/>
                <a:cs typeface="Amatic SC"/>
              </a:rPr>
              <a:t>האירועים שהמילים מעוררות</a:t>
            </a:r>
            <a:endParaRPr lang="he-IL" sz="5200"/>
          </a:p>
        </p:txBody>
      </p:sp>
      <p:sp>
        <p:nvSpPr>
          <p:cNvPr id="6" name="TextBox 5"/>
          <p:cNvSpPr txBox="1"/>
          <p:nvPr/>
        </p:nvSpPr>
        <p:spPr>
          <a:xfrm>
            <a:off x="6796735" y="1417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2C7A78"/>
                </a:solidFill>
                <a:latin typeface="Amatic SC"/>
                <a:cs typeface="Amatic SC"/>
              </a:rPr>
              <a:t>1</a:t>
            </a:r>
            <a:endParaRPr lang="he-IL" sz="3400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C7A78"/>
                </a:solidFill>
                <a:latin typeface="Assistant SemiBold"/>
                <a:cs typeface="Assistant SemiBold"/>
              </a:rPr>
              <a:t>המלחמה  </a:t>
            </a:r>
            <a:r>
              <a:rPr lang="he-IL" altLang="en-US" sz="2100" b="0">
                <a:solidFill>
                  <a:srgbClr val="2B2730"/>
                </a:solidFill>
                <a:latin typeface="Assistant Light"/>
                <a:cs typeface="Assistant Light"/>
              </a:rPr>
              <a:t>דור שלם של צעירים משרת בצבא ובמילואים, ונושא את המחיר.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7967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2C7A78"/>
                </a:solidFill>
                <a:latin typeface="Amatic SC"/>
                <a:cs typeface="Amatic SC"/>
              </a:rPr>
              <a:t>2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C7A78"/>
                </a:solidFill>
                <a:latin typeface="Assistant SemiBold"/>
                <a:cs typeface="Assistant SemiBold"/>
              </a:rPr>
              <a:t>ההשראה  </a:t>
            </a:r>
            <a:r>
              <a:rPr lang="he-IL" altLang="en-US" sz="2100" b="0">
                <a:solidFill>
                  <a:srgbClr val="2B2730"/>
                </a:solidFill>
                <a:latin typeface="Assistant Light"/>
                <a:cs typeface="Assistant Light"/>
              </a:rPr>
              <a:t>דורון טלמון מתבוננת בצעירים סביבה, ובפער בין הגיל שלהם למציאות.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796735" y="31546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2C7A78"/>
                </a:solidFill>
                <a:latin typeface="Amatic SC"/>
                <a:cs typeface="Amatic SC"/>
              </a:rPr>
              <a:t>3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C7A78"/>
                </a:solidFill>
                <a:latin typeface="Assistant SemiBold"/>
                <a:cs typeface="Assistant SemiBold"/>
              </a:rPr>
              <a:t>המטרה  </a:t>
            </a:r>
            <a:r>
              <a:rPr lang="he-IL" altLang="en-US" sz="2100" b="0">
                <a:solidFill>
                  <a:srgbClr val="2B2730"/>
                </a:solidFill>
                <a:latin typeface="Assistant Light"/>
                <a:cs typeface="Assistant Light"/>
              </a:rPr>
              <a:t>היא רוצה להביע הערכה, להכיר בקושי ולקוות לעתיד טוב יותר.</a:t>
            </a:r>
            <a:endParaRPr lang="he-IL" sz="2100"/>
          </a:p>
        </p:txBody>
      </p:sp>
      <p:sp>
        <p:nvSpPr>
          <p:cNvPr id="12" name="TextBox 11"/>
          <p:cNvSpPr txBox="1"/>
          <p:nvPr/>
        </p:nvSpPr>
        <p:spPr>
          <a:xfrm>
            <a:off x="6796735" y="4023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2C7A78"/>
                </a:solidFill>
                <a:latin typeface="Amatic SC"/>
                <a:cs typeface="Amatic SC"/>
              </a:rPr>
              <a:t>4</a:t>
            </a:r>
            <a:endParaRPr lang="he-IL" sz="3400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C7A78"/>
                </a:solidFill>
                <a:latin typeface="Assistant SemiBold"/>
                <a:cs typeface="Assistant SemiBold"/>
              </a:rPr>
              <a:t>12.3.2026  </a:t>
            </a:r>
            <a:r>
              <a:rPr lang="he-IL" altLang="en-US" sz="2100" b="0">
                <a:solidFill>
                  <a:srgbClr val="2B2730"/>
                </a:solidFill>
                <a:latin typeface="Assistant Light"/>
                <a:cs typeface="Assistant Light"/>
              </a:rPr>
              <a:t>השיר יוצא, כמחווה ל״שיר של אחרי מלחמה״ של אריק איינשטיין.</a:t>
            </a:r>
            <a:endParaRPr lang="he-IL" sz="2100"/>
          </a:p>
        </p:txBody>
      </p:sp>
      <p:sp>
        <p:nvSpPr>
          <p:cNvPr id="14" name="TextBox 13"/>
          <p:cNvSpPr txBox="1"/>
          <p:nvPr/>
        </p:nvSpPr>
        <p:spPr>
          <a:xfrm>
            <a:off x="6796735" y="4892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2C7A78"/>
                </a:solidFill>
                <a:latin typeface="Amatic SC"/>
                <a:cs typeface="Amatic SC"/>
              </a:rPr>
              <a:t>5</a:t>
            </a:r>
            <a:endParaRPr lang="he-IL" sz="3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2C7A78"/>
                </a:solidFill>
                <a:latin typeface="Assistant SemiBold"/>
                <a:cs typeface="Assistant SemiBold"/>
              </a:rPr>
              <a:t>הביקורת  </a:t>
            </a:r>
            <a:r>
              <a:rPr lang="he-IL" altLang="en-US" sz="2100" b="0">
                <a:solidFill>
                  <a:srgbClr val="2B2730"/>
                </a:solidFill>
                <a:latin typeface="Assistant Light"/>
                <a:cs typeface="Assistant Light"/>
              </a:rPr>
              <a:t>יוסי הרסונסקי מתאר אותו כשיר פולק עדין שתופס רגע מורכב.</a:t>
            </a:r>
            <a:endParaRPr lang="he-IL" sz="2100"/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67967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736D7A"/>
                </a:solidFill>
                <a:latin typeface="Assistant Light"/>
                <a:cs typeface="Assistant Light"/>
              </a:rPr>
              <a:t>כוחות צה״ל נפרסים בשטח בתחילת המלחמה, אוקטובר 2023. זה ״הדור היפה״ שהשיר מדבר עליו.</a:t>
            </a:r>
            <a:endParaRPr lang="he-IL" sz="1600"/>
          </a:p>
        </p:txBody>
      </p:sp>
      <p:sp>
        <p:nvSpPr>
          <p:cNvPr id="1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2C7A78"/>
                </a:solidFill>
                <a:latin typeface="Assistant SemiBold"/>
                <a:cs typeface="Assistant SemiBold"/>
              </a:rPr>
              <a:t>סיכום</a:t>
            </a:r>
            <a:endParaRPr lang="he-IL" sz="1800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1000" b="1">
                <a:solidFill>
                  <a:srgbClr val="2C7A78"/>
                </a:solidFill>
                <a:latin typeface="Amatic SC"/>
                <a:cs typeface="Amatic SC"/>
              </a:rPr>
              <a:t>״</a:t>
            </a:r>
            <a:endParaRPr lang="he-IL" sz="11000"/>
          </a:p>
        </p:txBody>
      </p:sp>
      <p:sp>
        <p:nvSpPr>
          <p:cNvPr id="5" name="Title"/>
          <p:cNvSpPr txBox="1"/>
          <p:nvPr/>
        </p:nvSpPr>
        <p:spPr>
          <a:xfrm>
            <a:off x="640080" y="2148840"/>
            <a:ext cx="10362895" cy="3840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600" b="0">
                <a:solidFill>
                  <a:srgbClr val="2B2730"/>
                </a:solidFill>
                <a:latin typeface="Assistant SemiBold"/>
                <a:cs typeface="Assistant SemiBold"/>
              </a:rPr>
              <a:t>ג׳יין בורדו מחכים ליום</a:t>
            </a:r>
            <a:endParaRPr lang="he-IL" sz="36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4000" b="1">
                <a:solidFill>
                  <a:srgbClr val="2C7A78"/>
                </a:solidFill>
                <a:latin typeface="Amatic SC"/>
                <a:cs typeface="Amatic SC"/>
              </a:rPr>
              <a:t>שבו יחזרו לכתוב ״שירים על אהבה״.</a:t>
            </a:r>
            <a:endParaRPr lang="he-IL" sz="4000"/>
          </a:p>
          <a:p>
            <a:pPr algn="r" rtl="1">
              <a:lnSpc>
                <a:spcPct val="105000"/>
              </a:lnSpc>
              <a:spcAft>
                <a:spcPts val="1200"/>
              </a:spcAft>
              <a:buNone/>
            </a:pPr>
            <a:r>
              <a:rPr lang="he-IL" altLang="en-US" sz="3400" b="0">
                <a:solidFill>
                  <a:srgbClr val="2B2730"/>
                </a:solidFill>
                <a:latin typeface="Assistant Light"/>
                <a:cs typeface="Assistant Light"/>
              </a:rPr>
              <a:t>עד אז, גם שיר אהבה נכתב באמצע מלחמה.</a:t>
            </a:r>
            <a:endParaRPr lang="he-IL" sz="34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736D7A"/>
                </a:solidFill>
                <a:latin typeface="Assistant"/>
                <a:cs typeface="Assistant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