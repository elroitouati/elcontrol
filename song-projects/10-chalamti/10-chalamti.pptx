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s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685800"/>
            <a:ext cx="10911535" cy="45720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1800" b="0">
                <a:solidFill>
                  <a:srgbClr val="2C7A78"/>
                </a:solidFill>
                <a:latin typeface="Assistant"/>
                <a:cs typeface="Assistant"/>
              </a:rPr>
              <a:t>הערכה חלופית בספרות · שכבה ט׳</a:t>
            </a:r>
            <a:endParaRPr lang="he-IL" sz="1800"/>
          </a:p>
        </p:txBody>
      </p:sp>
      <p:sp>
        <p:nvSpPr>
          <p:cNvPr id="4" name="Title"/>
          <p:cNvSpPr txBox="1"/>
          <p:nvPr/>
        </p:nvSpPr>
        <p:spPr>
          <a:xfrm>
            <a:off x="640080" y="1371600"/>
            <a:ext cx="10911535" cy="228600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r" rtl="1">
              <a:lnSpc>
                <a:spcPct val="90000"/>
              </a:lnSpc>
              <a:buNone/>
            </a:pPr>
            <a:r>
              <a:rPr lang="he-IL" altLang="en-US" sz="15000" b="1">
                <a:solidFill>
                  <a:srgbClr val="2B2730"/>
                </a:solidFill>
                <a:latin typeface="Amatic SC"/>
                <a:cs typeface="Amatic SC"/>
              </a:rPr>
              <a:t>חלמתי שאתה פה</a:t>
            </a:r>
            <a:endParaRPr lang="he-IL" sz="15000"/>
          </a:p>
        </p:txBody>
      </p:sp>
      <p:sp>
        <p:nvSpPr>
          <p:cNvPr id="5" name="TextBox 4"/>
          <p:cNvSpPr txBox="1"/>
          <p:nvPr/>
        </p:nvSpPr>
        <p:spPr>
          <a:xfrm>
            <a:off x="640080" y="3749039"/>
            <a:ext cx="10911535" cy="73152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3400" b="0">
                <a:solidFill>
                  <a:srgbClr val="2C7A78"/>
                </a:solidFill>
                <a:latin typeface="Assistant Light"/>
                <a:cs typeface="Assistant Light"/>
              </a:rPr>
              <a:t>ג׳יין בורדו</a:t>
            </a:r>
            <a:endParaRPr lang="he-IL" sz="3400"/>
          </a:p>
        </p:txBody>
      </p:sp>
      <p:sp>
        <p:nvSpPr>
          <p:cNvPr id="6" name="TextBox 5"/>
          <p:cNvSpPr txBox="1"/>
          <p:nvPr/>
        </p:nvSpPr>
        <p:spPr>
          <a:xfrm>
            <a:off x="640080" y="4480560"/>
            <a:ext cx="10911535" cy="54864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2200" b="0">
                <a:solidFill>
                  <a:srgbClr val="736D7A"/>
                </a:solidFill>
                <a:latin typeface="Assistant Light"/>
                <a:cs typeface="Assistant Light"/>
              </a:rPr>
              <a:t>שיר אהבה שנכתב באמצע מלחמה</a:t>
            </a:r>
            <a:endParaRPr lang="he-IL" sz="2200"/>
          </a:p>
        </p:txBody>
      </p:sp>
      <p:sp>
        <p:nvSpPr>
          <p:cNvPr id="7" name="TextBox 6"/>
          <p:cNvSpPr txBox="1"/>
          <p:nvPr/>
        </p:nvSpPr>
        <p:spPr>
          <a:xfrm>
            <a:off x="640080" y="5669280"/>
            <a:ext cx="10911535" cy="45720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2000" b="0">
                <a:solidFill>
                  <a:srgbClr val="736D7A"/>
                </a:solidFill>
                <a:latin typeface="Assistant Light"/>
                <a:cs typeface="Assistant Light"/>
              </a:rPr>
              <a:t>שמות המגישים</a:t>
            </a:r>
            <a:endParaRPr lang="he-IL" sz="2000"/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s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640080" y="457200"/>
            <a:ext cx="10911535" cy="86868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r" rtl="1">
              <a:buNone/>
            </a:pPr>
            <a:r>
              <a:rPr lang="he-IL" altLang="en-US" sz="5600" b="1">
                <a:solidFill>
                  <a:srgbClr val="2B2730"/>
                </a:solidFill>
                <a:latin typeface="Amatic SC"/>
                <a:cs typeface="Amatic SC"/>
              </a:rPr>
              <a:t>הקטע שבחרנו</a:t>
            </a:r>
            <a:endParaRPr lang="he-IL" sz="5600"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11535" cy="251460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0000"/>
              </a:lnSpc>
              <a:spcAft>
                <a:spcPts val="400"/>
              </a:spcAft>
              <a:buNone/>
            </a:pPr>
            <a:r>
              <a:rPr lang="he-IL" altLang="en-US" sz="2800" b="0">
                <a:solidFill>
                  <a:srgbClr val="2B2730"/>
                </a:solidFill>
                <a:latin typeface="Assistant Light"/>
                <a:cs typeface="Assistant Light"/>
              </a:rPr>
              <a:t>חלמתי שאתה פה</a:t>
            </a:r>
            <a:endParaRPr lang="he-IL" sz="2800"/>
          </a:p>
          <a:p>
            <a:pPr algn="r" rtl="1">
              <a:lnSpc>
                <a:spcPct val="100000"/>
              </a:lnSpc>
              <a:spcAft>
                <a:spcPts val="400"/>
              </a:spcAft>
              <a:buNone/>
            </a:pPr>
            <a:r>
              <a:rPr lang="he-IL" altLang="en-US" sz="2800" b="0">
                <a:solidFill>
                  <a:srgbClr val="2B2730"/>
                </a:solidFill>
                <a:latin typeface="Assistant Light"/>
                <a:cs typeface="Assistant Light"/>
              </a:rPr>
              <a:t>לידי לוחש לי אל תדאגי</a:t>
            </a:r>
            <a:endParaRPr lang="he-IL" sz="2800"/>
          </a:p>
          <a:p>
            <a:pPr algn="r" rtl="1">
              <a:lnSpc>
                <a:spcPct val="100000"/>
              </a:lnSpc>
              <a:spcAft>
                <a:spcPts val="400"/>
              </a:spcAft>
              <a:buNone/>
            </a:pPr>
            <a:r>
              <a:rPr lang="he-IL" altLang="en-US" sz="2800" b="0">
                <a:solidFill>
                  <a:srgbClr val="2B2730"/>
                </a:solidFill>
                <a:latin typeface="Assistant Light"/>
                <a:cs typeface="Assistant Light"/>
              </a:rPr>
              <a:t>עובר שבוע עוד שבוע</a:t>
            </a:r>
            <a:endParaRPr lang="he-IL" sz="2800"/>
          </a:p>
          <a:p>
            <a:pPr algn="r" rtl="1">
              <a:lnSpc>
                <a:spcPct val="100000"/>
              </a:lnSpc>
              <a:spcAft>
                <a:spcPts val="400"/>
              </a:spcAft>
              <a:buNone/>
            </a:pPr>
            <a:r>
              <a:rPr lang="he-IL" altLang="en-US" sz="2800" b="0">
                <a:solidFill>
                  <a:srgbClr val="2B2730"/>
                </a:solidFill>
                <a:latin typeface="Assistant Light"/>
                <a:cs typeface="Assistant Light"/>
              </a:rPr>
              <a:t>זאת תקופה של געגוע</a:t>
            </a:r>
            <a:endParaRPr lang="he-IL" sz="2800"/>
          </a:p>
          <a:p>
            <a:pPr algn="r" rtl="1">
              <a:lnSpc>
                <a:spcPct val="100000"/>
              </a:lnSpc>
              <a:spcAft>
                <a:spcPts val="400"/>
              </a:spcAft>
              <a:buNone/>
            </a:pPr>
            <a:r>
              <a:rPr lang="he-IL" altLang="en-US" sz="2800" b="0">
                <a:solidFill>
                  <a:srgbClr val="2B2730"/>
                </a:solidFill>
                <a:latin typeface="Assistant Light"/>
                <a:cs typeface="Assistant Light"/>
              </a:rPr>
              <a:t>וזה שיר שבא </a:t>
            </a:r>
            <a:r>
              <a:rPr lang="he-IL" altLang="en-US" sz="2800" b="0">
                <a:solidFill>
                  <a:srgbClr val="2C7A78"/>
                </a:solidFill>
                <a:latin typeface="Assistant Light"/>
                <a:cs typeface="Assistant Light"/>
              </a:rPr>
              <a:t>באמצע מלחמה</a:t>
            </a:r>
            <a:endParaRPr lang="he-IL" sz="2800"/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l" rtl="1">
              <a:buNone/>
            </a:pPr>
            <a:r>
              <a:rPr lang="he-IL" altLang="en-US" sz="1600" b="0">
                <a:solidFill>
                  <a:srgbClr val="736D7A"/>
                </a:solidFill>
                <a:latin typeface="Assistant Light"/>
                <a:cs typeface="Assistant Light"/>
              </a:rPr>
              <a:t>״חלמתי שאתה פה״, ג׳יין בורדו</a:t>
            </a:r>
            <a:endParaRPr lang="he-IL" sz="1600"/>
          </a:p>
        </p:txBody>
      </p:sp>
      <p:cxnSp>
        <p:nvCxnSpPr>
          <p:cNvPr id="6" name="Connector 5"/>
          <p:cNvCxnSpPr/>
          <p:nvPr/>
        </p:nvCxnSpPr>
        <p:spPr>
          <a:xfrm>
            <a:off x="640080" y="4023360"/>
            <a:ext cx="10911535" cy="0"/>
          </a:xfrm>
          <a:prstGeom prst="line">
            <a:avLst/>
          </a:prstGeom>
          <a:ln w="9525">
            <a:solidFill>
              <a:srgbClr val="DDD2CA"/>
            </a:solidFill>
          </a:ln>
        </p:spPr>
      </p:cxnSp>
      <p:sp>
        <p:nvSpPr>
          <p:cNvPr id="7" name="TextBox 6"/>
          <p:cNvSpPr txBox="1"/>
          <p:nvPr/>
        </p:nvSpPr>
        <p:spPr>
          <a:xfrm>
            <a:off x="6355080" y="4297680"/>
            <a:ext cx="5196535" cy="205740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spcAft>
                <a:spcPts val="400"/>
              </a:spcAft>
              <a:buNone/>
            </a:pPr>
            <a:r>
              <a:rPr lang="he-IL" altLang="en-US" sz="2200" b="0">
                <a:solidFill>
                  <a:srgbClr val="2C7A78"/>
                </a:solidFill>
                <a:latin typeface="Assistant SemiBold"/>
                <a:cs typeface="Assistant SemiBold"/>
              </a:rPr>
              <a:t>למה בחרנו בקטע</a:t>
            </a:r>
            <a:endParaRPr lang="he-IL" sz="2200"/>
          </a:p>
          <a:p>
            <a:pPr algn="r" rtl="1">
              <a:lnSpc>
                <a:spcPct val="108000"/>
              </a:lnSpc>
              <a:buNone/>
            </a:pPr>
            <a:r>
              <a:rPr lang="he-IL" altLang="en-US" sz="2200" b="0">
                <a:solidFill>
                  <a:srgbClr val="2B2730"/>
                </a:solidFill>
                <a:latin typeface="Assistant Light"/>
                <a:cs typeface="Assistant Light"/>
              </a:rPr>
              <a:t>זה הפזמון, והוא חוזר שלוש פעמים. השורה ״וזה שיר שבא באמצע מלחמה״ כאילו מסבירה למה השיר נכתב. בחרנו בו כי הוא מראה איך המלחמה נכנסת גם לשיר אהבה.</a:t>
            </a:r>
            <a:endParaRPr lang="he-IL" sz="2200"/>
          </a:p>
        </p:txBody>
      </p:sp>
      <p:sp>
        <p:nvSpPr>
          <p:cNvPr id="8" name="TextBox 7"/>
          <p:cNvSpPr txBox="1"/>
          <p:nvPr/>
        </p:nvSpPr>
        <p:spPr>
          <a:xfrm>
            <a:off x="640080" y="4297680"/>
            <a:ext cx="5257800" cy="205740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spcAft>
                <a:spcPts val="400"/>
              </a:spcAft>
              <a:buNone/>
            </a:pPr>
            <a:r>
              <a:rPr lang="he-IL" altLang="en-US" sz="2200" b="0">
                <a:solidFill>
                  <a:srgbClr val="2C7A78"/>
                </a:solidFill>
                <a:latin typeface="Assistant SemiBold"/>
                <a:cs typeface="Assistant SemiBold"/>
              </a:rPr>
              <a:t>החיבור האישי שלנו</a:t>
            </a:r>
            <a:endParaRPr lang="he-IL" sz="2200"/>
          </a:p>
          <a:p>
            <a:pPr algn="r" rtl="1">
              <a:lnSpc>
                <a:spcPct val="108000"/>
              </a:lnSpc>
              <a:buNone/>
            </a:pPr>
            <a:r>
              <a:rPr lang="he-IL" altLang="en-US" sz="2200" b="0">
                <a:solidFill>
                  <a:srgbClr val="2B2730"/>
                </a:solidFill>
                <a:latin typeface="Assistant Light"/>
                <a:cs typeface="Assistant Light"/>
              </a:rPr>
              <a:t>השיר מדבר על ״דור יפה כל כך״, הדור שנושא את המלחמה על הכתפיים. זה הדור של האחים, בני הדודים והמדריכים שלנו, ולכן הוא נגע בנו.</a:t>
            </a:r>
            <a:endParaRPr lang="he-IL" sz="2200"/>
          </a:p>
        </p:txBody>
      </p:sp>
      <p:sp>
        <p:nvSpPr>
          <p:cNvPr id="9" name="Slide number"/>
          <p:cNvSpPr txBox="1"/>
          <p:nvPr/>
        </p:nvSpPr>
        <p:spPr>
          <a:xfrm>
            <a:off x="640080" y="635508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l" rtl="0">
              <a:buNone/>
            </a:pPr>
            <a:r>
              <a:rPr lang="he-IL" altLang="en-US" sz="1200" b="0">
                <a:solidFill>
                  <a:srgbClr val="736D7A"/>
                </a:solidFill>
                <a:latin typeface="Assistant"/>
                <a:cs typeface="Assistant"/>
              </a:rPr>
              <a:t>2</a:t>
            </a:r>
            <a:endParaRPr lang="he-IL" sz="1200"/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s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Artist photo" descr="talmon.jpg"/>
          <p:cNvPicPr>
            <a:picLocks noChangeAspect="1"/>
          </p:cNvPicPr>
          <p:nvPr/>
        </p:nvPicPr>
        <p:blipFill>
          <a:blip r:embed="rId3"/>
          <a:srcRect l="7042" r="7042"/>
          <a:stretch>
            <a:fillRect/>
          </a:stretch>
        </p:blipFill>
        <p:spPr>
          <a:xfrm>
            <a:off x="640080" y="1417320"/>
            <a:ext cx="36576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062472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l" rtl="1">
              <a:buNone/>
            </a:pPr>
            <a:r>
              <a:rPr lang="he-IL" altLang="en-US" sz="1000" b="0">
                <a:solidFill>
                  <a:srgbClr val="736D7A"/>
                </a:solidFill>
                <a:latin typeface="Assistant"/>
                <a:cs typeface="Assistant"/>
              </a:rPr>
              <a:t>דורון טלמון · צילום: Moshe Chitayat, ויקישיתוף, CC BY-SA 4.0</a:t>
            </a:r>
            <a:endParaRPr lang="he-IL" sz="1000"/>
          </a:p>
        </p:txBody>
      </p:sp>
      <p:sp>
        <p:nvSpPr>
          <p:cNvPr id="5" name="Title"/>
          <p:cNvSpPr txBox="1"/>
          <p:nvPr/>
        </p:nvSpPr>
        <p:spPr>
          <a:xfrm>
            <a:off x="640080" y="457200"/>
            <a:ext cx="10911535" cy="86868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r" rtl="1">
              <a:buNone/>
            </a:pPr>
            <a:r>
              <a:rPr lang="he-IL" altLang="en-US" sz="5600" b="1">
                <a:solidFill>
                  <a:srgbClr val="2B2730"/>
                </a:solidFill>
                <a:latin typeface="Amatic SC"/>
                <a:cs typeface="Amatic SC"/>
              </a:rPr>
              <a:t>ג׳יין בורדו</a:t>
            </a:r>
            <a:endParaRPr lang="he-IL" sz="5600"/>
          </a:p>
        </p:txBody>
      </p:sp>
      <p:sp>
        <p:nvSpPr>
          <p:cNvPr id="6" name="TextBox 5"/>
          <p:cNvSpPr txBox="1"/>
          <p:nvPr/>
        </p:nvSpPr>
        <p:spPr>
          <a:xfrm>
            <a:off x="10317175" y="1554480"/>
            <a:ext cx="1234440" cy="45720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2400" b="0">
                <a:solidFill>
                  <a:srgbClr val="2C7A78"/>
                </a:solidFill>
                <a:latin typeface="Assistant Light"/>
                <a:cs typeface="Assistant Light"/>
              </a:rPr>
              <a:t>2012</a:t>
            </a:r>
            <a:endParaRPr lang="he-IL" sz="2400"/>
          </a:p>
        </p:txBody>
      </p:sp>
      <p:sp>
        <p:nvSpPr>
          <p:cNvPr id="7" name="TextBox 6"/>
          <p:cNvSpPr txBox="1"/>
          <p:nvPr/>
        </p:nvSpPr>
        <p:spPr>
          <a:xfrm>
            <a:off x="4846320" y="1572768"/>
            <a:ext cx="5242255" cy="841248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he-IL" altLang="en-US" sz="2200" b="0">
                <a:solidFill>
                  <a:srgbClr val="2B2730"/>
                </a:solidFill>
                <a:latin typeface="Assistant Light"/>
                <a:cs typeface="Assistant Light"/>
              </a:rPr>
              <a:t>הלהקה הוקמה, ומנגנת פולק וקאנטרי בעברית.</a:t>
            </a:r>
            <a:endParaRPr lang="he-IL" sz="2200"/>
          </a:p>
        </p:txBody>
      </p:sp>
      <p:cxnSp>
        <p:nvCxnSpPr>
          <p:cNvPr id="8" name="Connector 7"/>
          <p:cNvCxnSpPr/>
          <p:nvPr/>
        </p:nvCxnSpPr>
        <p:spPr>
          <a:xfrm>
            <a:off x="4846320" y="2395728"/>
            <a:ext cx="6705295" cy="0"/>
          </a:xfrm>
          <a:prstGeom prst="line">
            <a:avLst/>
          </a:prstGeom>
          <a:ln w="9525">
            <a:solidFill>
              <a:srgbClr val="DDD2CA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10317175" y="2505456"/>
            <a:ext cx="1234440" cy="45720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2400" b="0">
                <a:solidFill>
                  <a:srgbClr val="2C7A78"/>
                </a:solidFill>
                <a:latin typeface="Assistant Light"/>
                <a:cs typeface="Assistant Light"/>
              </a:rPr>
              <a:t>2014</a:t>
            </a:r>
            <a:endParaRPr lang="he-IL" sz="2400"/>
          </a:p>
        </p:txBody>
      </p:sp>
      <p:sp>
        <p:nvSpPr>
          <p:cNvPr id="10" name="TextBox 9"/>
          <p:cNvSpPr txBox="1"/>
          <p:nvPr/>
        </p:nvSpPr>
        <p:spPr>
          <a:xfrm>
            <a:off x="4846320" y="2523744"/>
            <a:ext cx="5242255" cy="841248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he-IL" altLang="en-US" sz="2200" b="0">
                <a:solidFill>
                  <a:srgbClr val="2B2730"/>
                </a:solidFill>
                <a:latin typeface="Assistant Light"/>
                <a:cs typeface="Assistant Light"/>
              </a:rPr>
              <a:t>אלבום הבכורה מומן במימון המונים, ו״איך אפשר שלא״ הפך ללהיט.</a:t>
            </a:r>
            <a:endParaRPr lang="he-IL" sz="2200"/>
          </a:p>
        </p:txBody>
      </p:sp>
      <p:cxnSp>
        <p:nvCxnSpPr>
          <p:cNvPr id="11" name="Connector 10"/>
          <p:cNvCxnSpPr/>
          <p:nvPr/>
        </p:nvCxnSpPr>
        <p:spPr>
          <a:xfrm>
            <a:off x="4846320" y="3346704"/>
            <a:ext cx="6705295" cy="0"/>
          </a:xfrm>
          <a:prstGeom prst="line">
            <a:avLst/>
          </a:prstGeom>
          <a:ln w="9525">
            <a:solidFill>
              <a:srgbClr val="DDD2CA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10317175" y="3456432"/>
            <a:ext cx="1234440" cy="45720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2400" b="0">
                <a:solidFill>
                  <a:srgbClr val="2C7A78"/>
                </a:solidFill>
                <a:latin typeface="Assistant Light"/>
                <a:cs typeface="Assistant Light"/>
              </a:rPr>
              <a:t>2015</a:t>
            </a:r>
            <a:endParaRPr lang="he-IL" sz="2400"/>
          </a:p>
        </p:txBody>
      </p:sp>
      <p:sp>
        <p:nvSpPr>
          <p:cNvPr id="13" name="TextBox 12"/>
          <p:cNvSpPr txBox="1"/>
          <p:nvPr/>
        </p:nvSpPr>
        <p:spPr>
          <a:xfrm>
            <a:off x="4846320" y="3474720"/>
            <a:ext cx="5242255" cy="841248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he-IL" altLang="en-US" sz="2200" b="0">
                <a:solidFill>
                  <a:srgbClr val="2B2730"/>
                </a:solidFill>
                <a:latin typeface="Assistant Light"/>
                <a:cs typeface="Assistant Light"/>
              </a:rPr>
              <a:t>הלהקה הייתה המושמעת ביותר בגלגלצ באותה שנה.</a:t>
            </a:r>
            <a:endParaRPr lang="he-IL" sz="2200"/>
          </a:p>
        </p:txBody>
      </p:sp>
      <p:cxnSp>
        <p:nvCxnSpPr>
          <p:cNvPr id="14" name="Connector 13"/>
          <p:cNvCxnSpPr/>
          <p:nvPr/>
        </p:nvCxnSpPr>
        <p:spPr>
          <a:xfrm>
            <a:off x="4846320" y="4297680"/>
            <a:ext cx="6705295" cy="0"/>
          </a:xfrm>
          <a:prstGeom prst="line">
            <a:avLst/>
          </a:prstGeom>
          <a:ln w="9525">
            <a:solidFill>
              <a:srgbClr val="DDD2CA"/>
            </a:solidFill>
          </a:ln>
        </p:spPr>
      </p:cxnSp>
      <p:sp>
        <p:nvSpPr>
          <p:cNvPr id="15" name="TextBox 14"/>
          <p:cNvSpPr txBox="1"/>
          <p:nvPr/>
        </p:nvSpPr>
        <p:spPr>
          <a:xfrm>
            <a:off x="10317175" y="4407408"/>
            <a:ext cx="1234440" cy="45720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2400" b="0">
                <a:solidFill>
                  <a:srgbClr val="2C7A78"/>
                </a:solidFill>
                <a:latin typeface="Assistant Light"/>
                <a:cs typeface="Assistant Light"/>
              </a:rPr>
              <a:t>2016</a:t>
            </a:r>
            <a:endParaRPr lang="he-IL" sz="2400"/>
          </a:p>
        </p:txBody>
      </p:sp>
      <p:sp>
        <p:nvSpPr>
          <p:cNvPr id="16" name="TextBox 15"/>
          <p:cNvSpPr txBox="1"/>
          <p:nvPr/>
        </p:nvSpPr>
        <p:spPr>
          <a:xfrm>
            <a:off x="4846320" y="4425696"/>
            <a:ext cx="5242255" cy="841248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he-IL" altLang="en-US" sz="2200" b="0">
                <a:solidFill>
                  <a:srgbClr val="2B2730"/>
                </a:solidFill>
                <a:latin typeface="Assistant Light"/>
                <a:cs typeface="Assistant Light"/>
              </a:rPr>
              <a:t>קיבלה אלבום זהב על אלבום הבכורה.</a:t>
            </a:r>
            <a:endParaRPr lang="he-IL" sz="2200"/>
          </a:p>
        </p:txBody>
      </p:sp>
      <p:cxnSp>
        <p:nvCxnSpPr>
          <p:cNvPr id="17" name="Connector 16"/>
          <p:cNvCxnSpPr/>
          <p:nvPr/>
        </p:nvCxnSpPr>
        <p:spPr>
          <a:xfrm>
            <a:off x="4846320" y="5248656"/>
            <a:ext cx="6705295" cy="0"/>
          </a:xfrm>
          <a:prstGeom prst="line">
            <a:avLst/>
          </a:prstGeom>
          <a:ln w="9525">
            <a:solidFill>
              <a:srgbClr val="DDD2CA"/>
            </a:solidFill>
          </a:ln>
        </p:spPr>
      </p:cxnSp>
      <p:sp>
        <p:nvSpPr>
          <p:cNvPr id="18" name="TextBox 17"/>
          <p:cNvSpPr txBox="1"/>
          <p:nvPr/>
        </p:nvSpPr>
        <p:spPr>
          <a:xfrm>
            <a:off x="10317175" y="5358384"/>
            <a:ext cx="1234440" cy="45720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2400" b="0">
                <a:solidFill>
                  <a:srgbClr val="2C7A78"/>
                </a:solidFill>
                <a:latin typeface="Assistant Light"/>
                <a:cs typeface="Assistant Light"/>
              </a:rPr>
              <a:t>2023</a:t>
            </a:r>
            <a:endParaRPr lang="he-IL" sz="2400"/>
          </a:p>
        </p:txBody>
      </p:sp>
      <p:sp>
        <p:nvSpPr>
          <p:cNvPr id="19" name="TextBox 18"/>
          <p:cNvSpPr txBox="1"/>
          <p:nvPr/>
        </p:nvSpPr>
        <p:spPr>
          <a:xfrm>
            <a:off x="4846320" y="5376672"/>
            <a:ext cx="5242255" cy="841248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he-IL" altLang="en-US" sz="2200" b="0">
                <a:solidFill>
                  <a:srgbClr val="2B2730"/>
                </a:solidFill>
                <a:latin typeface="Assistant Light"/>
                <a:cs typeface="Assistant Light"/>
              </a:rPr>
              <a:t>בנובמבר, בזמן המלחמה, הוציאה את השיר ״לא לבד״.</a:t>
            </a:r>
            <a:endParaRPr lang="he-IL" sz="2200"/>
          </a:p>
        </p:txBody>
      </p:sp>
      <p:sp>
        <p:nvSpPr>
          <p:cNvPr id="20" name="Slide number"/>
          <p:cNvSpPr txBox="1"/>
          <p:nvPr/>
        </p:nvSpPr>
        <p:spPr>
          <a:xfrm>
            <a:off x="640080" y="635508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l" rtl="0">
              <a:buNone/>
            </a:pPr>
            <a:r>
              <a:rPr lang="he-IL" altLang="en-US" sz="1200" b="0">
                <a:solidFill>
                  <a:srgbClr val="736D7A"/>
                </a:solidFill>
                <a:latin typeface="Assistant"/>
                <a:cs typeface="Assistant"/>
              </a:rPr>
              <a:t>3</a:t>
            </a:r>
            <a:endParaRPr lang="he-IL" sz="1200"/>
          </a:p>
        </p:txBody>
      </p:sp>
    </p:spTree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s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640080" y="457200"/>
            <a:ext cx="10911535" cy="86868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r" rtl="1">
              <a:buNone/>
            </a:pPr>
            <a:r>
              <a:rPr lang="he-IL" altLang="en-US" sz="5600" b="1">
                <a:solidFill>
                  <a:srgbClr val="2B2730"/>
                </a:solidFill>
                <a:latin typeface="Amatic SC"/>
                <a:cs typeface="Amatic SC"/>
              </a:rPr>
              <a:t>מילות השיר</a:t>
            </a:r>
            <a:endParaRPr lang="he-IL" sz="5600"/>
          </a:p>
        </p:txBody>
      </p:sp>
      <p:sp>
        <p:nvSpPr>
          <p:cNvPr id="4" name="Lyrics placeholder"/>
          <p:cNvSpPr/>
          <p:nvPr/>
        </p:nvSpPr>
        <p:spPr>
          <a:xfrm>
            <a:off x="640080" y="1463040"/>
            <a:ext cx="10911535" cy="4434840"/>
          </a:xfrm>
          <a:prstGeom prst="rect">
            <a:avLst/>
          </a:prstGeom>
          <a:noFill/>
          <a:ln w="15875">
            <a:solidFill>
              <a:srgbClr val="DDD2CA"/>
            </a:solidFill>
            <a:prstDash val="dash"/>
          </a:ln>
        </p:spPr>
        <p:txBody>
          <a:bodyPr rtlCol="0" anchor="ctr"/>
          <a:lstStyle/>
          <a:p/>
        </p:txBody>
      </p:sp>
      <p:sp>
        <p:nvSpPr>
          <p:cNvPr id="5" name="Lyrics"/>
          <p:cNvSpPr txBox="1"/>
          <p:nvPr/>
        </p:nvSpPr>
        <p:spPr>
          <a:xfrm>
            <a:off x="640080" y="1463040"/>
            <a:ext cx="10911535" cy="443484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ctr" rtl="1">
              <a:spcAft>
                <a:spcPts val="800"/>
              </a:spcAft>
              <a:buNone/>
            </a:pPr>
            <a:r>
              <a:rPr lang="he-IL" altLang="en-US" sz="2600" b="0">
                <a:solidFill>
                  <a:srgbClr val="736D7A"/>
                </a:solidFill>
                <a:latin typeface="Assistant Light"/>
                <a:cs typeface="Assistant Light"/>
              </a:rPr>
              <a:t>כאן יודבקו מילות השיר המלאות</a:t>
            </a:r>
            <a:endParaRPr lang="he-IL" sz="2600"/>
          </a:p>
          <a:p>
            <a:pPr algn="ctr" rtl="1">
              <a:buNone/>
            </a:pPr>
            <a:r>
              <a:rPr lang="he-IL" altLang="en-US" sz="1800" b="0">
                <a:solidFill>
                  <a:srgbClr val="736D7A"/>
                </a:solidFill>
                <a:latin typeface="Assistant Light"/>
                <a:cs typeface="Assistant Light"/>
              </a:rPr>
              <a:t>לפי חלוקת הבתים והשורות המקורית</a:t>
            </a:r>
            <a:endParaRPr lang="he-IL" sz="1800"/>
          </a:p>
        </p:txBody>
      </p:sp>
      <p:sp>
        <p:nvSpPr>
          <p:cNvPr id="6" name="TextBox 5"/>
          <p:cNvSpPr txBox="1"/>
          <p:nvPr/>
        </p:nvSpPr>
        <p:spPr>
          <a:xfrm>
            <a:off x="640080" y="6035040"/>
            <a:ext cx="10911535" cy="32004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r" rtl="1">
              <a:buNone/>
            </a:pPr>
            <a:r>
              <a:rPr lang="he-IL" altLang="en-US" sz="1400" b="0">
                <a:solidFill>
                  <a:srgbClr val="736D7A"/>
                </a:solidFill>
                <a:latin typeface="Assistant Light"/>
                <a:cs typeface="Assistant Light"/>
              </a:rPr>
              <a:t>מילים: דורון טלמון · לחן: דורון טלמון ומתן גלעד · יצא ב-12 במרץ 2026</a:t>
            </a:r>
            <a:endParaRPr lang="he-IL" sz="1400"/>
          </a:p>
        </p:txBody>
      </p:sp>
      <p:sp>
        <p:nvSpPr>
          <p:cNvPr id="7" name="Slide number"/>
          <p:cNvSpPr txBox="1"/>
          <p:nvPr/>
        </p:nvSpPr>
        <p:spPr>
          <a:xfrm>
            <a:off x="640080" y="635508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l" rtl="0">
              <a:buNone/>
            </a:pPr>
            <a:r>
              <a:rPr lang="he-IL" altLang="en-US" sz="1200" b="0">
                <a:solidFill>
                  <a:srgbClr val="736D7A"/>
                </a:solidFill>
                <a:latin typeface="Assistant"/>
                <a:cs typeface="Assistant"/>
              </a:rPr>
              <a:t>4</a:t>
            </a:r>
            <a:endParaRPr lang="he-IL" sz="1200"/>
          </a:p>
        </p:txBody>
      </p:sp>
    </p:spTree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s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35040" y="411480"/>
            <a:ext cx="5516575" cy="36576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1800" b="0">
                <a:solidFill>
                  <a:srgbClr val="736D7A"/>
                </a:solidFill>
                <a:latin typeface="Assistant SemiBold"/>
                <a:cs typeface="Assistant SemiBold"/>
              </a:rPr>
              <a:t>מושג ראשון</a:t>
            </a:r>
            <a:endParaRPr lang="he-IL" sz="1800"/>
          </a:p>
        </p:txBody>
      </p:sp>
      <p:sp>
        <p:nvSpPr>
          <p:cNvPr id="4" name="Title"/>
          <p:cNvSpPr txBox="1"/>
          <p:nvPr/>
        </p:nvSpPr>
        <p:spPr>
          <a:xfrm>
            <a:off x="6035040" y="731520"/>
            <a:ext cx="5516575" cy="96012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r" rtl="1">
              <a:buNone/>
            </a:pPr>
            <a:r>
              <a:rPr lang="he-IL" altLang="en-US" sz="5200" b="1">
                <a:solidFill>
                  <a:srgbClr val="2C7A78"/>
                </a:solidFill>
                <a:latin typeface="Amatic SC"/>
                <a:cs typeface="Amatic SC"/>
              </a:rPr>
              <a:t>מטאפורה</a:t>
            </a:r>
            <a:endParaRPr lang="he-IL" sz="5200"/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5120640" cy="118872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l" rtl="1">
              <a:lnSpc>
                <a:spcPct val="104000"/>
              </a:lnSpc>
              <a:buNone/>
            </a:pPr>
            <a:r>
              <a:rPr lang="he-IL" altLang="en-US" sz="2000" b="0">
                <a:solidFill>
                  <a:srgbClr val="736D7A"/>
                </a:solidFill>
                <a:latin typeface="Assistant Light"/>
                <a:cs typeface="Assistant Light"/>
              </a:rPr>
              <a:t>תיאור של דבר אחד באמצעות דבר מעולם אחר, בלי מילת דימוי כמו ״כמו״ או ״כְּ״.</a:t>
            </a:r>
            <a:endParaRPr lang="he-IL" sz="2000"/>
          </a:p>
        </p:txBody>
      </p:sp>
      <p:sp>
        <p:nvSpPr>
          <p:cNvPr id="6" name="Quote band"/>
          <p:cNvSpPr/>
          <p:nvPr/>
        </p:nvSpPr>
        <p:spPr>
          <a:xfrm>
            <a:off x="0" y="1920240"/>
            <a:ext cx="12191695" cy="1965960"/>
          </a:xfrm>
          <a:prstGeom prst="rect">
            <a:avLst/>
          </a:prstGeom>
          <a:solidFill>
            <a:srgbClr val="EADFD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10911535" cy="196596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ctr" rtl="1">
              <a:lnSpc>
                <a:spcPct val="112000"/>
              </a:lnSpc>
              <a:spcAft>
                <a:spcPts val="400"/>
              </a:spcAft>
              <a:buNone/>
            </a:pPr>
            <a:r>
              <a:rPr lang="he-IL" altLang="en-US" sz="3000" b="0">
                <a:solidFill>
                  <a:srgbClr val="2B2730"/>
                </a:solidFill>
                <a:latin typeface="Assistant Light"/>
                <a:cs typeface="Assistant Light"/>
              </a:rPr>
              <a:t>זה דור יפה כל כך</a:t>
            </a:r>
            <a:endParaRPr lang="he-IL" sz="3000"/>
          </a:p>
          <a:p>
            <a:pPr algn="ctr" rtl="1">
              <a:lnSpc>
                <a:spcPct val="112000"/>
              </a:lnSpc>
              <a:spcAft>
                <a:spcPts val="400"/>
              </a:spcAft>
              <a:buNone/>
            </a:pPr>
            <a:r>
              <a:rPr lang="he-IL" altLang="en-US" sz="3000" b="0">
                <a:solidFill>
                  <a:srgbClr val="2B2730"/>
                </a:solidFill>
                <a:latin typeface="Assistant Light"/>
                <a:cs typeface="Assistant Light"/>
              </a:rPr>
              <a:t>זאת </a:t>
            </a:r>
            <a:r>
              <a:rPr lang="he-IL" altLang="en-US" sz="3000" b="0">
                <a:solidFill>
                  <a:srgbClr val="2C7A78"/>
                </a:solidFill>
                <a:latin typeface="Assistant Light"/>
                <a:cs typeface="Assistant Light"/>
              </a:rPr>
              <a:t>הבטחה שנפרמה</a:t>
            </a:r>
            <a:endParaRPr lang="he-IL" sz="3000"/>
          </a:p>
        </p:txBody>
      </p:sp>
      <p:sp>
        <p:nvSpPr>
          <p:cNvPr id="8" name="TextBox 7"/>
          <p:cNvSpPr txBox="1"/>
          <p:nvPr/>
        </p:nvSpPr>
        <p:spPr>
          <a:xfrm>
            <a:off x="6355080" y="4206240"/>
            <a:ext cx="5196535" cy="210312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spcAft>
                <a:spcPts val="400"/>
              </a:spcAft>
              <a:buNone/>
            </a:pPr>
            <a:r>
              <a:rPr lang="he-IL" altLang="en-US" sz="2200" b="0">
                <a:solidFill>
                  <a:srgbClr val="2C7A78"/>
                </a:solidFill>
                <a:latin typeface="Assistant SemiBold"/>
                <a:cs typeface="Assistant SemiBold"/>
              </a:rPr>
              <a:t>איך זה מופיע בשיר</a:t>
            </a:r>
            <a:endParaRPr lang="he-IL" sz="2200"/>
          </a:p>
          <a:p>
            <a:pPr algn="r" rtl="1">
              <a:lnSpc>
                <a:spcPct val="104000"/>
              </a:lnSpc>
              <a:buNone/>
            </a:pPr>
            <a:r>
              <a:rPr lang="he-IL" altLang="en-US" sz="2200" b="0">
                <a:solidFill>
                  <a:srgbClr val="2B2730"/>
                </a:solidFill>
                <a:latin typeface="Assistant Light"/>
                <a:cs typeface="Assistant Light"/>
              </a:rPr>
              <a:t>הדור הצעיר מתואר כ״הבטחה שנפרמה״, כמו בד שהחוטים שלו נפתחים.</a:t>
            </a:r>
            <a:endParaRPr lang="he-IL" sz="2200"/>
          </a:p>
        </p:txBody>
      </p:sp>
      <p:sp>
        <p:nvSpPr>
          <p:cNvPr id="9" name="TextBox 8"/>
          <p:cNvSpPr txBox="1"/>
          <p:nvPr/>
        </p:nvSpPr>
        <p:spPr>
          <a:xfrm>
            <a:off x="640080" y="4206240"/>
            <a:ext cx="5257800" cy="210312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spcAft>
                <a:spcPts val="400"/>
              </a:spcAft>
              <a:buNone/>
            </a:pPr>
            <a:r>
              <a:rPr lang="he-IL" altLang="en-US" sz="2200" b="0">
                <a:solidFill>
                  <a:srgbClr val="2C7A78"/>
                </a:solidFill>
                <a:latin typeface="Assistant SemiBold"/>
                <a:cs typeface="Assistant SemiBold"/>
              </a:rPr>
              <a:t>מה זה מוסיף למשמעות</a:t>
            </a:r>
            <a:endParaRPr lang="he-IL" sz="2200"/>
          </a:p>
          <a:p>
            <a:pPr algn="r" rtl="1">
              <a:lnSpc>
                <a:spcPct val="104000"/>
              </a:lnSpc>
              <a:buNone/>
            </a:pPr>
            <a:r>
              <a:rPr lang="he-IL" altLang="en-US" sz="2200" b="0">
                <a:solidFill>
                  <a:srgbClr val="2B2730"/>
                </a:solidFill>
                <a:latin typeface="Assistant Light"/>
                <a:cs typeface="Assistant Light"/>
              </a:rPr>
              <a:t>המטאפורה מראה שהחלומות של הצעירים נפגעו במלחמה. משהו שהיה שלם מתחיל להתפרק.</a:t>
            </a:r>
            <a:endParaRPr lang="he-IL" sz="2200"/>
          </a:p>
        </p:txBody>
      </p:sp>
      <p:sp>
        <p:nvSpPr>
          <p:cNvPr id="10" name="Slide number"/>
          <p:cNvSpPr txBox="1"/>
          <p:nvPr/>
        </p:nvSpPr>
        <p:spPr>
          <a:xfrm>
            <a:off x="640080" y="635508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l" rtl="0">
              <a:buNone/>
            </a:pPr>
            <a:r>
              <a:rPr lang="he-IL" altLang="en-US" sz="1200" b="0">
                <a:solidFill>
                  <a:srgbClr val="736D7A"/>
                </a:solidFill>
                <a:latin typeface="Assistant"/>
                <a:cs typeface="Assistant"/>
              </a:rPr>
              <a:t>5</a:t>
            </a:r>
            <a:endParaRPr lang="he-IL" sz="1200"/>
          </a:p>
        </p:txBody>
      </p:sp>
    </p:spTree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s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35040" y="411480"/>
            <a:ext cx="5516575" cy="36576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1800" b="0">
                <a:solidFill>
                  <a:srgbClr val="736D7A"/>
                </a:solidFill>
                <a:latin typeface="Assistant SemiBold"/>
                <a:cs typeface="Assistant SemiBold"/>
              </a:rPr>
              <a:t>מושג שני</a:t>
            </a:r>
            <a:endParaRPr lang="he-IL" sz="1800"/>
          </a:p>
        </p:txBody>
      </p:sp>
      <p:sp>
        <p:nvSpPr>
          <p:cNvPr id="4" name="Title"/>
          <p:cNvSpPr txBox="1"/>
          <p:nvPr/>
        </p:nvSpPr>
        <p:spPr>
          <a:xfrm>
            <a:off x="6035040" y="731520"/>
            <a:ext cx="5516575" cy="96012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r" rtl="1">
              <a:buNone/>
            </a:pPr>
            <a:r>
              <a:rPr lang="he-IL" altLang="en-US" sz="5200" b="1">
                <a:solidFill>
                  <a:srgbClr val="2C7A78"/>
                </a:solidFill>
                <a:latin typeface="Amatic SC"/>
                <a:cs typeface="Amatic SC"/>
              </a:rPr>
              <a:t>שאלה רטורית</a:t>
            </a:r>
            <a:endParaRPr lang="he-IL" sz="5200"/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5120640" cy="118872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l" rtl="1">
              <a:lnSpc>
                <a:spcPct val="104000"/>
              </a:lnSpc>
              <a:buNone/>
            </a:pPr>
            <a:r>
              <a:rPr lang="he-IL" altLang="en-US" sz="2000" b="0">
                <a:solidFill>
                  <a:srgbClr val="736D7A"/>
                </a:solidFill>
                <a:latin typeface="Assistant Light"/>
                <a:cs typeface="Assistant Light"/>
              </a:rPr>
              <a:t>שאלה שלא מחכים לה לתשובה. היא באה להביע רגש או לעורר מחשבה.</a:t>
            </a:r>
            <a:endParaRPr lang="he-IL" sz="2000"/>
          </a:p>
        </p:txBody>
      </p:sp>
      <p:sp>
        <p:nvSpPr>
          <p:cNvPr id="6" name="Quote band"/>
          <p:cNvSpPr/>
          <p:nvPr/>
        </p:nvSpPr>
        <p:spPr>
          <a:xfrm>
            <a:off x="0" y="1920240"/>
            <a:ext cx="12191695" cy="1965960"/>
          </a:xfrm>
          <a:prstGeom prst="rect">
            <a:avLst/>
          </a:prstGeom>
          <a:solidFill>
            <a:srgbClr val="EADFD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10911535" cy="196596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ctr" rtl="1">
              <a:lnSpc>
                <a:spcPct val="112000"/>
              </a:lnSpc>
              <a:spcAft>
                <a:spcPts val="400"/>
              </a:spcAft>
              <a:buNone/>
            </a:pPr>
            <a:r>
              <a:rPr lang="he-IL" altLang="en-US" sz="3000" b="0">
                <a:solidFill>
                  <a:srgbClr val="2C7A78"/>
                </a:solidFill>
                <a:latin typeface="Assistant Light"/>
                <a:cs typeface="Assistant Light"/>
              </a:rPr>
              <a:t>האם</a:t>
            </a:r>
            <a:r>
              <a:rPr lang="he-IL" altLang="en-US" sz="3000" b="0">
                <a:solidFill>
                  <a:srgbClr val="2B2730"/>
                </a:solidFill>
                <a:latin typeface="Assistant Light"/>
                <a:cs typeface="Assistant Light"/>
              </a:rPr>
              <a:t> שפתיו ידעו רכות של נשיקה</a:t>
            </a:r>
            <a:endParaRPr lang="he-IL" sz="3000"/>
          </a:p>
          <a:p>
            <a:pPr algn="ctr" rtl="1">
              <a:lnSpc>
                <a:spcPct val="112000"/>
              </a:lnSpc>
              <a:spcAft>
                <a:spcPts val="400"/>
              </a:spcAft>
              <a:buNone/>
            </a:pPr>
            <a:r>
              <a:rPr lang="he-IL" altLang="en-US" sz="3000" b="0">
                <a:solidFill>
                  <a:srgbClr val="2C7A78"/>
                </a:solidFill>
                <a:latin typeface="Assistant Light"/>
                <a:cs typeface="Assistant Light"/>
              </a:rPr>
              <a:t>האם</a:t>
            </a:r>
            <a:r>
              <a:rPr lang="he-IL" altLang="en-US" sz="3000" b="0">
                <a:solidFill>
                  <a:srgbClr val="2B2730"/>
                </a:solidFill>
                <a:latin typeface="Assistant Light"/>
                <a:cs typeface="Assistant Light"/>
              </a:rPr>
              <a:t> שפתיה רעדו כשצחקה</a:t>
            </a:r>
            <a:endParaRPr lang="he-IL" sz="3000"/>
          </a:p>
        </p:txBody>
      </p:sp>
      <p:sp>
        <p:nvSpPr>
          <p:cNvPr id="8" name="TextBox 7"/>
          <p:cNvSpPr txBox="1"/>
          <p:nvPr/>
        </p:nvSpPr>
        <p:spPr>
          <a:xfrm>
            <a:off x="6355080" y="4206240"/>
            <a:ext cx="5196535" cy="210312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spcAft>
                <a:spcPts val="400"/>
              </a:spcAft>
              <a:buNone/>
            </a:pPr>
            <a:r>
              <a:rPr lang="he-IL" altLang="en-US" sz="2200" b="0">
                <a:solidFill>
                  <a:srgbClr val="2C7A78"/>
                </a:solidFill>
                <a:latin typeface="Assistant SemiBold"/>
                <a:cs typeface="Assistant SemiBold"/>
              </a:rPr>
              <a:t>איך זה מופיע בשיר</a:t>
            </a:r>
            <a:endParaRPr lang="he-IL" sz="2200"/>
          </a:p>
          <a:p>
            <a:pPr algn="r" rtl="1">
              <a:lnSpc>
                <a:spcPct val="104000"/>
              </a:lnSpc>
              <a:buNone/>
            </a:pPr>
            <a:r>
              <a:rPr lang="he-IL" altLang="en-US" sz="2200" b="0">
                <a:solidFill>
                  <a:srgbClr val="2B2730"/>
                </a:solidFill>
                <a:latin typeface="Assistant Light"/>
                <a:cs typeface="Assistant Light"/>
              </a:rPr>
              <a:t>השיר שואל אם הנופלים הספיקו להתאהב ולצחוק. אין מי שיענה על השאלות.</a:t>
            </a:r>
            <a:endParaRPr lang="he-IL" sz="2200"/>
          </a:p>
        </p:txBody>
      </p:sp>
      <p:sp>
        <p:nvSpPr>
          <p:cNvPr id="9" name="TextBox 8"/>
          <p:cNvSpPr txBox="1"/>
          <p:nvPr/>
        </p:nvSpPr>
        <p:spPr>
          <a:xfrm>
            <a:off x="640080" y="4206240"/>
            <a:ext cx="5257800" cy="210312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spcAft>
                <a:spcPts val="400"/>
              </a:spcAft>
              <a:buNone/>
            </a:pPr>
            <a:r>
              <a:rPr lang="he-IL" altLang="en-US" sz="2200" b="0">
                <a:solidFill>
                  <a:srgbClr val="2C7A78"/>
                </a:solidFill>
                <a:latin typeface="Assistant SemiBold"/>
                <a:cs typeface="Assistant SemiBold"/>
              </a:rPr>
              <a:t>מה זה מוסיף למשמעות</a:t>
            </a:r>
            <a:endParaRPr lang="he-IL" sz="2200"/>
          </a:p>
          <a:p>
            <a:pPr algn="r" rtl="1">
              <a:lnSpc>
                <a:spcPct val="104000"/>
              </a:lnSpc>
              <a:buNone/>
            </a:pPr>
            <a:r>
              <a:rPr lang="he-IL" altLang="en-US" sz="2200" b="0">
                <a:solidFill>
                  <a:srgbClr val="2B2730"/>
                </a:solidFill>
                <a:latin typeface="Assistant Light"/>
                <a:cs typeface="Assistant Light"/>
              </a:rPr>
              <a:t>השאלות מראות כמה צעירים היו הנופלים, וכמה דברים לא הספיקו לחוות.</a:t>
            </a:r>
            <a:endParaRPr lang="he-IL" sz="2200"/>
          </a:p>
        </p:txBody>
      </p:sp>
      <p:sp>
        <p:nvSpPr>
          <p:cNvPr id="10" name="Slide number"/>
          <p:cNvSpPr txBox="1"/>
          <p:nvPr/>
        </p:nvSpPr>
        <p:spPr>
          <a:xfrm>
            <a:off x="640080" y="635508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l" rtl="0">
              <a:buNone/>
            </a:pPr>
            <a:r>
              <a:rPr lang="he-IL" altLang="en-US" sz="1200" b="0">
                <a:solidFill>
                  <a:srgbClr val="736D7A"/>
                </a:solidFill>
                <a:latin typeface="Assistant"/>
                <a:cs typeface="Assistant"/>
              </a:rPr>
              <a:t>6</a:t>
            </a:r>
            <a:endParaRPr lang="he-IL" sz="1200"/>
          </a:p>
        </p:txBody>
      </p:sp>
    </p:spTree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s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640080" y="457200"/>
            <a:ext cx="10911535" cy="86868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r" rtl="1">
              <a:buNone/>
            </a:pPr>
            <a:r>
              <a:rPr lang="he-IL" altLang="en-US" sz="5600" b="1">
                <a:solidFill>
                  <a:srgbClr val="2B2730"/>
                </a:solidFill>
                <a:latin typeface="Amatic SC"/>
                <a:cs typeface="Amatic SC"/>
              </a:rPr>
              <a:t>מילים שמעוררות את המלחמה</a:t>
            </a:r>
            <a:endParaRPr lang="he-IL" sz="5600"/>
          </a:p>
        </p:txBody>
      </p:sp>
      <p:sp>
        <p:nvSpPr>
          <p:cNvPr id="4" name="TextBox 3"/>
          <p:cNvSpPr txBox="1"/>
          <p:nvPr/>
        </p:nvSpPr>
        <p:spPr>
          <a:xfrm>
            <a:off x="640080" y="1298448"/>
            <a:ext cx="10911535" cy="45720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2000" b="0">
                <a:solidFill>
                  <a:srgbClr val="736D7A"/>
                </a:solidFill>
                <a:latin typeface="Assistant Light"/>
                <a:cs typeface="Assistant Light"/>
              </a:rPr>
              <a:t>מילים מהשיר שמתארות דור שלם שנושא את המלחמה</a:t>
            </a:r>
            <a:endParaRPr lang="he-IL" sz="2000"/>
          </a:p>
        </p:txBody>
      </p:sp>
      <p:sp>
        <p:nvSpPr>
          <p:cNvPr id="5" name="TextBox 4"/>
          <p:cNvSpPr txBox="1"/>
          <p:nvPr/>
        </p:nvSpPr>
        <p:spPr>
          <a:xfrm>
            <a:off x="9400214" y="2408301"/>
            <a:ext cx="2151400" cy="1069848"/>
          </a:xfrm>
          <a:prstGeom prst="rect">
            <a:avLst/>
          </a:prstGeom>
          <a:noFill/>
        </p:spPr>
        <p:txBody>
          <a:bodyPr wrap="non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5616" b="1">
                <a:solidFill>
                  <a:srgbClr val="2C7A78"/>
                </a:solidFill>
                <a:latin typeface="Amatic SC"/>
                <a:cs typeface="Amatic SC"/>
              </a:rPr>
              <a:t>אלונקה</a:t>
            </a:r>
            <a:endParaRPr lang="he-IL" sz="5616"/>
          </a:p>
        </p:txBody>
      </p:sp>
      <p:sp>
        <p:nvSpPr>
          <p:cNvPr id="6" name="TextBox 5"/>
          <p:cNvSpPr txBox="1"/>
          <p:nvPr/>
        </p:nvSpPr>
        <p:spPr>
          <a:xfrm>
            <a:off x="7210531" y="2792349"/>
            <a:ext cx="1641043" cy="594360"/>
          </a:xfrm>
          <a:prstGeom prst="rect">
            <a:avLst/>
          </a:prstGeom>
          <a:noFill/>
        </p:spPr>
        <p:txBody>
          <a:bodyPr wrap="non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3120" b="0">
                <a:solidFill>
                  <a:srgbClr val="2B2730"/>
                </a:solidFill>
                <a:latin typeface="Assistant Light"/>
                <a:cs typeface="Assistant Light"/>
              </a:rPr>
              <a:t>העול כבד</a:t>
            </a:r>
            <a:endParaRPr lang="he-IL" sz="3120"/>
          </a:p>
        </p:txBody>
      </p:sp>
      <p:sp>
        <p:nvSpPr>
          <p:cNvPr id="7" name="TextBox 6"/>
          <p:cNvSpPr txBox="1"/>
          <p:nvPr/>
        </p:nvSpPr>
        <p:spPr>
          <a:xfrm>
            <a:off x="4173291" y="2647187"/>
            <a:ext cx="2488600" cy="683514"/>
          </a:xfrm>
          <a:prstGeom prst="rect">
            <a:avLst/>
          </a:prstGeom>
          <a:noFill/>
        </p:spPr>
        <p:txBody>
          <a:bodyPr wrap="non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3588" b="0">
                <a:solidFill>
                  <a:srgbClr val="2B2730"/>
                </a:solidFill>
                <a:latin typeface="Assistant Light"/>
                <a:cs typeface="Assistant Light"/>
              </a:rPr>
              <a:t>בכי על כרית</a:t>
            </a:r>
            <a:endParaRPr lang="he-IL" sz="3588"/>
          </a:p>
        </p:txBody>
      </p:sp>
      <p:sp>
        <p:nvSpPr>
          <p:cNvPr id="8" name="TextBox 7"/>
          <p:cNvSpPr txBox="1"/>
          <p:nvPr/>
        </p:nvSpPr>
        <p:spPr>
          <a:xfrm>
            <a:off x="1190731" y="2660904"/>
            <a:ext cx="2433919" cy="564642"/>
          </a:xfrm>
          <a:prstGeom prst="rect">
            <a:avLst/>
          </a:prstGeom>
          <a:noFill/>
        </p:spPr>
        <p:txBody>
          <a:bodyPr wrap="non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2964" b="0">
                <a:solidFill>
                  <a:srgbClr val="2B2730"/>
                </a:solidFill>
                <a:latin typeface="Assistant Light"/>
                <a:cs typeface="Assistant Light"/>
              </a:rPr>
              <a:t>משלם את המחיר</a:t>
            </a:r>
            <a:endParaRPr lang="he-IL" sz="2964"/>
          </a:p>
        </p:txBody>
      </p:sp>
      <p:sp>
        <p:nvSpPr>
          <p:cNvPr id="9" name="TextBox 8"/>
          <p:cNvSpPr txBox="1"/>
          <p:nvPr/>
        </p:nvSpPr>
        <p:spPr>
          <a:xfrm>
            <a:off x="5798850" y="3615309"/>
            <a:ext cx="5295564" cy="980694"/>
          </a:xfrm>
          <a:prstGeom prst="rect">
            <a:avLst/>
          </a:prstGeom>
          <a:noFill/>
        </p:spPr>
        <p:txBody>
          <a:bodyPr wrap="non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5148" b="1">
                <a:solidFill>
                  <a:srgbClr val="2C7A78"/>
                </a:solidFill>
                <a:latin typeface="Amatic SC"/>
                <a:cs typeface="Amatic SC"/>
              </a:rPr>
              <a:t>המלחמות לא נגמרות</a:t>
            </a:r>
            <a:endParaRPr lang="he-IL" sz="5148"/>
          </a:p>
        </p:txBody>
      </p:sp>
      <p:sp>
        <p:nvSpPr>
          <p:cNvPr id="10" name="TextBox 9"/>
          <p:cNvSpPr txBox="1"/>
          <p:nvPr/>
        </p:nvSpPr>
        <p:spPr>
          <a:xfrm>
            <a:off x="1950506" y="3984498"/>
            <a:ext cx="3299703" cy="534924"/>
          </a:xfrm>
          <a:prstGeom prst="rect">
            <a:avLst/>
          </a:prstGeom>
          <a:noFill/>
        </p:spPr>
        <p:txBody>
          <a:bodyPr wrap="non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2808" b="0">
                <a:solidFill>
                  <a:srgbClr val="2B2730"/>
                </a:solidFill>
                <a:latin typeface="Assistant Light"/>
                <a:cs typeface="Assistant Light"/>
              </a:rPr>
              <a:t>חלום קפוא בתוך שממה</a:t>
            </a:r>
            <a:endParaRPr lang="he-IL" sz="2808"/>
          </a:p>
        </p:txBody>
      </p:sp>
      <p:sp>
        <p:nvSpPr>
          <p:cNvPr id="11" name="TextBox 10"/>
          <p:cNvSpPr txBox="1"/>
          <p:nvPr/>
        </p:nvSpPr>
        <p:spPr>
          <a:xfrm>
            <a:off x="7483632" y="4896612"/>
            <a:ext cx="3245022" cy="624077"/>
          </a:xfrm>
          <a:prstGeom prst="rect">
            <a:avLst/>
          </a:prstGeom>
          <a:noFill/>
        </p:spPr>
        <p:txBody>
          <a:bodyPr wrap="non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3276" b="0">
                <a:solidFill>
                  <a:srgbClr val="2B2730"/>
                </a:solidFill>
                <a:latin typeface="Assistant Light"/>
                <a:cs typeface="Assistant Light"/>
              </a:rPr>
              <a:t>שיחזרו כל הילדים</a:t>
            </a:r>
            <a:endParaRPr lang="he-IL" sz="3276"/>
          </a:p>
        </p:txBody>
      </p:sp>
      <p:sp>
        <p:nvSpPr>
          <p:cNvPr id="12" name="TextBox 11"/>
          <p:cNvSpPr txBox="1"/>
          <p:nvPr/>
        </p:nvSpPr>
        <p:spPr>
          <a:xfrm>
            <a:off x="3544153" y="4879467"/>
            <a:ext cx="3390839" cy="950976"/>
          </a:xfrm>
          <a:prstGeom prst="rect">
            <a:avLst/>
          </a:prstGeom>
          <a:noFill/>
        </p:spPr>
        <p:txBody>
          <a:bodyPr wrap="non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4992" b="1">
                <a:solidFill>
                  <a:srgbClr val="2C7A78"/>
                </a:solidFill>
                <a:latin typeface="Amatic SC"/>
                <a:cs typeface="Amatic SC"/>
              </a:rPr>
              <a:t>באמצע מלחמה</a:t>
            </a:r>
            <a:endParaRPr lang="he-IL" sz="4992"/>
          </a:p>
        </p:txBody>
      </p:sp>
      <p:sp>
        <p:nvSpPr>
          <p:cNvPr id="13" name="Slide number"/>
          <p:cNvSpPr txBox="1"/>
          <p:nvPr/>
        </p:nvSpPr>
        <p:spPr>
          <a:xfrm>
            <a:off x="640080" y="635508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l" rtl="0">
              <a:buNone/>
            </a:pPr>
            <a:r>
              <a:rPr lang="he-IL" altLang="en-US" sz="1200" b="0">
                <a:solidFill>
                  <a:srgbClr val="736D7A"/>
                </a:solidFill>
                <a:latin typeface="Assistant"/>
                <a:cs typeface="Assistant"/>
              </a:rPr>
              <a:t>7</a:t>
            </a:r>
            <a:endParaRPr lang="he-IL" sz="1200"/>
          </a:p>
        </p:txBody>
      </p:sp>
    </p:spTree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s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Event photo" descr="ev_reserve.jpg"/>
          <p:cNvPicPr>
            <a:picLocks noChangeAspect="1"/>
          </p:cNvPicPr>
          <p:nvPr/>
        </p:nvPicPr>
        <p:blipFill>
          <a:blip r:embed="rId3"/>
          <a:srcRect l="29524" r="29524"/>
          <a:stretch>
            <a:fillRect/>
          </a:stretch>
        </p:blipFill>
        <p:spPr>
          <a:xfrm>
            <a:off x="7985455" y="0"/>
            <a:ext cx="420624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168335" y="6510528"/>
            <a:ext cx="3840479" cy="256032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r" rtl="1">
              <a:buNone/>
            </a:pPr>
            <a:r>
              <a:rPr lang="he-IL" altLang="en-US" sz="1000" b="0">
                <a:solidFill>
                  <a:srgbClr val="EEEEEE"/>
                </a:solidFill>
                <a:latin typeface="Assistant"/>
                <a:cs typeface="Assistant"/>
              </a:rPr>
              <a:t>צילום: דובר צה״ל, ויקישיתוף, CC BY-SA 3.0</a:t>
            </a:r>
            <a:endParaRPr lang="he-IL" sz="1000"/>
          </a:p>
        </p:txBody>
      </p:sp>
      <p:sp>
        <p:nvSpPr>
          <p:cNvPr id="5" name="Title"/>
          <p:cNvSpPr txBox="1"/>
          <p:nvPr/>
        </p:nvSpPr>
        <p:spPr>
          <a:xfrm>
            <a:off x="640080" y="457200"/>
            <a:ext cx="6796735" cy="86868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r" rtl="1">
              <a:buNone/>
            </a:pPr>
            <a:r>
              <a:rPr lang="he-IL" altLang="en-US" sz="5200" b="1">
                <a:solidFill>
                  <a:srgbClr val="2B2730"/>
                </a:solidFill>
                <a:latin typeface="Amatic SC"/>
                <a:cs typeface="Amatic SC"/>
              </a:rPr>
              <a:t>האירועים שהמילים מעוררות</a:t>
            </a:r>
            <a:endParaRPr lang="he-IL" sz="5200"/>
          </a:p>
        </p:txBody>
      </p:sp>
      <p:sp>
        <p:nvSpPr>
          <p:cNvPr id="6" name="TextBox 5"/>
          <p:cNvSpPr txBox="1"/>
          <p:nvPr/>
        </p:nvSpPr>
        <p:spPr>
          <a:xfrm>
            <a:off x="6796735" y="141732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3400" b="1">
                <a:solidFill>
                  <a:srgbClr val="2C7A78"/>
                </a:solidFill>
                <a:latin typeface="Amatic SC"/>
                <a:cs typeface="Amatic SC"/>
              </a:rPr>
              <a:t>1</a:t>
            </a:r>
            <a:endParaRPr lang="he-IL" sz="3400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6019495" cy="841248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he-IL" altLang="en-US" sz="2100" b="0">
                <a:solidFill>
                  <a:srgbClr val="2C7A78"/>
                </a:solidFill>
                <a:latin typeface="Assistant SemiBold"/>
                <a:cs typeface="Assistant SemiBold"/>
              </a:rPr>
              <a:t>המלחמה  </a:t>
            </a:r>
            <a:r>
              <a:rPr lang="he-IL" altLang="en-US" sz="2100" b="0">
                <a:solidFill>
                  <a:srgbClr val="2B2730"/>
                </a:solidFill>
                <a:latin typeface="Assistant Light"/>
                <a:cs typeface="Assistant Light"/>
              </a:rPr>
              <a:t>דור שלם של צעירים משרת בצבא ובמילואים, ונושא את המחיר.</a:t>
            </a:r>
            <a:endParaRPr lang="he-IL" sz="2100"/>
          </a:p>
        </p:txBody>
      </p:sp>
      <p:sp>
        <p:nvSpPr>
          <p:cNvPr id="8" name="TextBox 7"/>
          <p:cNvSpPr txBox="1"/>
          <p:nvPr/>
        </p:nvSpPr>
        <p:spPr>
          <a:xfrm>
            <a:off x="6796735" y="228600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3400" b="1">
                <a:solidFill>
                  <a:srgbClr val="2C7A78"/>
                </a:solidFill>
                <a:latin typeface="Amatic SC"/>
                <a:cs typeface="Amatic SC"/>
              </a:rPr>
              <a:t>2</a:t>
            </a:r>
            <a:endParaRPr lang="he-IL" sz="3400"/>
          </a:p>
        </p:txBody>
      </p:sp>
      <p:sp>
        <p:nvSpPr>
          <p:cNvPr id="9" name="TextBox 8"/>
          <p:cNvSpPr txBox="1"/>
          <p:nvPr/>
        </p:nvSpPr>
        <p:spPr>
          <a:xfrm>
            <a:off x="640080" y="2331720"/>
            <a:ext cx="6019495" cy="841248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he-IL" altLang="en-US" sz="2100" b="0">
                <a:solidFill>
                  <a:srgbClr val="2C7A78"/>
                </a:solidFill>
                <a:latin typeface="Assistant SemiBold"/>
                <a:cs typeface="Assistant SemiBold"/>
              </a:rPr>
              <a:t>ההשראה  </a:t>
            </a:r>
            <a:r>
              <a:rPr lang="he-IL" altLang="en-US" sz="2100" b="0">
                <a:solidFill>
                  <a:srgbClr val="2B2730"/>
                </a:solidFill>
                <a:latin typeface="Assistant Light"/>
                <a:cs typeface="Assistant Light"/>
              </a:rPr>
              <a:t>דורון טלמון מתבוננת בצעירים סביבה, ובפער בין הגיל שלהם למציאות.</a:t>
            </a:r>
            <a:endParaRPr lang="he-IL" sz="2100"/>
          </a:p>
        </p:txBody>
      </p:sp>
      <p:sp>
        <p:nvSpPr>
          <p:cNvPr id="10" name="TextBox 9"/>
          <p:cNvSpPr txBox="1"/>
          <p:nvPr/>
        </p:nvSpPr>
        <p:spPr>
          <a:xfrm>
            <a:off x="6796735" y="315468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3400" b="1">
                <a:solidFill>
                  <a:srgbClr val="2C7A78"/>
                </a:solidFill>
                <a:latin typeface="Amatic SC"/>
                <a:cs typeface="Amatic SC"/>
              </a:rPr>
              <a:t>3</a:t>
            </a:r>
            <a:endParaRPr lang="he-IL" sz="3400"/>
          </a:p>
        </p:txBody>
      </p:sp>
      <p:sp>
        <p:nvSpPr>
          <p:cNvPr id="11" name="TextBox 10"/>
          <p:cNvSpPr txBox="1"/>
          <p:nvPr/>
        </p:nvSpPr>
        <p:spPr>
          <a:xfrm>
            <a:off x="640080" y="3200400"/>
            <a:ext cx="6019495" cy="841248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he-IL" altLang="en-US" sz="2100" b="0">
                <a:solidFill>
                  <a:srgbClr val="2C7A78"/>
                </a:solidFill>
                <a:latin typeface="Assistant SemiBold"/>
                <a:cs typeface="Assistant SemiBold"/>
              </a:rPr>
              <a:t>המטרה  </a:t>
            </a:r>
            <a:r>
              <a:rPr lang="he-IL" altLang="en-US" sz="2100" b="0">
                <a:solidFill>
                  <a:srgbClr val="2B2730"/>
                </a:solidFill>
                <a:latin typeface="Assistant Light"/>
                <a:cs typeface="Assistant Light"/>
              </a:rPr>
              <a:t>היא רוצה להביע הערכה, להכיר בקושי ולקוות לעתיד טוב יותר.</a:t>
            </a:r>
            <a:endParaRPr lang="he-IL" sz="2100"/>
          </a:p>
        </p:txBody>
      </p:sp>
      <p:sp>
        <p:nvSpPr>
          <p:cNvPr id="12" name="TextBox 11"/>
          <p:cNvSpPr txBox="1"/>
          <p:nvPr/>
        </p:nvSpPr>
        <p:spPr>
          <a:xfrm>
            <a:off x="6796735" y="402336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3400" b="1">
                <a:solidFill>
                  <a:srgbClr val="2C7A78"/>
                </a:solidFill>
                <a:latin typeface="Amatic SC"/>
                <a:cs typeface="Amatic SC"/>
              </a:rPr>
              <a:t>4</a:t>
            </a:r>
            <a:endParaRPr lang="he-IL" sz="3400"/>
          </a:p>
        </p:txBody>
      </p:sp>
      <p:sp>
        <p:nvSpPr>
          <p:cNvPr id="13" name="TextBox 12"/>
          <p:cNvSpPr txBox="1"/>
          <p:nvPr/>
        </p:nvSpPr>
        <p:spPr>
          <a:xfrm>
            <a:off x="640080" y="4069080"/>
            <a:ext cx="6019495" cy="841248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he-IL" altLang="en-US" sz="2100" b="0">
                <a:solidFill>
                  <a:srgbClr val="2C7A78"/>
                </a:solidFill>
                <a:latin typeface="Assistant SemiBold"/>
                <a:cs typeface="Assistant SemiBold"/>
              </a:rPr>
              <a:t>12.3.2026  </a:t>
            </a:r>
            <a:r>
              <a:rPr lang="he-IL" altLang="en-US" sz="2100" b="0">
                <a:solidFill>
                  <a:srgbClr val="2B2730"/>
                </a:solidFill>
                <a:latin typeface="Assistant Light"/>
                <a:cs typeface="Assistant Light"/>
              </a:rPr>
              <a:t>השיר יוצא, כמחווה ל״שיר של אחרי מלחמה״ של אריק איינשטיין.</a:t>
            </a:r>
            <a:endParaRPr lang="he-IL" sz="2100"/>
          </a:p>
        </p:txBody>
      </p:sp>
      <p:sp>
        <p:nvSpPr>
          <p:cNvPr id="14" name="TextBox 13"/>
          <p:cNvSpPr txBox="1"/>
          <p:nvPr/>
        </p:nvSpPr>
        <p:spPr>
          <a:xfrm>
            <a:off x="6796735" y="489204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3400" b="1">
                <a:solidFill>
                  <a:srgbClr val="2C7A78"/>
                </a:solidFill>
                <a:latin typeface="Amatic SC"/>
                <a:cs typeface="Amatic SC"/>
              </a:rPr>
              <a:t>5</a:t>
            </a:r>
            <a:endParaRPr lang="he-IL" sz="3400"/>
          </a:p>
        </p:txBody>
      </p:sp>
      <p:sp>
        <p:nvSpPr>
          <p:cNvPr id="15" name="TextBox 14"/>
          <p:cNvSpPr txBox="1"/>
          <p:nvPr/>
        </p:nvSpPr>
        <p:spPr>
          <a:xfrm>
            <a:off x="640080" y="4937760"/>
            <a:ext cx="6019495" cy="841248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0000"/>
              </a:lnSpc>
              <a:buNone/>
            </a:pPr>
            <a:r>
              <a:rPr lang="he-IL" altLang="en-US" sz="2100" b="0">
                <a:solidFill>
                  <a:srgbClr val="2C7A78"/>
                </a:solidFill>
                <a:latin typeface="Assistant SemiBold"/>
                <a:cs typeface="Assistant SemiBold"/>
              </a:rPr>
              <a:t>הביקורת  </a:t>
            </a:r>
            <a:r>
              <a:rPr lang="he-IL" altLang="en-US" sz="2100" b="0">
                <a:solidFill>
                  <a:srgbClr val="2B2730"/>
                </a:solidFill>
                <a:latin typeface="Assistant Light"/>
                <a:cs typeface="Assistant Light"/>
              </a:rPr>
              <a:t>יוסי הרסונסקי מתאר אותו כשיר פולק עדין שתופס רגע מורכב.</a:t>
            </a:r>
            <a:endParaRPr lang="he-IL" sz="2100"/>
          </a:p>
        </p:txBody>
      </p:sp>
      <p:sp>
        <p:nvSpPr>
          <p:cNvPr id="16" name="TextBox 15"/>
          <p:cNvSpPr txBox="1"/>
          <p:nvPr/>
        </p:nvSpPr>
        <p:spPr>
          <a:xfrm>
            <a:off x="640080" y="5806440"/>
            <a:ext cx="6796735" cy="54864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2000"/>
              </a:lnSpc>
              <a:buNone/>
            </a:pPr>
            <a:r>
              <a:rPr lang="he-IL" altLang="en-US" sz="1600" b="0">
                <a:solidFill>
                  <a:srgbClr val="736D7A"/>
                </a:solidFill>
                <a:latin typeface="Assistant Light"/>
                <a:cs typeface="Assistant Light"/>
              </a:rPr>
              <a:t>כוחות צה״ל נפרסים בשטח בתחילת המלחמה, אוקטובר 2023. זה ״הדור היפה״ שהשיר מדבר עליו.</a:t>
            </a:r>
            <a:endParaRPr lang="he-IL" sz="1600"/>
          </a:p>
        </p:txBody>
      </p:sp>
      <p:sp>
        <p:nvSpPr>
          <p:cNvPr id="17" name="Slide number"/>
          <p:cNvSpPr txBox="1"/>
          <p:nvPr/>
        </p:nvSpPr>
        <p:spPr>
          <a:xfrm>
            <a:off x="640080" y="635508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l" rtl="0">
              <a:buNone/>
            </a:pPr>
            <a:r>
              <a:rPr lang="he-IL" altLang="en-US" sz="1200" b="0">
                <a:solidFill>
                  <a:srgbClr val="736D7A"/>
                </a:solidFill>
                <a:latin typeface="Assistant"/>
                <a:cs typeface="Assistant"/>
              </a:rPr>
              <a:t>8</a:t>
            </a:r>
            <a:endParaRPr lang="he-IL" sz="1200"/>
          </a:p>
        </p:txBody>
      </p:sp>
    </p:spTree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s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640080"/>
            <a:ext cx="10911535" cy="41148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1800" b="0">
                <a:solidFill>
                  <a:srgbClr val="2C7A78"/>
                </a:solidFill>
                <a:latin typeface="Assistant SemiBold"/>
                <a:cs typeface="Assistant SemiBold"/>
              </a:rPr>
              <a:t>סיכום</a:t>
            </a:r>
            <a:endParaRPr lang="he-IL" sz="1800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911535" cy="128016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80000"/>
              </a:lnSpc>
              <a:buNone/>
            </a:pPr>
            <a:r>
              <a:rPr lang="he-IL" altLang="en-US" sz="11000" b="1">
                <a:solidFill>
                  <a:srgbClr val="2C7A78"/>
                </a:solidFill>
                <a:latin typeface="Amatic SC"/>
                <a:cs typeface="Amatic SC"/>
              </a:rPr>
              <a:t>״</a:t>
            </a:r>
            <a:endParaRPr lang="he-IL" sz="11000"/>
          </a:p>
        </p:txBody>
      </p:sp>
      <p:sp>
        <p:nvSpPr>
          <p:cNvPr id="5" name="Title"/>
          <p:cNvSpPr txBox="1"/>
          <p:nvPr/>
        </p:nvSpPr>
        <p:spPr>
          <a:xfrm>
            <a:off x="640080" y="2148840"/>
            <a:ext cx="10362895" cy="384048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05000"/>
              </a:lnSpc>
              <a:spcAft>
                <a:spcPts val="1200"/>
              </a:spcAft>
              <a:buNone/>
            </a:pPr>
            <a:r>
              <a:rPr lang="he-IL" altLang="en-US" sz="3600" b="0">
                <a:solidFill>
                  <a:srgbClr val="2B2730"/>
                </a:solidFill>
                <a:latin typeface="Assistant SemiBold"/>
                <a:cs typeface="Assistant SemiBold"/>
              </a:rPr>
              <a:t>ג׳יין בורדו מחכים ליום</a:t>
            </a:r>
            <a:endParaRPr lang="he-IL" sz="3600"/>
          </a:p>
          <a:p>
            <a:pPr algn="r" rtl="1">
              <a:lnSpc>
                <a:spcPct val="105000"/>
              </a:lnSpc>
              <a:spcAft>
                <a:spcPts val="1200"/>
              </a:spcAft>
              <a:buNone/>
            </a:pPr>
            <a:r>
              <a:rPr lang="he-IL" altLang="en-US" sz="4000" b="1">
                <a:solidFill>
                  <a:srgbClr val="2C7A78"/>
                </a:solidFill>
                <a:latin typeface="Amatic SC"/>
                <a:cs typeface="Amatic SC"/>
              </a:rPr>
              <a:t>שבו יחזרו לכתוב ״שירים על אהבה״.</a:t>
            </a:r>
            <a:endParaRPr lang="he-IL" sz="4000"/>
          </a:p>
          <a:p>
            <a:pPr algn="r" rtl="1">
              <a:lnSpc>
                <a:spcPct val="105000"/>
              </a:lnSpc>
              <a:spcAft>
                <a:spcPts val="1200"/>
              </a:spcAft>
              <a:buNone/>
            </a:pPr>
            <a:r>
              <a:rPr lang="he-IL" altLang="en-US" sz="3400" b="0">
                <a:solidFill>
                  <a:srgbClr val="2B2730"/>
                </a:solidFill>
                <a:latin typeface="Assistant Light"/>
                <a:cs typeface="Assistant Light"/>
              </a:rPr>
              <a:t>עד אז, גם שיר אהבה נכתב באמצע מלחמה.</a:t>
            </a:r>
            <a:endParaRPr lang="he-IL" sz="3400"/>
          </a:p>
        </p:txBody>
      </p:sp>
      <p:sp>
        <p:nvSpPr>
          <p:cNvPr id="6" name="Slide number"/>
          <p:cNvSpPr txBox="1"/>
          <p:nvPr/>
        </p:nvSpPr>
        <p:spPr>
          <a:xfrm>
            <a:off x="640080" y="635508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l" rtl="0">
              <a:buNone/>
            </a:pPr>
            <a:r>
              <a:rPr lang="he-IL" altLang="en-US" sz="1200" b="0">
                <a:solidFill>
                  <a:srgbClr val="736D7A"/>
                </a:solidFill>
                <a:latin typeface="Assistant"/>
                <a:cs typeface="Assistant"/>
              </a:rPr>
              <a:t>9</a:t>
            </a:r>
            <a:endParaRPr lang="he-IL" sz="1200"/>
          </a:p>
        </p:txBody>
      </p:sp>
    </p:spTree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