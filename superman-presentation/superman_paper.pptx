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40080" y="54864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000" b="0">
                <a:solidFill>
                  <a:srgbClr val="9E3328"/>
                </a:solidFill>
                <a:latin typeface="Assistant SemiBold"/>
                <a:cs typeface="Assistant SemiBold"/>
              </a:rPr>
              <a:t>הערכה חלופית בספרות · שכבה ט׳</a:t>
            </a:r>
            <a:endParaRPr lang="he-IL" sz="2000"/>
          </a:p>
        </p:txBody>
      </p:sp>
      <p:sp>
        <p:nvSpPr>
          <p:cNvPr id="4" name="Title"/>
          <p:cNvSpPr txBox="1"/>
          <p:nvPr/>
        </p:nvSpPr>
        <p:spPr>
          <a:xfrm>
            <a:off x="640080" y="1325880"/>
            <a:ext cx="10911535" cy="219456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lnSpc>
                <a:spcPct val="90000"/>
              </a:lnSpc>
              <a:buNone/>
            </a:pPr>
            <a:r>
              <a:rPr lang="he-IL" altLang="en-US" sz="13800" b="0">
                <a:solidFill>
                  <a:srgbClr val="1C1C20"/>
                </a:solidFill>
                <a:latin typeface="Frank Ruhl Libre Light"/>
                <a:cs typeface="Frank Ruhl Libre Light"/>
              </a:rPr>
              <a:t>סופרמן</a:t>
            </a:r>
            <a:endParaRPr lang="he-IL" sz="13800"/>
          </a:p>
        </p:txBody>
      </p:sp>
      <p:sp>
        <p:nvSpPr>
          <p:cNvPr id="5" name="TextBox 4"/>
          <p:cNvSpPr txBox="1"/>
          <p:nvPr/>
        </p:nvSpPr>
        <p:spPr>
          <a:xfrm>
            <a:off x="640080" y="3520440"/>
            <a:ext cx="10911535" cy="7315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4000" b="0">
                <a:solidFill>
                  <a:srgbClr val="9E3328"/>
                </a:solidFill>
                <a:latin typeface="Frank Ruhl Libre Light"/>
                <a:cs typeface="Frank Ruhl Libre Light"/>
              </a:rPr>
              <a:t>עידן עמדי</a:t>
            </a:r>
            <a:endParaRPr lang="he-IL" sz="4000"/>
          </a:p>
        </p:txBody>
      </p:sp>
      <p:sp>
        <p:nvSpPr>
          <p:cNvPr id="6" name="TextBox 5"/>
          <p:cNvSpPr txBox="1"/>
          <p:nvPr/>
        </p:nvSpPr>
        <p:spPr>
          <a:xfrm>
            <a:off x="640080" y="425196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5E616A"/>
                </a:solidFill>
                <a:latin typeface="Assistant Light"/>
                <a:cs typeface="Assistant Light"/>
              </a:rPr>
              <a:t>שיר על פציעה, שיקום ובחירה בחיים</a:t>
            </a:r>
            <a:endParaRPr lang="he-IL" sz="2400"/>
          </a:p>
        </p:txBody>
      </p:sp>
      <p:sp>
        <p:nvSpPr>
          <p:cNvPr id="7" name="TextBox 6"/>
          <p:cNvSpPr txBox="1"/>
          <p:nvPr/>
        </p:nvSpPr>
        <p:spPr>
          <a:xfrm>
            <a:off x="640080" y="5486400"/>
            <a:ext cx="10911535" cy="5486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400" b="0">
                <a:solidFill>
                  <a:srgbClr val="1C1C20"/>
                </a:solidFill>
                <a:latin typeface="Assistant SemiBold"/>
                <a:cs typeface="Assistant SemiBold"/>
              </a:rPr>
              <a:t>אלרואי טואטי   ·   יואב טימסטיט   ·   אלינדב בק</a:t>
            </a:r>
            <a:endParaRPr lang="he-IL" sz="2400"/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400" b="0">
                <a:solidFill>
                  <a:srgbClr val="1C1C20"/>
                </a:solidFill>
                <a:latin typeface="Frank Ruhl Libre Light"/>
                <a:cs typeface="Frank Ruhl Libre Light"/>
              </a:rPr>
              <a:t>הקטע שבחרנו</a:t>
            </a:r>
            <a:endParaRPr lang="he-IL" sz="4400"/>
          </a:p>
        </p:txBody>
      </p:sp>
      <p:sp>
        <p:nvSpPr>
          <p:cNvPr id="4" name="Quote mark"/>
          <p:cNvSpPr txBox="1"/>
          <p:nvPr/>
        </p:nvSpPr>
        <p:spPr>
          <a:xfrm>
            <a:off x="6675120" y="1417320"/>
            <a:ext cx="4873752" cy="11887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80000"/>
              </a:lnSpc>
              <a:buNone/>
            </a:pPr>
            <a:r>
              <a:rPr lang="he-IL" altLang="en-US" sz="12000" b="0">
                <a:solidFill>
                  <a:srgbClr val="9E3328"/>
                </a:solidFill>
                <a:latin typeface="Frank Ruhl Libre Light"/>
                <a:cs typeface="Frank Ruhl Libre Light"/>
              </a:rPr>
              <a:t>״</a:t>
            </a:r>
            <a:endParaRPr lang="he-IL" sz="12000"/>
          </a:p>
        </p:txBody>
      </p:sp>
      <p:sp>
        <p:nvSpPr>
          <p:cNvPr id="5" name="TextBox 4"/>
          <p:cNvSpPr txBox="1"/>
          <p:nvPr/>
        </p:nvSpPr>
        <p:spPr>
          <a:xfrm>
            <a:off x="6675120" y="2423160"/>
            <a:ext cx="4873752" cy="2743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5000"/>
              </a:lnSpc>
              <a:spcAft>
                <a:spcPts val="400"/>
              </a:spcAft>
              <a:buNone/>
            </a:pPr>
            <a:r>
              <a:rPr lang="he-IL" altLang="en-US" sz="3000" b="0">
                <a:solidFill>
                  <a:srgbClr val="1C1C20"/>
                </a:solidFill>
                <a:latin typeface="Frank Ruhl Libre Light"/>
                <a:cs typeface="Frank Ruhl Libre Light"/>
              </a:rPr>
              <a:t>אך בסתר ליבי </a:t>
            </a:r>
            <a:r>
              <a:rPr lang="he-IL" altLang="en-US" sz="3000" b="0">
                <a:solidFill>
                  <a:srgbClr val="9E3328"/>
                </a:solidFill>
                <a:latin typeface="Frank Ruhl Libre Light"/>
                <a:cs typeface="Frank Ruhl Libre Light"/>
              </a:rPr>
              <a:t>השבור השלם</a:t>
            </a:r>
            <a:endParaRPr lang="he-IL" sz="3000"/>
          </a:p>
          <a:p>
            <a:pPr algn="r" rtl="1">
              <a:lnSpc>
                <a:spcPct val="105000"/>
              </a:lnSpc>
              <a:spcAft>
                <a:spcPts val="2000"/>
              </a:spcAft>
              <a:buNone/>
            </a:pPr>
            <a:r>
              <a:rPr lang="he-IL" altLang="en-US" sz="3000" b="0">
                <a:solidFill>
                  <a:srgbClr val="1C1C20"/>
                </a:solidFill>
                <a:latin typeface="Frank Ruhl Libre Light"/>
                <a:cs typeface="Frank Ruhl Libre Light"/>
              </a:rPr>
              <a:t>לא היו לי ספקות</a:t>
            </a:r>
            <a:endParaRPr lang="he-IL" sz="3000"/>
          </a:p>
          <a:p>
            <a:pPr algn="r" rtl="1">
              <a:lnSpc>
                <a:spcPct val="105000"/>
              </a:lnSpc>
              <a:spcAft>
                <a:spcPts val="400"/>
              </a:spcAft>
              <a:buNone/>
            </a:pPr>
            <a:r>
              <a:rPr lang="he-IL" altLang="en-US" sz="3000" b="0">
                <a:solidFill>
                  <a:srgbClr val="1C1C20"/>
                </a:solidFill>
                <a:latin typeface="Frank Ruhl Libre Light"/>
                <a:cs typeface="Frank Ruhl Libre Light"/>
              </a:rPr>
              <a:t>כבר לא מפחיד אותי </a:t>
            </a:r>
            <a:r>
              <a:rPr lang="he-IL" altLang="en-US" sz="3000" b="0">
                <a:solidFill>
                  <a:srgbClr val="9E3328"/>
                </a:solidFill>
                <a:latin typeface="Frank Ruhl Libre Light"/>
                <a:cs typeface="Frank Ruhl Libre Light"/>
              </a:rPr>
              <a:t>למות</a:t>
            </a:r>
            <a:endParaRPr lang="he-IL" sz="3000"/>
          </a:p>
          <a:p>
            <a:pPr algn="r" rtl="1">
              <a:lnSpc>
                <a:spcPct val="105000"/>
              </a:lnSpc>
              <a:buNone/>
            </a:pPr>
            <a:r>
              <a:rPr lang="he-IL" altLang="en-US" sz="3000" b="0">
                <a:solidFill>
                  <a:srgbClr val="1C1C20"/>
                </a:solidFill>
                <a:latin typeface="Frank Ruhl Libre Light"/>
                <a:cs typeface="Frank Ruhl Libre Light"/>
              </a:rPr>
              <a:t>יותר מפחיד לא </a:t>
            </a:r>
            <a:r>
              <a:rPr lang="he-IL" altLang="en-US" sz="3000" b="0">
                <a:solidFill>
                  <a:srgbClr val="9E3328"/>
                </a:solidFill>
                <a:latin typeface="Frank Ruhl Libre Light"/>
                <a:cs typeface="Frank Ruhl Libre Light"/>
              </a:rPr>
              <a:t>לחיות</a:t>
            </a:r>
            <a:endParaRPr lang="he-IL" sz="3000"/>
          </a:p>
        </p:txBody>
      </p:sp>
      <p:sp>
        <p:nvSpPr>
          <p:cNvPr id="6" name="TextBox 5"/>
          <p:cNvSpPr txBox="1"/>
          <p:nvPr/>
        </p:nvSpPr>
        <p:spPr>
          <a:xfrm>
            <a:off x="6675120" y="5257800"/>
            <a:ext cx="4873752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1600" b="0">
                <a:solidFill>
                  <a:srgbClr val="5E616A"/>
                </a:solidFill>
                <a:latin typeface="Assistant Light"/>
                <a:cs typeface="Assistant Light"/>
              </a:rPr>
              <a:t>עידן עמדי, ״סופרמן״</a:t>
            </a:r>
            <a:endParaRPr lang="he-IL" sz="1600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5486400" cy="21031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600"/>
              </a:spcAft>
              <a:buNone/>
            </a:pPr>
            <a:r>
              <a:rPr lang="he-IL" altLang="en-US" sz="2400" b="0">
                <a:solidFill>
                  <a:srgbClr val="9E3328"/>
                </a:solidFill>
                <a:latin typeface="Assistant SemiBold"/>
                <a:cs typeface="Assistant SemiBold"/>
              </a:rPr>
              <a:t>למה בחרנו בקטע</a:t>
            </a:r>
            <a:endParaRPr lang="he-IL" sz="2400"/>
          </a:p>
          <a:p>
            <a:pPr algn="r" rtl="1">
              <a:lnSpc>
                <a:spcPct val="108000"/>
              </a:lnSpc>
              <a:buNone/>
            </a:pPr>
            <a:r>
              <a:rPr lang="he-IL" altLang="en-US" sz="2200" b="0">
                <a:solidFill>
                  <a:srgbClr val="1C1C20"/>
                </a:solidFill>
                <a:latin typeface="Assistant Light"/>
                <a:cs typeface="Assistant Light"/>
              </a:rPr>
              <a:t>כאן השיר מגיע לשיא. אחרי הפציעה עמדי כבר לא מפחד מהמוות, הוא מפחד לבזבז את החיים. אהבנו את הצירוף ״השבור השלם״, כי הוא מראה שאפשר להיות פצוע ועדיין שלם מבפנים.</a:t>
            </a:r>
            <a:endParaRPr lang="he-IL" sz="2200"/>
          </a:p>
        </p:txBody>
      </p:sp>
      <p:sp>
        <p:nvSpPr>
          <p:cNvPr id="8" name="TextBox 7"/>
          <p:cNvSpPr txBox="1"/>
          <p:nvPr/>
        </p:nvSpPr>
        <p:spPr>
          <a:xfrm>
            <a:off x="640080" y="3977639"/>
            <a:ext cx="5486400" cy="21031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600"/>
              </a:spcAft>
              <a:buNone/>
            </a:pPr>
            <a:r>
              <a:rPr lang="he-IL" altLang="en-US" sz="2400" b="0">
                <a:solidFill>
                  <a:srgbClr val="9E3328"/>
                </a:solidFill>
                <a:latin typeface="Assistant SemiBold"/>
                <a:cs typeface="Assistant SemiBold"/>
              </a:rPr>
              <a:t>החיבור האישי שלנו</a:t>
            </a:r>
            <a:endParaRPr lang="he-IL" sz="2400"/>
          </a:p>
          <a:p>
            <a:pPr algn="r" rtl="1">
              <a:lnSpc>
                <a:spcPct val="108000"/>
              </a:lnSpc>
              <a:buNone/>
            </a:pPr>
            <a:r>
              <a:rPr lang="he-IL" altLang="en-US" sz="2200" b="0">
                <a:solidFill>
                  <a:srgbClr val="1C1C20"/>
                </a:solidFill>
                <a:latin typeface="Assistant Light"/>
                <a:cs typeface="Assistant Light"/>
              </a:rPr>
              <a:t>גדלנו בתוך המלחמה הזאת, וראינו סביבנו אנשים שיצאו למילואים וחזרו אחרים. הקטע לימד אותנו שגבורה היא לא להיות בלתי שביר, אלא לבחור לחיות גם אחרי שנשברים.</a:t>
            </a:r>
            <a:endParaRPr lang="he-IL" sz="2200"/>
          </a:p>
        </p:txBody>
      </p:sp>
      <p:sp>
        <p:nvSpPr>
          <p:cNvPr id="9" name="Slide number"/>
          <p:cNvSpPr txBox="1"/>
          <p:nvPr/>
        </p:nvSpPr>
        <p:spPr>
          <a:xfrm>
            <a:off x="64008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5E616A"/>
                </a:solidFill>
                <a:latin typeface="Assistant Light"/>
                <a:cs typeface="Assistant Light"/>
              </a:rPr>
              <a:t>2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Artist photo" descr="gray_amedi_portrait_seli_ben_arie_ccbysa4.jpg"/>
          <p:cNvPicPr>
            <a:picLocks noChangeAspect="1"/>
          </p:cNvPicPr>
          <p:nvPr/>
        </p:nvPicPr>
        <p:blipFill>
          <a:blip r:embed="rId3"/>
          <a:srcRect l="2470" r="2470"/>
          <a:stretch>
            <a:fillRect/>
          </a:stretch>
        </p:blipFill>
        <p:spPr>
          <a:xfrm>
            <a:off x="0" y="0"/>
            <a:ext cx="4343400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28600" y="6492240"/>
            <a:ext cx="393192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1">
              <a:buNone/>
            </a:pPr>
            <a:r>
              <a:rPr lang="he-IL" altLang="en-US" sz="1000" b="0">
                <a:solidFill>
                  <a:srgbClr val="DDDDDD"/>
                </a:solidFill>
                <a:latin typeface="Assistant Light"/>
                <a:cs typeface="Assistant Light"/>
              </a:rPr>
              <a:t>צילום: סלי בן אריה, 2020 · CC BY-SA 4.0</a:t>
            </a:r>
            <a:endParaRPr lang="he-IL" sz="1000"/>
          </a:p>
        </p:txBody>
      </p:sp>
      <p:sp>
        <p:nvSpPr>
          <p:cNvPr id="5" name="Title"/>
          <p:cNvSpPr txBox="1"/>
          <p:nvPr/>
        </p:nvSpPr>
        <p:spPr>
          <a:xfrm>
            <a:off x="4892040" y="457200"/>
            <a:ext cx="665957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400" b="0">
                <a:solidFill>
                  <a:srgbClr val="1C1C20"/>
                </a:solidFill>
                <a:latin typeface="Frank Ruhl Libre Light"/>
                <a:cs typeface="Frank Ruhl Libre Light"/>
              </a:rPr>
              <a:t>עידן עמדי</a:t>
            </a:r>
            <a:endParaRPr lang="he-IL" sz="4400"/>
          </a:p>
        </p:txBody>
      </p:sp>
      <p:sp>
        <p:nvSpPr>
          <p:cNvPr id="6" name="TextBox 5"/>
          <p:cNvSpPr txBox="1"/>
          <p:nvPr/>
        </p:nvSpPr>
        <p:spPr>
          <a:xfrm>
            <a:off x="10378440" y="1554480"/>
            <a:ext cx="1170432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9E3328"/>
                </a:solidFill>
                <a:latin typeface="Frank Ruhl Libre Light"/>
                <a:cs typeface="Frank Ruhl Libre Light"/>
              </a:rPr>
              <a:t>1988</a:t>
            </a:r>
            <a:endParaRPr lang="he-IL" sz="2600"/>
          </a:p>
        </p:txBody>
      </p:sp>
      <p:sp>
        <p:nvSpPr>
          <p:cNvPr id="7" name="TextBox 6"/>
          <p:cNvSpPr txBox="1"/>
          <p:nvPr/>
        </p:nvSpPr>
        <p:spPr>
          <a:xfrm>
            <a:off x="4892040" y="1572768"/>
            <a:ext cx="530352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1C1C20"/>
                </a:solidFill>
                <a:latin typeface="Assistant Light"/>
                <a:cs typeface="Assistant Light"/>
              </a:rPr>
              <a:t>נולד בירושלים וגדל בשכונת פסגת זאב. בצבא שירת כלוחם ומפקד בהנדסה הקרבית.</a:t>
            </a:r>
            <a:endParaRPr lang="he-IL" sz="2200"/>
          </a:p>
        </p:txBody>
      </p:sp>
      <p:cxnSp>
        <p:nvCxnSpPr>
          <p:cNvPr id="8" name="Connector 7"/>
          <p:cNvCxnSpPr/>
          <p:nvPr/>
        </p:nvCxnSpPr>
        <p:spPr>
          <a:xfrm>
            <a:off x="4892040" y="2395728"/>
            <a:ext cx="6659575" cy="0"/>
          </a:xfrm>
          <a:prstGeom prst="line">
            <a:avLst/>
          </a:prstGeom>
          <a:ln w="9525">
            <a:solidFill>
              <a:srgbClr val="CFCAC0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10378440" y="2505456"/>
            <a:ext cx="1170432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9E3328"/>
                </a:solidFill>
                <a:latin typeface="Frank Ruhl Libre Light"/>
                <a:cs typeface="Frank Ruhl Libre Light"/>
              </a:rPr>
              <a:t>2010</a:t>
            </a:r>
            <a:endParaRPr lang="he-IL" sz="2600"/>
          </a:p>
        </p:txBody>
      </p:sp>
      <p:sp>
        <p:nvSpPr>
          <p:cNvPr id="10" name="TextBox 9"/>
          <p:cNvSpPr txBox="1"/>
          <p:nvPr/>
        </p:nvSpPr>
        <p:spPr>
          <a:xfrm>
            <a:off x="4892040" y="2523744"/>
            <a:ext cx="530352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1C1C20"/>
                </a:solidFill>
                <a:latin typeface="Assistant Light"/>
                <a:cs typeface="Assistant Light"/>
              </a:rPr>
              <a:t>הגיע לגמר ״כוכב נולד״ עם ״כאב של לוחמים״, שיר שכתב על החוויות שלו כלוחם.</a:t>
            </a:r>
            <a:endParaRPr lang="he-IL" sz="2200"/>
          </a:p>
        </p:txBody>
      </p:sp>
      <p:cxnSp>
        <p:nvCxnSpPr>
          <p:cNvPr id="11" name="Connector 10"/>
          <p:cNvCxnSpPr/>
          <p:nvPr/>
        </p:nvCxnSpPr>
        <p:spPr>
          <a:xfrm>
            <a:off x="4892040" y="3346704"/>
            <a:ext cx="6659575" cy="0"/>
          </a:xfrm>
          <a:prstGeom prst="line">
            <a:avLst/>
          </a:prstGeom>
          <a:ln w="9525">
            <a:solidFill>
              <a:srgbClr val="CFCAC0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10378440" y="3456432"/>
            <a:ext cx="1170432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9E3328"/>
                </a:solidFill>
                <a:latin typeface="Frank Ruhl Libre Light"/>
                <a:cs typeface="Frank Ruhl Libre Light"/>
              </a:rPr>
              <a:t>2017</a:t>
            </a:r>
            <a:endParaRPr lang="he-IL" sz="2600"/>
          </a:p>
        </p:txBody>
      </p:sp>
      <p:sp>
        <p:nvSpPr>
          <p:cNvPr id="13" name="TextBox 12"/>
          <p:cNvSpPr txBox="1"/>
          <p:nvPr/>
        </p:nvSpPr>
        <p:spPr>
          <a:xfrm>
            <a:off x="4892040" y="3474720"/>
            <a:ext cx="530352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1C1C20"/>
                </a:solidFill>
                <a:latin typeface="Assistant Light"/>
                <a:cs typeface="Assistant Light"/>
              </a:rPr>
              <a:t>התחיל לשחק את שגיא צור בסדרה ״פאודה״, לצד הקריירה במוזיקה.</a:t>
            </a:r>
            <a:endParaRPr lang="he-IL" sz="2200"/>
          </a:p>
        </p:txBody>
      </p:sp>
      <p:cxnSp>
        <p:nvCxnSpPr>
          <p:cNvPr id="14" name="Connector 13"/>
          <p:cNvCxnSpPr/>
          <p:nvPr/>
        </p:nvCxnSpPr>
        <p:spPr>
          <a:xfrm>
            <a:off x="4892040" y="4297680"/>
            <a:ext cx="6659575" cy="0"/>
          </a:xfrm>
          <a:prstGeom prst="line">
            <a:avLst/>
          </a:prstGeom>
          <a:ln w="9525">
            <a:solidFill>
              <a:srgbClr val="CFCAC0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10378440" y="4407408"/>
            <a:ext cx="1170432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9E3328"/>
                </a:solidFill>
                <a:latin typeface="Frank Ruhl Libre Light"/>
                <a:cs typeface="Frank Ruhl Libre Light"/>
              </a:rPr>
              <a:t>2024</a:t>
            </a:r>
            <a:endParaRPr lang="he-IL" sz="2600"/>
          </a:p>
        </p:txBody>
      </p:sp>
      <p:sp>
        <p:nvSpPr>
          <p:cNvPr id="16" name="TextBox 15"/>
          <p:cNvSpPr txBox="1"/>
          <p:nvPr/>
        </p:nvSpPr>
        <p:spPr>
          <a:xfrm>
            <a:off x="4892040" y="4425696"/>
            <a:ext cx="530352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1C1C20"/>
                </a:solidFill>
                <a:latin typeface="Assistant Light"/>
                <a:cs typeface="Assistant Light"/>
              </a:rPr>
              <a:t>נפצע קשה בעזה בזמן שירות מילואים, ושיתף את הציבור במסע השיקום שלו.</a:t>
            </a:r>
            <a:endParaRPr lang="he-IL" sz="2200"/>
          </a:p>
        </p:txBody>
      </p:sp>
      <p:cxnSp>
        <p:nvCxnSpPr>
          <p:cNvPr id="17" name="Connector 16"/>
          <p:cNvCxnSpPr/>
          <p:nvPr/>
        </p:nvCxnSpPr>
        <p:spPr>
          <a:xfrm>
            <a:off x="4892040" y="5248656"/>
            <a:ext cx="6659575" cy="0"/>
          </a:xfrm>
          <a:prstGeom prst="line">
            <a:avLst/>
          </a:prstGeom>
          <a:ln w="9525">
            <a:solidFill>
              <a:srgbClr val="CFCAC0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10378440" y="5358384"/>
            <a:ext cx="1170432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600" b="0">
                <a:solidFill>
                  <a:srgbClr val="9E3328"/>
                </a:solidFill>
                <a:latin typeface="Frank Ruhl Libre Light"/>
                <a:cs typeface="Frank Ruhl Libre Light"/>
              </a:rPr>
              <a:t>2025</a:t>
            </a:r>
            <a:endParaRPr lang="he-IL" sz="2600"/>
          </a:p>
        </p:txBody>
      </p:sp>
      <p:sp>
        <p:nvSpPr>
          <p:cNvPr id="19" name="TextBox 18"/>
          <p:cNvSpPr txBox="1"/>
          <p:nvPr/>
        </p:nvSpPr>
        <p:spPr>
          <a:xfrm>
            <a:off x="4892040" y="5376672"/>
            <a:ext cx="530352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1C1C20"/>
                </a:solidFill>
                <a:latin typeface="Assistant Light"/>
                <a:cs typeface="Assistant Light"/>
              </a:rPr>
              <a:t>הוציא את האלבום ״סופרמן״, ובסוף אותה שנה חזר לשרת במילואים.</a:t>
            </a:r>
            <a:endParaRPr lang="he-IL" sz="2200"/>
          </a:p>
        </p:txBody>
      </p:sp>
      <p:sp>
        <p:nvSpPr>
          <p:cNvPr id="20" name="Slide number"/>
          <p:cNvSpPr txBox="1"/>
          <p:nvPr/>
        </p:nvSpPr>
        <p:spPr>
          <a:xfrm>
            <a:off x="489204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5E616A"/>
                </a:solidFill>
                <a:latin typeface="Assistant Light"/>
                <a:cs typeface="Assistant Light"/>
              </a:rPr>
              <a:t>3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400" b="0">
                <a:solidFill>
                  <a:srgbClr val="1C1C20"/>
                </a:solidFill>
                <a:latin typeface="Frank Ruhl Libre Light"/>
                <a:cs typeface="Frank Ruhl Libre Light"/>
              </a:rPr>
              <a:t>מילות השיר</a:t>
            </a:r>
            <a:endParaRPr lang="he-IL" sz="4400"/>
          </a:p>
        </p:txBody>
      </p:sp>
      <p:sp>
        <p:nvSpPr>
          <p:cNvPr id="4" name="Lyrics right"/>
          <p:cNvSpPr txBox="1"/>
          <p:nvPr/>
        </p:nvSpPr>
        <p:spPr>
          <a:xfrm>
            <a:off x="6355080" y="1600200"/>
            <a:ext cx="5196535" cy="46634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1C1C20"/>
                </a:solidFill>
                <a:latin typeface="Assistant Light"/>
                <a:cs typeface="Assistant Light"/>
              </a:rPr>
              <a:t>שראתה בתוכי כוח על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1C1C20"/>
                </a:solidFill>
                <a:latin typeface="Assistant Light"/>
                <a:cs typeface="Assistant Light"/>
              </a:rPr>
              <a:t>שהוא גם קביים גם כנפיים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1C1C20"/>
                </a:solidFill>
                <a:latin typeface="Assistant Light"/>
                <a:cs typeface="Assistant Light"/>
              </a:rPr>
              <a:t>שלימדה אותי שבשבר מר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1C1C20"/>
                </a:solidFill>
                <a:latin typeface="Assistant Light"/>
                <a:cs typeface="Assistant Light"/>
              </a:rPr>
              <a:t>מסתתרים להם גם שמיים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1C1C20"/>
                </a:solidFill>
                <a:latin typeface="Assistant Light"/>
                <a:cs typeface="Assistant Light"/>
              </a:rPr>
              <a:t>ולא חשוב כמה חטפתי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1400"/>
              </a:spcAft>
              <a:buNone/>
            </a:pPr>
            <a:r>
              <a:rPr lang="he-IL" altLang="en-US" sz="2200" b="0">
                <a:solidFill>
                  <a:srgbClr val="1C1C20"/>
                </a:solidFill>
                <a:latin typeface="Assistant Light"/>
                <a:cs typeface="Assistant Light"/>
              </a:rPr>
              <a:t>העיקר לא הרמתי ידיים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1C1C20"/>
                </a:solidFill>
                <a:latin typeface="Assistant Light"/>
                <a:cs typeface="Assistant Light"/>
              </a:rPr>
              <a:t>ולאט שיר ועוד שיר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1C1C20"/>
                </a:solidFill>
                <a:latin typeface="Assistant Light"/>
                <a:cs typeface="Assistant Light"/>
              </a:rPr>
              <a:t>למדתי לעצמי להסביר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1C1C20"/>
                </a:solidFill>
                <a:latin typeface="Assistant Light"/>
                <a:cs typeface="Assistant Light"/>
              </a:rPr>
              <a:t>שכל מה שחוויתי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1C1C20"/>
                </a:solidFill>
                <a:latin typeface="Assistant Light"/>
                <a:cs typeface="Assistant Light"/>
              </a:rPr>
              <a:t>נועד לי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1C1C20"/>
                </a:solidFill>
                <a:latin typeface="Assistant Light"/>
                <a:cs typeface="Assistant Light"/>
              </a:rPr>
              <a:t>כדי שאוכל לבסוף להבין</a:t>
            </a:r>
            <a:endParaRPr lang="he-IL" sz="2200"/>
          </a:p>
        </p:txBody>
      </p:sp>
      <p:sp>
        <p:nvSpPr>
          <p:cNvPr id="5" name="Lyrics left"/>
          <p:cNvSpPr txBox="1"/>
          <p:nvPr/>
        </p:nvSpPr>
        <p:spPr>
          <a:xfrm>
            <a:off x="640080" y="1600200"/>
            <a:ext cx="5394960" cy="46634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1C1C20"/>
                </a:solidFill>
                <a:latin typeface="Assistant Light"/>
                <a:cs typeface="Assistant Light"/>
              </a:rPr>
              <a:t>שרק מי שצעד באפלה ובחושך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1C1C20"/>
                </a:solidFill>
                <a:latin typeface="Assistant Light"/>
                <a:cs typeface="Assistant Light"/>
              </a:rPr>
              <a:t>יודע באמת מהו אור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1C1C20"/>
                </a:solidFill>
                <a:latin typeface="Assistant Light"/>
                <a:cs typeface="Assistant Light"/>
              </a:rPr>
              <a:t>שכל תפילה בה ביקשתי לשכוח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1400"/>
              </a:spcAft>
              <a:buNone/>
            </a:pPr>
            <a:r>
              <a:rPr lang="he-IL" altLang="en-US" sz="2200" b="0">
                <a:solidFill>
                  <a:srgbClr val="1C1C20"/>
                </a:solidFill>
                <a:latin typeface="Assistant Light"/>
                <a:cs typeface="Assistant Light"/>
              </a:rPr>
              <a:t>רק גרמה לי לשוב ולזכור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1C1C20"/>
                </a:solidFill>
                <a:latin typeface="Assistant Light"/>
                <a:cs typeface="Assistant Light"/>
              </a:rPr>
              <a:t>ואחרי שנפצעתי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1C1C20"/>
                </a:solidFill>
                <a:latin typeface="Assistant Light"/>
                <a:cs typeface="Assistant Light"/>
              </a:rPr>
              <a:t>היו לי לילות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1C1C20"/>
                </a:solidFill>
                <a:latin typeface="Assistant Light"/>
                <a:cs typeface="Assistant Light"/>
              </a:rPr>
              <a:t>ששאגתי מתוך החזה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1C1C20"/>
                </a:solidFill>
                <a:latin typeface="Assistant Light"/>
                <a:cs typeface="Assistant Light"/>
              </a:rPr>
              <a:t>התחלתי לנהל עם אלוהים חשבונות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1C1C20"/>
                </a:solidFill>
                <a:latin typeface="Assistant Light"/>
                <a:cs typeface="Assistant Light"/>
              </a:rPr>
              <a:t>אם תיתן לי ככה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1C1C20"/>
                </a:solidFill>
                <a:latin typeface="Assistant Light"/>
                <a:cs typeface="Assistant Light"/>
              </a:rPr>
              <a:t>אני אתן לך את זה</a:t>
            </a:r>
            <a:endParaRPr lang="he-IL" sz="2200"/>
          </a:p>
        </p:txBody>
      </p:sp>
      <p:sp>
        <p:nvSpPr>
          <p:cNvPr id="6" name="TextBox 5"/>
          <p:cNvSpPr txBox="1"/>
          <p:nvPr/>
        </p:nvSpPr>
        <p:spPr>
          <a:xfrm>
            <a:off x="1828800" y="6355080"/>
            <a:ext cx="9722815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1200" b="0">
                <a:solidFill>
                  <a:srgbClr val="5E616A"/>
                </a:solidFill>
                <a:latin typeface="Assistant Light"/>
                <a:cs typeface="Assistant Light"/>
              </a:rPr>
              <a:t>מילים: עידן עמדי</a:t>
            </a:r>
            <a:endParaRPr lang="he-IL" sz="1200"/>
          </a:p>
        </p:txBody>
      </p:sp>
      <p:sp>
        <p:nvSpPr>
          <p:cNvPr id="7" name="Slide number"/>
          <p:cNvSpPr txBox="1"/>
          <p:nvPr/>
        </p:nvSpPr>
        <p:spPr>
          <a:xfrm>
            <a:off x="64008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5E616A"/>
                </a:solidFill>
                <a:latin typeface="Assistant Light"/>
                <a:cs typeface="Assistant Light"/>
              </a:rPr>
              <a:t>4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400" b="0">
                <a:solidFill>
                  <a:srgbClr val="1C1C20"/>
                </a:solidFill>
                <a:latin typeface="Frank Ruhl Libre Light"/>
                <a:cs typeface="Frank Ruhl Libre Light"/>
              </a:rPr>
              <a:t>מילות השיר (המשך)</a:t>
            </a:r>
            <a:endParaRPr lang="he-IL" sz="4400"/>
          </a:p>
        </p:txBody>
      </p:sp>
      <p:sp>
        <p:nvSpPr>
          <p:cNvPr id="4" name="Lyrics right"/>
          <p:cNvSpPr txBox="1"/>
          <p:nvPr/>
        </p:nvSpPr>
        <p:spPr>
          <a:xfrm>
            <a:off x="6355080" y="1600200"/>
            <a:ext cx="5196535" cy="46634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1C1C20"/>
                </a:solidFill>
                <a:latin typeface="Assistant Light"/>
                <a:cs typeface="Assistant Light"/>
              </a:rPr>
              <a:t>אך בסתר ליבי השבור השלם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1C1C20"/>
                </a:solidFill>
                <a:latin typeface="Assistant Light"/>
                <a:cs typeface="Assistant Light"/>
              </a:rPr>
              <a:t>לא היו לי ספקות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9E3328"/>
                </a:solidFill>
                <a:latin typeface="Assistant SemiBold"/>
                <a:cs typeface="Assistant SemiBold"/>
              </a:rPr>
              <a:t>כבר לא מפחיד אותי למות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1400"/>
              </a:spcAft>
              <a:buNone/>
            </a:pPr>
            <a:r>
              <a:rPr lang="he-IL" altLang="en-US" sz="2200" b="0">
                <a:solidFill>
                  <a:srgbClr val="9E3328"/>
                </a:solidFill>
                <a:latin typeface="Assistant SemiBold"/>
                <a:cs typeface="Assistant SemiBold"/>
              </a:rPr>
              <a:t>יותר מפחיד לא לחיות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1C1C20"/>
                </a:solidFill>
                <a:latin typeface="Assistant Light"/>
                <a:cs typeface="Assistant Light"/>
              </a:rPr>
              <a:t>נזרקתי לחיים ידיי היו ריקות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1C1C20"/>
                </a:solidFill>
                <a:latin typeface="Assistant Light"/>
                <a:cs typeface="Assistant Light"/>
              </a:rPr>
              <a:t>שרדתי כל אוויר דליל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1C1C20"/>
                </a:solidFill>
                <a:latin typeface="Assistant Light"/>
                <a:cs typeface="Assistant Light"/>
              </a:rPr>
              <a:t>מחנק בעליות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1C1C20"/>
                </a:solidFill>
                <a:latin typeface="Assistant Light"/>
                <a:cs typeface="Assistant Light"/>
              </a:rPr>
              <a:t>אחרי החושך שעברתי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1C1C20"/>
                </a:solidFill>
                <a:latin typeface="Assistant Light"/>
                <a:cs typeface="Assistant Light"/>
              </a:rPr>
              <a:t>אלף תהומות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9E3328"/>
                </a:solidFill>
                <a:latin typeface="Assistant SemiBold"/>
                <a:cs typeface="Assistant SemiBold"/>
              </a:rPr>
              <a:t>כבר לא מפחיד אותי למות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9E3328"/>
                </a:solidFill>
                <a:latin typeface="Assistant SemiBold"/>
                <a:cs typeface="Assistant SemiBold"/>
              </a:rPr>
              <a:t>יותר מפחיד לא לחיות</a:t>
            </a:r>
            <a:endParaRPr lang="he-IL" sz="2200"/>
          </a:p>
        </p:txBody>
      </p:sp>
      <p:sp>
        <p:nvSpPr>
          <p:cNvPr id="5" name="Lyrics left"/>
          <p:cNvSpPr txBox="1"/>
          <p:nvPr/>
        </p:nvSpPr>
        <p:spPr>
          <a:xfrm>
            <a:off x="640080" y="1600200"/>
            <a:ext cx="5394960" cy="46634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1C1C20"/>
                </a:solidFill>
                <a:latin typeface="Assistant Light"/>
                <a:cs typeface="Assistant Light"/>
              </a:rPr>
              <a:t>זה לכל מי שחשד בי שאני אחר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1C1C20"/>
                </a:solidFill>
                <a:latin typeface="Assistant Light"/>
                <a:cs typeface="Assistant Light"/>
              </a:rPr>
              <a:t>שקיבלתי את האור שלי מן ההפקר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1C1C20"/>
                </a:solidFill>
                <a:latin typeface="Assistant Light"/>
                <a:cs typeface="Assistant Light"/>
              </a:rPr>
              <a:t>שהמלאכים ירדו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1C1C20"/>
                </a:solidFill>
                <a:latin typeface="Assistant Light"/>
                <a:cs typeface="Assistant Light"/>
              </a:rPr>
              <a:t>השתחוו, אמרו ׳אמן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1C1C20"/>
                </a:solidFill>
                <a:latin typeface="Assistant Light"/>
                <a:cs typeface="Assistant Light"/>
              </a:rPr>
              <a:t>הוא לא אדם רגיל</a:t>
            </a:r>
            <a:endParaRPr lang="he-IL" sz="2200"/>
          </a:p>
          <a:p>
            <a:pPr algn="r" rtl="1">
              <a:lnSpc>
                <a:spcPct val="102000"/>
              </a:lnSpc>
              <a:spcAft>
                <a:spcPts val="0"/>
              </a:spcAft>
              <a:buNone/>
            </a:pPr>
            <a:r>
              <a:rPr lang="he-IL" altLang="en-US" sz="2200" b="0">
                <a:solidFill>
                  <a:srgbClr val="9E3328"/>
                </a:solidFill>
                <a:latin typeface="Assistant SemiBold"/>
                <a:cs typeface="Assistant SemiBold"/>
              </a:rPr>
              <a:t>הוא סופר-מן׳</a:t>
            </a:r>
            <a:endParaRPr lang="he-IL" sz="2200"/>
          </a:p>
        </p:txBody>
      </p:sp>
      <p:sp>
        <p:nvSpPr>
          <p:cNvPr id="6" name="TextBox 5"/>
          <p:cNvSpPr txBox="1"/>
          <p:nvPr/>
        </p:nvSpPr>
        <p:spPr>
          <a:xfrm>
            <a:off x="1828800" y="6355080"/>
            <a:ext cx="9722815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1200" b="0">
                <a:solidFill>
                  <a:srgbClr val="5E616A"/>
                </a:solidFill>
                <a:latin typeface="Assistant Light"/>
                <a:cs typeface="Assistant Light"/>
              </a:rPr>
              <a:t>מילים: עידן עמדי</a:t>
            </a:r>
            <a:endParaRPr lang="he-IL" sz="1200"/>
          </a:p>
        </p:txBody>
      </p:sp>
      <p:sp>
        <p:nvSpPr>
          <p:cNvPr id="7" name="Slide number"/>
          <p:cNvSpPr txBox="1"/>
          <p:nvPr/>
        </p:nvSpPr>
        <p:spPr>
          <a:xfrm>
            <a:off x="64008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5E616A"/>
                </a:solidFill>
                <a:latin typeface="Assistant Light"/>
                <a:cs typeface="Assistant Light"/>
              </a:rPr>
              <a:t>5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863840" y="548640"/>
            <a:ext cx="3687775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000" b="0">
                <a:solidFill>
                  <a:srgbClr val="5E616A"/>
                </a:solidFill>
                <a:latin typeface="Assistant SemiBold"/>
                <a:cs typeface="Assistant SemiBold"/>
              </a:rPr>
              <a:t>מושג ראשון</a:t>
            </a:r>
            <a:endParaRPr lang="he-IL" sz="2000"/>
          </a:p>
        </p:txBody>
      </p:sp>
      <p:sp>
        <p:nvSpPr>
          <p:cNvPr id="4" name="Title"/>
          <p:cNvSpPr txBox="1"/>
          <p:nvPr/>
        </p:nvSpPr>
        <p:spPr>
          <a:xfrm>
            <a:off x="7863840" y="914400"/>
            <a:ext cx="3687775" cy="10972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6000" b="0">
                <a:solidFill>
                  <a:srgbClr val="9E3328"/>
                </a:solidFill>
                <a:latin typeface="Frank Ruhl Libre Light"/>
                <a:cs typeface="Frank Ruhl Libre Light"/>
              </a:rPr>
              <a:t>מטאפורה</a:t>
            </a:r>
            <a:endParaRPr lang="he-IL" sz="6000"/>
          </a:p>
        </p:txBody>
      </p:sp>
      <p:sp>
        <p:nvSpPr>
          <p:cNvPr id="5" name="TextBox 4"/>
          <p:cNvSpPr txBox="1"/>
          <p:nvPr/>
        </p:nvSpPr>
        <p:spPr>
          <a:xfrm>
            <a:off x="7863840" y="2148840"/>
            <a:ext cx="3687775" cy="17373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6000"/>
              </a:lnSpc>
              <a:buNone/>
            </a:pPr>
            <a:r>
              <a:rPr lang="he-IL" altLang="en-US" sz="2200" b="0">
                <a:solidFill>
                  <a:srgbClr val="1C1C20"/>
                </a:solidFill>
                <a:latin typeface="Assistant Light"/>
                <a:cs typeface="Assistant Light"/>
              </a:rPr>
              <a:t>חיבור בין שני דברים מעולמות שונים, בלי מילת דימוי כמו ״כמו״ או ״כְּ״, כדי ליצור משמעות חדשה.</a:t>
            </a:r>
            <a:endParaRPr lang="he-IL" sz="2200"/>
          </a:p>
        </p:txBody>
      </p:sp>
      <p:sp>
        <p:nvSpPr>
          <p:cNvPr id="6" name="TextBox 5"/>
          <p:cNvSpPr txBox="1"/>
          <p:nvPr/>
        </p:nvSpPr>
        <p:spPr>
          <a:xfrm>
            <a:off x="640080" y="685800"/>
            <a:ext cx="6675120" cy="10058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80000"/>
              </a:lnSpc>
              <a:buNone/>
            </a:pPr>
            <a:r>
              <a:rPr lang="he-IL" altLang="en-US" sz="9600" b="0">
                <a:solidFill>
                  <a:srgbClr val="9E3328"/>
                </a:solidFill>
                <a:latin typeface="Frank Ruhl Libre Light"/>
                <a:cs typeface="Frank Ruhl Libre Light"/>
              </a:rPr>
              <a:t>״</a:t>
            </a:r>
            <a:endParaRPr lang="he-IL" sz="9600"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6675120" cy="21031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8000"/>
              </a:lnSpc>
              <a:spcAft>
                <a:spcPts val="400"/>
              </a:spcAft>
              <a:buNone/>
            </a:pPr>
            <a:r>
              <a:rPr lang="he-IL" altLang="en-US" sz="3200" b="0">
                <a:solidFill>
                  <a:srgbClr val="1C1C20"/>
                </a:solidFill>
                <a:latin typeface="Frank Ruhl Libre Light"/>
                <a:cs typeface="Frank Ruhl Libre Light"/>
              </a:rPr>
              <a:t>שראתה בתוכי כוח על</a:t>
            </a:r>
            <a:endParaRPr lang="he-IL" sz="3200"/>
          </a:p>
          <a:p>
            <a:pPr algn="r" rtl="1">
              <a:lnSpc>
                <a:spcPct val="108000"/>
              </a:lnSpc>
              <a:spcAft>
                <a:spcPts val="400"/>
              </a:spcAft>
              <a:buNone/>
            </a:pPr>
            <a:r>
              <a:rPr lang="he-IL" altLang="en-US" sz="3200" b="0">
                <a:solidFill>
                  <a:srgbClr val="1C1C20"/>
                </a:solidFill>
                <a:latin typeface="Frank Ruhl Libre Light"/>
                <a:cs typeface="Frank Ruhl Libre Light"/>
              </a:rPr>
              <a:t>שהוא גם </a:t>
            </a:r>
            <a:r>
              <a:rPr lang="he-IL" altLang="en-US" sz="3200" b="0">
                <a:solidFill>
                  <a:srgbClr val="9E3328"/>
                </a:solidFill>
                <a:latin typeface="Frank Ruhl Libre Light"/>
                <a:cs typeface="Frank Ruhl Libre Light"/>
              </a:rPr>
              <a:t>קביים</a:t>
            </a:r>
            <a:r>
              <a:rPr lang="he-IL" altLang="en-US" sz="3200" b="0">
                <a:solidFill>
                  <a:srgbClr val="1C1C20"/>
                </a:solidFill>
                <a:latin typeface="Frank Ruhl Libre Light"/>
                <a:cs typeface="Frank Ruhl Libre Light"/>
              </a:rPr>
              <a:t> גם </a:t>
            </a:r>
            <a:r>
              <a:rPr lang="he-IL" altLang="en-US" sz="3200" b="0">
                <a:solidFill>
                  <a:srgbClr val="9E3328"/>
                </a:solidFill>
                <a:latin typeface="Frank Ruhl Libre Light"/>
                <a:cs typeface="Frank Ruhl Libre Light"/>
              </a:rPr>
              <a:t>כנפיים</a:t>
            </a:r>
            <a:endParaRPr lang="he-IL" sz="3200"/>
          </a:p>
        </p:txBody>
      </p:sp>
      <p:cxnSp>
        <p:nvCxnSpPr>
          <p:cNvPr id="8" name="Connector 7"/>
          <p:cNvCxnSpPr/>
          <p:nvPr/>
        </p:nvCxnSpPr>
        <p:spPr>
          <a:xfrm>
            <a:off x="640080" y="4069080"/>
            <a:ext cx="10911535" cy="0"/>
          </a:xfrm>
          <a:prstGeom prst="line">
            <a:avLst/>
          </a:prstGeom>
          <a:ln w="9525">
            <a:solidFill>
              <a:srgbClr val="CFCAC0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6355080" y="4297680"/>
            <a:ext cx="5196535" cy="2011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600"/>
              </a:spcAft>
              <a:buNone/>
            </a:pPr>
            <a:r>
              <a:rPr lang="he-IL" altLang="en-US" sz="2200" b="0">
                <a:solidFill>
                  <a:srgbClr val="9E3328"/>
                </a:solidFill>
                <a:latin typeface="Assistant SemiBold"/>
                <a:cs typeface="Assistant SemiBold"/>
              </a:rPr>
              <a:t>איך זה מופיע בשיר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1C1C20"/>
                </a:solidFill>
                <a:latin typeface="Assistant Light"/>
                <a:cs typeface="Assistant Light"/>
              </a:rPr>
              <a:t>הכוח שאשתו ראתה בו הוא גם ״קביים״, משהו שתומך במי שנפצע ולא מסוגל ללכת לבד, וגם ״כנפיים״, משהו שמרים אותו למעלה.</a:t>
            </a:r>
            <a:endParaRPr lang="he-IL" sz="2200"/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5120640" cy="2011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600"/>
              </a:spcAft>
              <a:buNone/>
            </a:pPr>
            <a:r>
              <a:rPr lang="he-IL" altLang="en-US" sz="2200" b="0">
                <a:solidFill>
                  <a:srgbClr val="9E3328"/>
                </a:solidFill>
                <a:latin typeface="Assistant SemiBold"/>
                <a:cs typeface="Assistant SemiBold"/>
              </a:rPr>
              <a:t>מה זה מוסיף למשמעות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1C1C20"/>
                </a:solidFill>
                <a:latin typeface="Assistant Light"/>
                <a:cs typeface="Assistant Light"/>
              </a:rPr>
              <a:t>השיקום הוא לא רק לחזור ללכת, הוא גם לחזור לחלום. האהבה נתנה לו את שני הדברים.</a:t>
            </a:r>
            <a:endParaRPr lang="he-IL" sz="2200"/>
          </a:p>
        </p:txBody>
      </p:sp>
      <p:sp>
        <p:nvSpPr>
          <p:cNvPr id="11" name="Slide number"/>
          <p:cNvSpPr txBox="1"/>
          <p:nvPr/>
        </p:nvSpPr>
        <p:spPr>
          <a:xfrm>
            <a:off x="64008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5E616A"/>
                </a:solidFill>
                <a:latin typeface="Assistant Light"/>
                <a:cs typeface="Assistant Light"/>
              </a:rPr>
              <a:t>6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863840" y="548640"/>
            <a:ext cx="3687775" cy="3657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000" b="0">
                <a:solidFill>
                  <a:srgbClr val="5E616A"/>
                </a:solidFill>
                <a:latin typeface="Assistant SemiBold"/>
                <a:cs typeface="Assistant SemiBold"/>
              </a:rPr>
              <a:t>מושג שני</a:t>
            </a:r>
            <a:endParaRPr lang="he-IL" sz="2000"/>
          </a:p>
        </p:txBody>
      </p:sp>
      <p:sp>
        <p:nvSpPr>
          <p:cNvPr id="4" name="Title"/>
          <p:cNvSpPr txBox="1"/>
          <p:nvPr/>
        </p:nvSpPr>
        <p:spPr>
          <a:xfrm>
            <a:off x="7863840" y="914400"/>
            <a:ext cx="3687775" cy="10972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6000" b="0">
                <a:solidFill>
                  <a:srgbClr val="9E3328"/>
                </a:solidFill>
                <a:latin typeface="Frank Ruhl Libre Light"/>
                <a:cs typeface="Frank Ruhl Libre Light"/>
              </a:rPr>
              <a:t>ניגוד</a:t>
            </a:r>
            <a:endParaRPr lang="he-IL" sz="6000"/>
          </a:p>
        </p:txBody>
      </p:sp>
      <p:sp>
        <p:nvSpPr>
          <p:cNvPr id="5" name="TextBox 4"/>
          <p:cNvSpPr txBox="1"/>
          <p:nvPr/>
        </p:nvSpPr>
        <p:spPr>
          <a:xfrm>
            <a:off x="7863840" y="2148840"/>
            <a:ext cx="3687775" cy="17373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6000"/>
              </a:lnSpc>
              <a:buNone/>
            </a:pPr>
            <a:r>
              <a:rPr lang="he-IL" altLang="en-US" sz="2200" b="0">
                <a:solidFill>
                  <a:srgbClr val="1C1C20"/>
                </a:solidFill>
                <a:latin typeface="Assistant Light"/>
                <a:cs typeface="Assistant Light"/>
              </a:rPr>
              <a:t>העמדה של שני דברים הפוכים זה מול זה, כדי לחדד את ההבדל ביניהם ולהבליט רעיון.</a:t>
            </a:r>
            <a:endParaRPr lang="he-IL" sz="2200"/>
          </a:p>
        </p:txBody>
      </p:sp>
      <p:sp>
        <p:nvSpPr>
          <p:cNvPr id="6" name="TextBox 5"/>
          <p:cNvSpPr txBox="1"/>
          <p:nvPr/>
        </p:nvSpPr>
        <p:spPr>
          <a:xfrm>
            <a:off x="640080" y="685800"/>
            <a:ext cx="6675120" cy="10058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80000"/>
              </a:lnSpc>
              <a:buNone/>
            </a:pPr>
            <a:r>
              <a:rPr lang="he-IL" altLang="en-US" sz="9600" b="0">
                <a:solidFill>
                  <a:srgbClr val="9E3328"/>
                </a:solidFill>
                <a:latin typeface="Frank Ruhl Libre Light"/>
                <a:cs typeface="Frank Ruhl Libre Light"/>
              </a:rPr>
              <a:t>״</a:t>
            </a:r>
            <a:endParaRPr lang="he-IL" sz="9600"/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6675120" cy="21031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8000"/>
              </a:lnSpc>
              <a:spcAft>
                <a:spcPts val="400"/>
              </a:spcAft>
              <a:buNone/>
            </a:pPr>
            <a:r>
              <a:rPr lang="he-IL" altLang="en-US" sz="3200" b="0">
                <a:solidFill>
                  <a:srgbClr val="1C1C20"/>
                </a:solidFill>
                <a:latin typeface="Frank Ruhl Libre Light"/>
                <a:cs typeface="Frank Ruhl Libre Light"/>
              </a:rPr>
              <a:t>שרק מי שצעד ב</a:t>
            </a:r>
            <a:r>
              <a:rPr lang="he-IL" altLang="en-US" sz="3200" b="0">
                <a:solidFill>
                  <a:srgbClr val="9E3328"/>
                </a:solidFill>
                <a:latin typeface="Frank Ruhl Libre Light"/>
                <a:cs typeface="Frank Ruhl Libre Light"/>
              </a:rPr>
              <a:t>אפלה</a:t>
            </a:r>
            <a:r>
              <a:rPr lang="he-IL" altLang="en-US" sz="3200" b="0">
                <a:solidFill>
                  <a:srgbClr val="1C1C20"/>
                </a:solidFill>
                <a:latin typeface="Frank Ruhl Libre Light"/>
                <a:cs typeface="Frank Ruhl Libre Light"/>
              </a:rPr>
              <a:t> וב</a:t>
            </a:r>
            <a:r>
              <a:rPr lang="he-IL" altLang="en-US" sz="3200" b="0">
                <a:solidFill>
                  <a:srgbClr val="9E3328"/>
                </a:solidFill>
                <a:latin typeface="Frank Ruhl Libre Light"/>
                <a:cs typeface="Frank Ruhl Libre Light"/>
              </a:rPr>
              <a:t>חושך</a:t>
            </a:r>
            <a:endParaRPr lang="he-IL" sz="3200"/>
          </a:p>
          <a:p>
            <a:pPr algn="r" rtl="1">
              <a:lnSpc>
                <a:spcPct val="108000"/>
              </a:lnSpc>
              <a:spcAft>
                <a:spcPts val="400"/>
              </a:spcAft>
              <a:buNone/>
            </a:pPr>
            <a:r>
              <a:rPr lang="he-IL" altLang="en-US" sz="3200" b="0">
                <a:solidFill>
                  <a:srgbClr val="1C1C20"/>
                </a:solidFill>
                <a:latin typeface="Frank Ruhl Libre Light"/>
                <a:cs typeface="Frank Ruhl Libre Light"/>
              </a:rPr>
              <a:t>יודע באמת מהו </a:t>
            </a:r>
            <a:r>
              <a:rPr lang="he-IL" altLang="en-US" sz="3200" b="0">
                <a:solidFill>
                  <a:srgbClr val="9E3328"/>
                </a:solidFill>
                <a:latin typeface="Frank Ruhl Libre Light"/>
                <a:cs typeface="Frank Ruhl Libre Light"/>
              </a:rPr>
              <a:t>אור</a:t>
            </a:r>
            <a:endParaRPr lang="he-IL" sz="3200"/>
          </a:p>
        </p:txBody>
      </p:sp>
      <p:cxnSp>
        <p:nvCxnSpPr>
          <p:cNvPr id="8" name="Connector 7"/>
          <p:cNvCxnSpPr/>
          <p:nvPr/>
        </p:nvCxnSpPr>
        <p:spPr>
          <a:xfrm>
            <a:off x="640080" y="4069080"/>
            <a:ext cx="10911535" cy="0"/>
          </a:xfrm>
          <a:prstGeom prst="line">
            <a:avLst/>
          </a:prstGeom>
          <a:ln w="9525">
            <a:solidFill>
              <a:srgbClr val="CFCAC0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6355080" y="4297680"/>
            <a:ext cx="5196535" cy="2011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600"/>
              </a:spcAft>
              <a:buNone/>
            </a:pPr>
            <a:r>
              <a:rPr lang="he-IL" altLang="en-US" sz="2200" b="0">
                <a:solidFill>
                  <a:srgbClr val="9E3328"/>
                </a:solidFill>
                <a:latin typeface="Assistant SemiBold"/>
                <a:cs typeface="Assistant SemiBold"/>
              </a:rPr>
              <a:t>איך זה מופיע בשיר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1C1C20"/>
                </a:solidFill>
                <a:latin typeface="Assistant Light"/>
                <a:cs typeface="Assistant Light"/>
              </a:rPr>
              <a:t>החושך הוא הפציעה והלילות הקשים, והאור הוא החזרה לחיים. אותו ניגוד חוזר בפזמון: ״למות״ מול ״לחיות״.</a:t>
            </a:r>
            <a:endParaRPr lang="he-IL" sz="2200"/>
          </a:p>
        </p:txBody>
      </p:sp>
      <p:sp>
        <p:nvSpPr>
          <p:cNvPr id="10" name="TextBox 9"/>
          <p:cNvSpPr txBox="1"/>
          <p:nvPr/>
        </p:nvSpPr>
        <p:spPr>
          <a:xfrm>
            <a:off x="640080" y="4297680"/>
            <a:ext cx="5120640" cy="20116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spcAft>
                <a:spcPts val="600"/>
              </a:spcAft>
              <a:buNone/>
            </a:pPr>
            <a:r>
              <a:rPr lang="he-IL" altLang="en-US" sz="2200" b="0">
                <a:solidFill>
                  <a:srgbClr val="9E3328"/>
                </a:solidFill>
                <a:latin typeface="Assistant SemiBold"/>
                <a:cs typeface="Assistant SemiBold"/>
              </a:rPr>
              <a:t>מה זה מוסיף למשמעות</a:t>
            </a:r>
            <a:endParaRPr lang="he-IL" sz="2200"/>
          </a:p>
          <a:p>
            <a:pPr algn="r" rtl="1">
              <a:lnSpc>
                <a:spcPct val="104000"/>
              </a:lnSpc>
              <a:buNone/>
            </a:pPr>
            <a:r>
              <a:rPr lang="he-IL" altLang="en-US" sz="2200" b="0">
                <a:solidFill>
                  <a:srgbClr val="1C1C20"/>
                </a:solidFill>
                <a:latin typeface="Assistant Light"/>
                <a:cs typeface="Assistant Light"/>
              </a:rPr>
              <a:t>את הטוב מעריכים באמת רק אחרי שעוברים את הרע. כך בנוי כל השיר: הוא עובר מהשבר אל האור.</a:t>
            </a:r>
            <a:endParaRPr lang="he-IL" sz="2200"/>
          </a:p>
        </p:txBody>
      </p:sp>
      <p:sp>
        <p:nvSpPr>
          <p:cNvPr id="11" name="Slide number"/>
          <p:cNvSpPr txBox="1"/>
          <p:nvPr/>
        </p:nvSpPr>
        <p:spPr>
          <a:xfrm>
            <a:off x="64008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5E616A"/>
                </a:solidFill>
                <a:latin typeface="Assistant Light"/>
                <a:cs typeface="Assistant Light"/>
              </a:rPr>
              <a:t>7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400" b="0">
                <a:solidFill>
                  <a:srgbClr val="1C1C20"/>
                </a:solidFill>
                <a:latin typeface="Frank Ruhl Libre Light"/>
                <a:cs typeface="Frank Ruhl Libre Light"/>
              </a:rPr>
              <a:t>מילים שמעוררות את המלחמה</a:t>
            </a:r>
            <a:endParaRPr lang="he-IL" sz="4400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911535" cy="457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2200" b="0">
                <a:solidFill>
                  <a:srgbClr val="5E616A"/>
                </a:solidFill>
                <a:latin typeface="Assistant Light"/>
                <a:cs typeface="Assistant Light"/>
              </a:rPr>
              <a:t>מילים וצירופים מתוך השיר שמחזירים אותנו אל הקרב ואל הפציעה</a:t>
            </a:r>
            <a:endParaRPr lang="he-IL" sz="2200"/>
          </a:p>
        </p:txBody>
      </p:sp>
      <p:sp>
        <p:nvSpPr>
          <p:cNvPr id="5" name="TextBox 4"/>
          <p:cNvSpPr txBox="1"/>
          <p:nvPr/>
        </p:nvSpPr>
        <p:spPr>
          <a:xfrm>
            <a:off x="6062472" y="1965960"/>
            <a:ext cx="5486400" cy="11734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6600" b="0">
                <a:solidFill>
                  <a:srgbClr val="9E3328"/>
                </a:solidFill>
                <a:latin typeface="Frank Ruhl Libre Light"/>
                <a:cs typeface="Frank Ruhl Libre Light"/>
              </a:rPr>
              <a:t>נפצעתי</a:t>
            </a:r>
            <a:endParaRPr lang="he-IL" sz="6600"/>
          </a:p>
        </p:txBody>
      </p:sp>
      <p:sp>
        <p:nvSpPr>
          <p:cNvPr id="6" name="TextBox 5"/>
          <p:cNvSpPr txBox="1"/>
          <p:nvPr/>
        </p:nvSpPr>
        <p:spPr>
          <a:xfrm>
            <a:off x="2194560" y="2240280"/>
            <a:ext cx="5486400" cy="71120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4000" b="0">
                <a:solidFill>
                  <a:srgbClr val="1C1C20"/>
                </a:solidFill>
                <a:latin typeface="Assistant Light"/>
                <a:cs typeface="Assistant Light"/>
              </a:rPr>
              <a:t>לא הרמתי ידיים</a:t>
            </a:r>
            <a:endParaRPr lang="he-IL" sz="4000"/>
          </a:p>
        </p:txBody>
      </p:sp>
      <p:sp>
        <p:nvSpPr>
          <p:cNvPr id="7" name="TextBox 6"/>
          <p:cNvSpPr txBox="1"/>
          <p:nvPr/>
        </p:nvSpPr>
        <p:spPr>
          <a:xfrm>
            <a:off x="640079" y="2148840"/>
            <a:ext cx="2651760" cy="7823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4400" b="0">
                <a:solidFill>
                  <a:srgbClr val="1C1C20"/>
                </a:solidFill>
                <a:latin typeface="Assistant Light"/>
                <a:cs typeface="Assistant Light"/>
              </a:rPr>
              <a:t>חטפתי</a:t>
            </a:r>
            <a:endParaRPr lang="he-IL" sz="4400"/>
          </a:p>
        </p:txBody>
      </p:sp>
      <p:sp>
        <p:nvSpPr>
          <p:cNvPr id="8" name="TextBox 7"/>
          <p:cNvSpPr txBox="1"/>
          <p:nvPr/>
        </p:nvSpPr>
        <p:spPr>
          <a:xfrm>
            <a:off x="6062472" y="3337560"/>
            <a:ext cx="5486400" cy="675639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800" b="0">
                <a:solidFill>
                  <a:srgbClr val="1C1C20"/>
                </a:solidFill>
                <a:latin typeface="Assistant Light"/>
                <a:cs typeface="Assistant Light"/>
              </a:rPr>
              <a:t>שאגתי מתוך החזה</a:t>
            </a:r>
            <a:endParaRPr lang="he-IL" sz="3800"/>
          </a:p>
        </p:txBody>
      </p:sp>
      <p:sp>
        <p:nvSpPr>
          <p:cNvPr id="9" name="TextBox 8"/>
          <p:cNvSpPr txBox="1"/>
          <p:nvPr/>
        </p:nvSpPr>
        <p:spPr>
          <a:xfrm>
            <a:off x="640080" y="3154680"/>
            <a:ext cx="5394959" cy="103124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5800" b="0">
                <a:solidFill>
                  <a:srgbClr val="9E3328"/>
                </a:solidFill>
                <a:latin typeface="Frank Ruhl Libre Light"/>
                <a:cs typeface="Frank Ruhl Libre Light"/>
              </a:rPr>
              <a:t>קביים</a:t>
            </a:r>
            <a:endParaRPr lang="he-IL" sz="5800"/>
          </a:p>
        </p:txBody>
      </p:sp>
      <p:sp>
        <p:nvSpPr>
          <p:cNvPr id="10" name="TextBox 9"/>
          <p:cNvSpPr txBox="1"/>
          <p:nvPr/>
        </p:nvSpPr>
        <p:spPr>
          <a:xfrm>
            <a:off x="640079" y="3429000"/>
            <a:ext cx="2011680" cy="6045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400" b="0">
                <a:solidFill>
                  <a:srgbClr val="1C1C20"/>
                </a:solidFill>
                <a:latin typeface="Assistant Light"/>
                <a:cs typeface="Assistant Light"/>
              </a:rPr>
              <a:t>אוויר דליל</a:t>
            </a:r>
            <a:endParaRPr lang="he-IL" sz="3400"/>
          </a:p>
        </p:txBody>
      </p:sp>
      <p:sp>
        <p:nvSpPr>
          <p:cNvPr id="11" name="TextBox 10"/>
          <p:cNvSpPr txBox="1"/>
          <p:nvPr/>
        </p:nvSpPr>
        <p:spPr>
          <a:xfrm>
            <a:off x="4754879" y="4617720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3600" b="0">
                <a:solidFill>
                  <a:srgbClr val="1C1C20"/>
                </a:solidFill>
                <a:latin typeface="Assistant Light"/>
                <a:cs typeface="Assistant Light"/>
              </a:rPr>
              <a:t>מחנק בעליות</a:t>
            </a:r>
            <a:endParaRPr lang="he-IL" sz="3600"/>
          </a:p>
        </p:txBody>
      </p:sp>
      <p:sp>
        <p:nvSpPr>
          <p:cNvPr id="12" name="TextBox 11"/>
          <p:cNvSpPr txBox="1"/>
          <p:nvPr/>
        </p:nvSpPr>
        <p:spPr>
          <a:xfrm>
            <a:off x="640080" y="4434840"/>
            <a:ext cx="5120640" cy="9245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buNone/>
            </a:pPr>
            <a:r>
              <a:rPr lang="he-IL" altLang="en-US" sz="5200" b="0">
                <a:solidFill>
                  <a:srgbClr val="9E3328"/>
                </a:solidFill>
                <a:latin typeface="Frank Ruhl Libre Light"/>
                <a:cs typeface="Frank Ruhl Libre Light"/>
              </a:rPr>
              <a:t>החושך שעברתי</a:t>
            </a:r>
            <a:endParaRPr lang="he-IL" sz="5200"/>
          </a:p>
        </p:txBody>
      </p:sp>
      <p:sp>
        <p:nvSpPr>
          <p:cNvPr id="13" name="Slide number"/>
          <p:cNvSpPr txBox="1"/>
          <p:nvPr/>
        </p:nvSpPr>
        <p:spPr>
          <a:xfrm>
            <a:off x="64008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5E616A"/>
                </a:solidFill>
                <a:latin typeface="Assistant Light"/>
                <a:cs typeface="Assistant Light"/>
              </a:rPr>
              <a:t>8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457200"/>
            <a:ext cx="10911535" cy="8686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r" rtl="1">
              <a:buNone/>
            </a:pPr>
            <a:r>
              <a:rPr lang="he-IL" altLang="en-US" sz="4400" b="0">
                <a:solidFill>
                  <a:srgbClr val="1C1C20"/>
                </a:solidFill>
                <a:latin typeface="Frank Ruhl Libre Light"/>
                <a:cs typeface="Frank Ruhl Libre Light"/>
              </a:rPr>
              <a:t>האירועים שהמילים מעוררות</a:t>
            </a:r>
            <a:endParaRPr lang="he-IL" sz="4400"/>
          </a:p>
        </p:txBody>
      </p:sp>
      <p:pic>
        <p:nvPicPr>
          <p:cNvPr id="4" name="Event photo" descr="gray_amedi_handshake.jpg"/>
          <p:cNvPicPr>
            <a:picLocks noChangeAspect="1"/>
          </p:cNvPicPr>
          <p:nvPr/>
        </p:nvPicPr>
        <p:blipFill>
          <a:blip r:embed="rId3"/>
          <a:srcRect l="3070" r="3070"/>
          <a:stretch>
            <a:fillRect/>
          </a:stretch>
        </p:blipFill>
        <p:spPr>
          <a:xfrm>
            <a:off x="640080" y="1600200"/>
            <a:ext cx="4572000" cy="3246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983480"/>
            <a:ext cx="4572000" cy="118872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2000"/>
              </a:lnSpc>
              <a:buNone/>
            </a:pPr>
            <a:r>
              <a:rPr lang="he-IL" altLang="en-US" sz="1800" b="0">
                <a:solidFill>
                  <a:srgbClr val="5E616A"/>
                </a:solidFill>
                <a:latin typeface="Assistant Light"/>
                <a:cs typeface="Assistant Light"/>
              </a:rPr>
              <a:t>עידן עמדי במדי מילואים, בלחיצת יד עם מפקד בכיר. מאחורי ה״סופרמן״ שבשיר עומד לוחם אמיתי.</a:t>
            </a:r>
            <a:endParaRPr lang="he-IL" sz="1800"/>
          </a:p>
        </p:txBody>
      </p:sp>
      <p:sp>
        <p:nvSpPr>
          <p:cNvPr id="6" name="TextBox 5"/>
          <p:cNvSpPr txBox="1"/>
          <p:nvPr/>
        </p:nvSpPr>
        <p:spPr>
          <a:xfrm>
            <a:off x="9646920" y="1554480"/>
            <a:ext cx="1904695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000" b="0">
                <a:solidFill>
                  <a:srgbClr val="9E3328"/>
                </a:solidFill>
                <a:latin typeface="Assistant SemiBold"/>
                <a:cs typeface="Assistant SemiBold"/>
              </a:rPr>
              <a:t>אוקטובר 2023</a:t>
            </a:r>
            <a:endParaRPr lang="he-IL" sz="2000"/>
          </a:p>
        </p:txBody>
      </p:sp>
      <p:sp>
        <p:nvSpPr>
          <p:cNvPr id="7" name="TextBox 6"/>
          <p:cNvSpPr txBox="1"/>
          <p:nvPr/>
        </p:nvSpPr>
        <p:spPr>
          <a:xfrm>
            <a:off x="5715000" y="1554480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1C1C20"/>
                </a:solidFill>
                <a:latin typeface="Assistant Light"/>
                <a:cs typeface="Assistant Light"/>
              </a:rPr>
              <a:t>פורצת מלחמת ״חרבות ברזל״, ועמדי מגויס למילואים.</a:t>
            </a:r>
            <a:endParaRPr lang="he-IL" sz="2200"/>
          </a:p>
        </p:txBody>
      </p:sp>
      <p:cxnSp>
        <p:nvCxnSpPr>
          <p:cNvPr id="8" name="Connector 7"/>
          <p:cNvCxnSpPr/>
          <p:nvPr/>
        </p:nvCxnSpPr>
        <p:spPr>
          <a:xfrm>
            <a:off x="5715000" y="2395727"/>
            <a:ext cx="5836615" cy="0"/>
          </a:xfrm>
          <a:prstGeom prst="line">
            <a:avLst/>
          </a:prstGeom>
          <a:ln w="9525">
            <a:solidFill>
              <a:srgbClr val="CFCAC0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9646920" y="2487168"/>
            <a:ext cx="1904695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000" b="0">
                <a:solidFill>
                  <a:srgbClr val="9E3328"/>
                </a:solidFill>
                <a:latin typeface="Assistant SemiBold"/>
                <a:cs typeface="Assistant SemiBold"/>
              </a:rPr>
              <a:t>עזה</a:t>
            </a:r>
            <a:endParaRPr lang="he-IL" sz="2000"/>
          </a:p>
        </p:txBody>
      </p:sp>
      <p:sp>
        <p:nvSpPr>
          <p:cNvPr id="10" name="TextBox 9"/>
          <p:cNvSpPr txBox="1"/>
          <p:nvPr/>
        </p:nvSpPr>
        <p:spPr>
          <a:xfrm>
            <a:off x="5715000" y="2487168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1C1C20"/>
                </a:solidFill>
                <a:latin typeface="Assistant Light"/>
                <a:cs typeface="Assistant Light"/>
              </a:rPr>
              <a:t>כלוחם הנדסה, הוא נלחם בתוך רצועת עזה.</a:t>
            </a:r>
            <a:endParaRPr lang="he-IL" sz="2200"/>
          </a:p>
        </p:txBody>
      </p:sp>
      <p:cxnSp>
        <p:nvCxnSpPr>
          <p:cNvPr id="11" name="Connector 10"/>
          <p:cNvCxnSpPr/>
          <p:nvPr/>
        </p:nvCxnSpPr>
        <p:spPr>
          <a:xfrm>
            <a:off x="5715000" y="3328415"/>
            <a:ext cx="5836615" cy="0"/>
          </a:xfrm>
          <a:prstGeom prst="line">
            <a:avLst/>
          </a:prstGeom>
          <a:ln w="9525">
            <a:solidFill>
              <a:srgbClr val="CFCAC0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9646920" y="3419856"/>
            <a:ext cx="1904695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000" b="0">
                <a:solidFill>
                  <a:srgbClr val="9E3328"/>
                </a:solidFill>
                <a:latin typeface="Assistant SemiBold"/>
                <a:cs typeface="Assistant SemiBold"/>
              </a:rPr>
              <a:t>8 בינואר 2024</a:t>
            </a:r>
            <a:endParaRPr lang="he-IL" sz="2000"/>
          </a:p>
        </p:txBody>
      </p:sp>
      <p:sp>
        <p:nvSpPr>
          <p:cNvPr id="13" name="TextBox 12"/>
          <p:cNvSpPr txBox="1"/>
          <p:nvPr/>
        </p:nvSpPr>
        <p:spPr>
          <a:xfrm>
            <a:off x="5715000" y="3419856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1C1C20"/>
                </a:solidFill>
                <a:latin typeface="Assistant Light"/>
                <a:cs typeface="Assistant Light"/>
              </a:rPr>
              <a:t>נפצע קשה מפיצוץ בזמן פעולה להשמדת מנהרה.</a:t>
            </a:r>
            <a:endParaRPr lang="he-IL" sz="2200"/>
          </a:p>
        </p:txBody>
      </p:sp>
      <p:cxnSp>
        <p:nvCxnSpPr>
          <p:cNvPr id="14" name="Connector 13"/>
          <p:cNvCxnSpPr/>
          <p:nvPr/>
        </p:nvCxnSpPr>
        <p:spPr>
          <a:xfrm>
            <a:off x="5715000" y="4261104"/>
            <a:ext cx="5836615" cy="0"/>
          </a:xfrm>
          <a:prstGeom prst="line">
            <a:avLst/>
          </a:prstGeom>
          <a:ln w="9525">
            <a:solidFill>
              <a:srgbClr val="CFCAC0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9646920" y="4352544"/>
            <a:ext cx="1904695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000" b="0">
                <a:solidFill>
                  <a:srgbClr val="9E3328"/>
                </a:solidFill>
                <a:latin typeface="Assistant SemiBold"/>
                <a:cs typeface="Assistant SemiBold"/>
              </a:rPr>
              <a:t>שיבא</a:t>
            </a:r>
            <a:endParaRPr lang="he-IL" sz="2000"/>
          </a:p>
        </p:txBody>
      </p:sp>
      <p:sp>
        <p:nvSpPr>
          <p:cNvPr id="16" name="TextBox 15"/>
          <p:cNvSpPr txBox="1"/>
          <p:nvPr/>
        </p:nvSpPr>
        <p:spPr>
          <a:xfrm>
            <a:off x="5715000" y="4352544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1C1C20"/>
                </a:solidFill>
                <a:latin typeface="Assistant Light"/>
                <a:cs typeface="Assistant Light"/>
              </a:rPr>
              <a:t>מגיע לבית החולים מורדם ומונשם, עם רסיסים בכל הגוף.</a:t>
            </a:r>
            <a:endParaRPr lang="he-IL" sz="2200"/>
          </a:p>
        </p:txBody>
      </p:sp>
      <p:cxnSp>
        <p:nvCxnSpPr>
          <p:cNvPr id="17" name="Connector 16"/>
          <p:cNvCxnSpPr/>
          <p:nvPr/>
        </p:nvCxnSpPr>
        <p:spPr>
          <a:xfrm>
            <a:off x="5715000" y="5193792"/>
            <a:ext cx="5836615" cy="0"/>
          </a:xfrm>
          <a:prstGeom prst="line">
            <a:avLst/>
          </a:prstGeom>
          <a:ln w="9525">
            <a:solidFill>
              <a:srgbClr val="CFCAC0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9646920" y="5285231"/>
            <a:ext cx="1904695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000" b="0">
                <a:solidFill>
                  <a:srgbClr val="9E3328"/>
                </a:solidFill>
                <a:latin typeface="Assistant SemiBold"/>
                <a:cs typeface="Assistant SemiBold"/>
              </a:rPr>
              <a:t>השנה שאחרי</a:t>
            </a:r>
            <a:endParaRPr lang="he-IL" sz="2000"/>
          </a:p>
        </p:txBody>
      </p:sp>
      <p:sp>
        <p:nvSpPr>
          <p:cNvPr id="19" name="TextBox 18"/>
          <p:cNvSpPr txBox="1"/>
          <p:nvPr/>
        </p:nvSpPr>
        <p:spPr>
          <a:xfrm>
            <a:off x="5715000" y="5285231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 rtlCol="1" anchor="t">
            <a:spAutoFit/>
          </a:bodyPr>
          <a:lstStyle/>
          <a:p>
            <a:pPr algn="r" rtl="1">
              <a:lnSpc>
                <a:spcPct val="100000"/>
              </a:lnSpc>
              <a:buNone/>
            </a:pPr>
            <a:r>
              <a:rPr lang="he-IL" altLang="en-US" sz="2200" b="0">
                <a:solidFill>
                  <a:srgbClr val="1C1C20"/>
                </a:solidFill>
                <a:latin typeface="Assistant Light"/>
                <a:cs typeface="Assistant Light"/>
              </a:rPr>
              <a:t>יותר משנה של שיקום. מתוכה נולד השיר ״סופרמן״.</a:t>
            </a:r>
            <a:endParaRPr lang="he-IL" sz="2200"/>
          </a:p>
        </p:txBody>
      </p:sp>
      <p:sp>
        <p:nvSpPr>
          <p:cNvPr id="20" name="Slide number"/>
          <p:cNvSpPr txBox="1"/>
          <p:nvPr/>
        </p:nvSpPr>
        <p:spPr>
          <a:xfrm>
            <a:off x="64008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5E616A"/>
                </a:solidFill>
                <a:latin typeface="Assistant Light"/>
                <a:cs typeface="Assistant Light"/>
              </a:rPr>
              <a:t>9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" descr="bg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640080" y="1417320"/>
            <a:ext cx="10911535" cy="384048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ctr" rtl="1">
              <a:lnSpc>
                <a:spcPct val="105000"/>
              </a:lnSpc>
              <a:spcAft>
                <a:spcPts val="1600"/>
              </a:spcAft>
              <a:buNone/>
            </a:pPr>
            <a:r>
              <a:rPr lang="he-IL" altLang="en-US" sz="4000" b="0">
                <a:solidFill>
                  <a:srgbClr val="1C1C20"/>
                </a:solidFill>
                <a:latin typeface="Assistant SemiBold"/>
                <a:cs typeface="Assistant SemiBold"/>
              </a:rPr>
              <a:t>סופרמן בקומיקס אף פעם לא נפצע.</a:t>
            </a:r>
            <a:endParaRPr lang="he-IL" sz="4000"/>
          </a:p>
          <a:p>
            <a:pPr algn="ctr" rtl="1">
              <a:lnSpc>
                <a:spcPct val="105000"/>
              </a:lnSpc>
              <a:spcAft>
                <a:spcPts val="1600"/>
              </a:spcAft>
              <a:buNone/>
            </a:pPr>
            <a:r>
              <a:rPr lang="he-IL" altLang="en-US" sz="4400" b="0">
                <a:solidFill>
                  <a:srgbClr val="9E3328"/>
                </a:solidFill>
                <a:latin typeface="Frank Ruhl Libre Light"/>
                <a:cs typeface="Frank Ruhl Libre Light"/>
              </a:rPr>
              <a:t>עידן עמדי נפצע, נשבר וקם.</a:t>
            </a:r>
            <a:endParaRPr lang="he-IL" sz="4400"/>
          </a:p>
          <a:p>
            <a:pPr algn="ctr" rtl="1">
              <a:lnSpc>
                <a:spcPct val="105000"/>
              </a:lnSpc>
              <a:buNone/>
            </a:pPr>
            <a:r>
              <a:rPr lang="he-IL" altLang="en-US" sz="4000" b="0">
                <a:solidFill>
                  <a:srgbClr val="1C1C20"/>
                </a:solidFill>
                <a:latin typeface="Frank Ruhl Libre Light"/>
                <a:cs typeface="Frank Ruhl Libre Light"/>
              </a:rPr>
              <a:t>בעינינו, זה סופרמן אמיתי.</a:t>
            </a:r>
            <a:endParaRPr lang="he-IL" sz="4000"/>
          </a:p>
        </p:txBody>
      </p:sp>
      <p:sp>
        <p:nvSpPr>
          <p:cNvPr id="4" name="Slide number"/>
          <p:cNvSpPr txBox="1"/>
          <p:nvPr/>
        </p:nvSpPr>
        <p:spPr>
          <a:xfrm>
            <a:off x="640080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rtlCol="1" anchor="ctr">
            <a:spAutoFit/>
          </a:bodyPr>
          <a:lstStyle/>
          <a:p>
            <a:pPr algn="l" rtl="0">
              <a:buNone/>
            </a:pPr>
            <a:r>
              <a:rPr lang="he-IL" altLang="en-US" sz="1200" b="0">
                <a:solidFill>
                  <a:srgbClr val="5E616A"/>
                </a:solidFill>
                <a:latin typeface="Assistant Light"/>
                <a:cs typeface="Assistant Light"/>
              </a:rPr>
              <a:t>10</a:t>
            </a:r>
            <a:endParaRPr lang="he-IL" sz="1200"/>
          </a:p>
        </p:txBody>
      </p:sp>
    </p:spTree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