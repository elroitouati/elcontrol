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50292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1">
                <a:solidFill>
                  <a:srgbClr val="D1A95E"/>
                </a:solidFill>
                <a:latin typeface="Heebo"/>
                <a:cs typeface="Heebo"/>
              </a:rPr>
              <a:t>הערכה חלופית בספרות – שכבה ט׳</a:t>
            </a:r>
            <a:endParaRPr lang="he-IL" sz="2000"/>
          </a:p>
        </p:txBody>
      </p:sp>
      <p:sp>
        <p:nvSpPr>
          <p:cNvPr id="4" name="Title"/>
          <p:cNvSpPr txBox="1"/>
          <p:nvPr/>
        </p:nvSpPr>
        <p:spPr>
          <a:xfrm>
            <a:off x="548640" y="1417320"/>
            <a:ext cx="11091672" cy="2011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he-IL" altLang="en-US" sz="13000" b="0">
                <a:solidFill>
                  <a:srgbClr val="F3EFE7"/>
                </a:solidFill>
                <a:latin typeface="Heebo Black"/>
                <a:cs typeface="Heebo Black"/>
              </a:rPr>
              <a:t>סופרמן</a:t>
            </a:r>
            <a:endParaRPr lang="he-IL" sz="13000"/>
          </a:p>
        </p:txBody>
      </p:sp>
      <p:sp>
        <p:nvSpPr>
          <p:cNvPr id="5" name="TextBox 4"/>
          <p:cNvSpPr txBox="1"/>
          <p:nvPr/>
        </p:nvSpPr>
        <p:spPr>
          <a:xfrm>
            <a:off x="548640" y="342900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D1A95E"/>
                </a:solidFill>
                <a:latin typeface="Heebo Light"/>
                <a:cs typeface="Heebo Light"/>
              </a:rPr>
              <a:t>עידן עמדי</a:t>
            </a:r>
            <a:endParaRPr lang="he-IL" sz="4000"/>
          </a:p>
        </p:txBody>
      </p:sp>
      <p:sp>
        <p:nvSpPr>
          <p:cNvPr id="6" name="TextBox 5"/>
          <p:cNvSpPr txBox="1"/>
          <p:nvPr/>
        </p:nvSpPr>
        <p:spPr>
          <a:xfrm>
            <a:off x="548640" y="416052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A4ACBD"/>
                </a:solidFill>
                <a:latin typeface="Heebo"/>
                <a:cs typeface="Heebo"/>
              </a:rPr>
              <a:t>שיר על פציעה, שיקום ובחירה בחיים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A4ACBD"/>
                </a:solidFill>
                <a:latin typeface="Heebo"/>
                <a:cs typeface="Heebo"/>
              </a:rPr>
              <a:t>מגישים</a:t>
            </a:r>
            <a:endParaRPr lang="he-IL" sz="1600"/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1">
                <a:solidFill>
                  <a:srgbClr val="F3EFE7"/>
                </a:solidFill>
                <a:latin typeface="Heebo"/>
                <a:cs typeface="Heebo"/>
              </a:rPr>
              <a:t>אלרואי טואטי  ·  יואב טימסטיט  ·  אלינדב בק</a:t>
            </a:r>
            <a:endParaRPr lang="he-IL" sz="24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ubric tag"/>
          <p:cNvSpPr/>
          <p:nvPr/>
        </p:nvSpPr>
        <p:spPr>
          <a:xfrm>
            <a:off x="548640" y="457200"/>
            <a:ext cx="1600200" cy="45720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D1A9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buNone/>
            </a:pPr>
            <a:r>
              <a:rPr lang="he-IL" altLang="en-US" sz="1600" b="1">
                <a:solidFill>
                  <a:srgbClr val="D1A95E"/>
                </a:solidFill>
                <a:latin typeface="Heebo"/>
                <a:cs typeface="Heebo"/>
              </a:rPr>
              <a:t>חלק א׳</a:t>
            </a:r>
            <a:endParaRPr lang="he-IL" sz="1600"/>
          </a:p>
        </p:txBody>
      </p:sp>
      <p:sp>
        <p:nvSpPr>
          <p:cNvPr id="5" name="Slide number"/>
          <p:cNvSpPr txBox="1"/>
          <p:nvPr/>
        </p:nvSpPr>
        <p:spPr>
          <a:xfrm>
            <a:off x="548640" y="632764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4ACBD"/>
                </a:solidFill>
                <a:latin typeface="Heebo"/>
                <a:cs typeface="Heebo"/>
              </a:rPr>
              <a:t>2 / 11</a:t>
            </a:r>
            <a:endParaRPr lang="he-IL" sz="1200"/>
          </a:p>
        </p:txBody>
      </p:sp>
      <p:sp>
        <p:nvSpPr>
          <p:cNvPr id="6" name="Title"/>
          <p:cNvSpPr txBox="1"/>
          <p:nvPr/>
        </p:nvSpPr>
        <p:spPr>
          <a:xfrm>
            <a:off x="2468880" y="347472"/>
            <a:ext cx="9171432" cy="777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1">
                <a:solidFill>
                  <a:srgbClr val="F3EFE7"/>
                </a:solidFill>
                <a:latin typeface="Heebo"/>
                <a:cs typeface="Heebo"/>
              </a:rPr>
              <a:t>הקטע שבחרנו</a:t>
            </a:r>
            <a:endParaRPr lang="he-IL" sz="4400"/>
          </a:p>
        </p:txBody>
      </p:sp>
      <p:sp>
        <p:nvSpPr>
          <p:cNvPr id="7" name="Quote card"/>
          <p:cNvSpPr/>
          <p:nvPr/>
        </p:nvSpPr>
        <p:spPr>
          <a:xfrm>
            <a:off x="6446520" y="1463040"/>
            <a:ext cx="5193792" cy="4526280"/>
          </a:xfrm>
          <a:prstGeom prst="roundRect">
            <a:avLst>
              <a:gd name="adj" fmla="val 6000"/>
            </a:avLst>
          </a:prstGeom>
          <a:solidFill>
            <a:srgbClr val="16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Quote mark"/>
          <p:cNvSpPr txBox="1"/>
          <p:nvPr/>
        </p:nvSpPr>
        <p:spPr>
          <a:xfrm>
            <a:off x="10561320" y="1325880"/>
            <a:ext cx="914400" cy="10972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9600" b="0">
                <a:solidFill>
                  <a:srgbClr val="D1A95E"/>
                </a:solidFill>
                <a:latin typeface="Heebo Black"/>
                <a:cs typeface="Heebo Black"/>
              </a:rPr>
              <a:t>״</a:t>
            </a:r>
            <a:endParaRPr lang="he-IL" sz="9600"/>
          </a:p>
        </p:txBody>
      </p:sp>
      <p:sp>
        <p:nvSpPr>
          <p:cNvPr id="9" name="TextBox 8"/>
          <p:cNvSpPr txBox="1"/>
          <p:nvPr/>
        </p:nvSpPr>
        <p:spPr>
          <a:xfrm>
            <a:off x="6812280" y="2148840"/>
            <a:ext cx="4480560" cy="3291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700" b="1">
                <a:solidFill>
                  <a:srgbClr val="F3EFE7"/>
                </a:solidFill>
                <a:latin typeface="Heebo"/>
                <a:cs typeface="Heebo"/>
              </a:rPr>
              <a:t>אך בסתר ליבי </a:t>
            </a:r>
            <a:r>
              <a:rPr lang="he-IL" altLang="en-US" sz="2700" b="1">
                <a:solidFill>
                  <a:srgbClr val="D1A95E"/>
                </a:solidFill>
                <a:latin typeface="Heebo"/>
                <a:cs typeface="Heebo"/>
              </a:rPr>
              <a:t>השבור השלם</a:t>
            </a:r>
            <a:endParaRPr lang="he-IL" sz="2700"/>
          </a:p>
          <a:p>
            <a:pPr algn="r" rtl="1">
              <a:spcAft>
                <a:spcPts val="1800"/>
              </a:spcAft>
              <a:buNone/>
            </a:pPr>
            <a:r>
              <a:rPr lang="he-IL" altLang="en-US" sz="2700" b="1">
                <a:solidFill>
                  <a:srgbClr val="F3EFE7"/>
                </a:solidFill>
                <a:latin typeface="Heebo"/>
                <a:cs typeface="Heebo"/>
              </a:rPr>
              <a:t>לא היו לי ספקות</a:t>
            </a:r>
            <a:endParaRPr lang="he-IL" sz="2700"/>
          </a:p>
          <a:p>
            <a:pPr algn="r" rtl="1">
              <a:spcAft>
                <a:spcPts val="600"/>
              </a:spcAft>
              <a:buNone/>
            </a:pPr>
            <a:r>
              <a:rPr lang="he-IL" altLang="en-US" sz="2700" b="1">
                <a:solidFill>
                  <a:srgbClr val="F3EFE7"/>
                </a:solidFill>
                <a:latin typeface="Heebo"/>
                <a:cs typeface="Heebo"/>
              </a:rPr>
              <a:t>כבר לא מפחיד אותי </a:t>
            </a:r>
            <a:r>
              <a:rPr lang="he-IL" altLang="en-US" sz="2700" b="1">
                <a:solidFill>
                  <a:srgbClr val="D1A95E"/>
                </a:solidFill>
                <a:latin typeface="Heebo"/>
                <a:cs typeface="Heebo"/>
              </a:rPr>
              <a:t>למות</a:t>
            </a:r>
            <a:endParaRPr lang="he-IL" sz="2700"/>
          </a:p>
          <a:p>
            <a:pPr algn="r" rtl="1">
              <a:buNone/>
            </a:pPr>
            <a:r>
              <a:rPr lang="he-IL" altLang="en-US" sz="2700" b="1">
                <a:solidFill>
                  <a:srgbClr val="F3EFE7"/>
                </a:solidFill>
                <a:latin typeface="Heebo"/>
                <a:cs typeface="Heebo"/>
              </a:rPr>
              <a:t>יותר מפחיד לא </a:t>
            </a:r>
            <a:r>
              <a:rPr lang="he-IL" altLang="en-US" sz="2700" b="1">
                <a:solidFill>
                  <a:srgbClr val="D1A95E"/>
                </a:solidFill>
                <a:latin typeface="Heebo"/>
                <a:cs typeface="Heebo"/>
              </a:rPr>
              <a:t>לחיות</a:t>
            </a:r>
            <a:endParaRPr lang="he-IL" sz="2700"/>
          </a:p>
        </p:txBody>
      </p:sp>
      <p:sp>
        <p:nvSpPr>
          <p:cNvPr id="10" name="TextBox 9"/>
          <p:cNvSpPr txBox="1"/>
          <p:nvPr/>
        </p:nvSpPr>
        <p:spPr>
          <a:xfrm>
            <a:off x="6812280" y="54406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A4ACBD"/>
                </a:solidFill>
                <a:latin typeface="Heebo"/>
                <a:cs typeface="Heebo"/>
              </a:rPr>
              <a:t>עידן עמדי, ״סופרמן״</a:t>
            </a:r>
            <a:endParaRPr lang="he-IL" sz="1600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5532120" cy="21945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400" b="1">
                <a:solidFill>
                  <a:srgbClr val="D1A95E"/>
                </a:solidFill>
                <a:latin typeface="Heebo"/>
                <a:cs typeface="Heebo"/>
              </a:rPr>
              <a:t>למה בחרנו בקטע</a:t>
            </a:r>
            <a:endParaRPr lang="he-IL" sz="2400"/>
          </a:p>
          <a:p>
            <a:pPr algn="r" rtl="1">
              <a:lnSpc>
                <a:spcPct val="105000"/>
              </a:lnSpc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זה רגע השיא של השיר. אחרי הפציעה, הדובר מגלה שהפחד הגדול הוא לא מהמוות – אלא מלוותר על החיים. הצירוף ״השבור השלם״ מראה שאפשר להיות פגוע ועדיין שלם.</a:t>
            </a:r>
            <a:endParaRPr lang="he-IL" sz="2200"/>
          </a:p>
        </p:txBody>
      </p:sp>
      <p:sp>
        <p:nvSpPr>
          <p:cNvPr id="12" name="TextBox 11"/>
          <p:cNvSpPr txBox="1"/>
          <p:nvPr/>
        </p:nvSpPr>
        <p:spPr>
          <a:xfrm>
            <a:off x="548640" y="3840480"/>
            <a:ext cx="5532120" cy="21945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400" b="1">
                <a:solidFill>
                  <a:srgbClr val="D1A95E"/>
                </a:solidFill>
                <a:latin typeface="Heebo"/>
                <a:cs typeface="Heebo"/>
              </a:rPr>
              <a:t>החיבור האישי שלנו</a:t>
            </a:r>
            <a:endParaRPr lang="he-IL" sz="2400"/>
          </a:p>
          <a:p>
            <a:pPr algn="r" rtl="1">
              <a:lnSpc>
                <a:spcPct val="105000"/>
              </a:lnSpc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גדלנו בתוך המלחמה הזאת, וראינו סביבנו אנשים שיצאו למילואים וחזרו אחרים. הקטע לימד אותנו שגבורה היא לא להיות בלתי שביר – אלא לבחור לחיות גם אחרי שנשברים.</a:t>
            </a:r>
            <a:endParaRPr lang="he-IL" sz="2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ubric tag"/>
          <p:cNvSpPr/>
          <p:nvPr/>
        </p:nvSpPr>
        <p:spPr>
          <a:xfrm>
            <a:off x="548640" y="457200"/>
            <a:ext cx="1600200" cy="45720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D1A9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buNone/>
            </a:pPr>
            <a:r>
              <a:rPr lang="he-IL" altLang="en-US" sz="1600" b="1">
                <a:solidFill>
                  <a:srgbClr val="D1A95E"/>
                </a:solidFill>
                <a:latin typeface="Heebo"/>
                <a:cs typeface="Heebo"/>
              </a:rPr>
              <a:t>עמוד 1</a:t>
            </a:r>
            <a:endParaRPr lang="he-IL" sz="1600"/>
          </a:p>
        </p:txBody>
      </p:sp>
      <p:sp>
        <p:nvSpPr>
          <p:cNvPr id="5" name="Slide number"/>
          <p:cNvSpPr txBox="1"/>
          <p:nvPr/>
        </p:nvSpPr>
        <p:spPr>
          <a:xfrm>
            <a:off x="548640" y="632764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4ACBD"/>
                </a:solidFill>
                <a:latin typeface="Heebo"/>
                <a:cs typeface="Heebo"/>
              </a:rPr>
              <a:t>3 / 11</a:t>
            </a:r>
            <a:endParaRPr lang="he-IL" sz="1200"/>
          </a:p>
        </p:txBody>
      </p:sp>
      <p:sp>
        <p:nvSpPr>
          <p:cNvPr id="6" name="Title"/>
          <p:cNvSpPr txBox="1"/>
          <p:nvPr/>
        </p:nvSpPr>
        <p:spPr>
          <a:xfrm>
            <a:off x="2468880" y="347472"/>
            <a:ext cx="9171432" cy="777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1">
                <a:solidFill>
                  <a:srgbClr val="F3EFE7"/>
                </a:solidFill>
                <a:latin typeface="Heebo"/>
                <a:cs typeface="Heebo"/>
              </a:rPr>
              <a:t>האמן: עידן עמדי</a:t>
            </a:r>
            <a:endParaRPr lang="he-IL" sz="4400"/>
          </a:p>
        </p:txBody>
      </p:sp>
      <p:sp>
        <p:nvSpPr>
          <p:cNvPr id="7" name="Photo frame"/>
          <p:cNvSpPr/>
          <p:nvPr/>
        </p:nvSpPr>
        <p:spPr>
          <a:xfrm>
            <a:off x="713232" y="1627632"/>
            <a:ext cx="3749039" cy="4297680"/>
          </a:xfrm>
          <a:prstGeom prst="rect">
            <a:avLst/>
          </a:prstGeom>
          <a:noFill/>
          <a:ln w="12700">
            <a:solidFill>
              <a:srgbClr val="D1A9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Artist photo" descr="amedi_portrait_seli_ben_arie_ccbysa4.jpg"/>
          <p:cNvPicPr>
            <a:picLocks noChangeAspect="1"/>
          </p:cNvPicPr>
          <p:nvPr/>
        </p:nvPicPr>
        <p:blipFill>
          <a:blip r:embed="rId3"/>
          <a:srcRect t="5906" b="17719"/>
          <a:stretch>
            <a:fillRect/>
          </a:stretch>
        </p:blipFill>
        <p:spPr>
          <a:xfrm>
            <a:off x="548640" y="1463040"/>
            <a:ext cx="3749039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0350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l" rtl="1">
              <a:buNone/>
            </a:pPr>
            <a:r>
              <a:rPr lang="he-IL" altLang="en-US" sz="1100" b="0">
                <a:solidFill>
                  <a:srgbClr val="A4ACBD"/>
                </a:solidFill>
                <a:latin typeface="Heebo"/>
                <a:cs typeface="Heebo"/>
              </a:rPr>
              <a:t>צילום: סלי בן אריה, 2020 · CC BY-SA 4.0</a:t>
            </a:r>
            <a:endParaRPr lang="he-IL" sz="1100"/>
          </a:p>
        </p:txBody>
      </p:sp>
      <p:sp>
        <p:nvSpPr>
          <p:cNvPr id="10" name="Oval 9"/>
          <p:cNvSpPr/>
          <p:nvPr/>
        </p:nvSpPr>
        <p:spPr>
          <a:xfrm>
            <a:off x="11475720" y="1618488"/>
            <a:ext cx="146304" cy="146304"/>
          </a:xfrm>
          <a:prstGeom prst="ellipse">
            <a:avLst/>
          </a:prstGeom>
          <a:solidFill>
            <a:srgbClr val="D1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463040"/>
            <a:ext cx="6400800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נולד ב-1988 בירושלים</a:t>
            </a: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 וגדל בשכונת פסגת זאב.</a:t>
            </a:r>
            <a:endParaRPr lang="he-IL" sz="2200"/>
          </a:p>
        </p:txBody>
      </p:sp>
      <p:sp>
        <p:nvSpPr>
          <p:cNvPr id="12" name="Oval 11"/>
          <p:cNvSpPr/>
          <p:nvPr/>
        </p:nvSpPr>
        <p:spPr>
          <a:xfrm>
            <a:off x="11475720" y="2532888"/>
            <a:ext cx="146304" cy="146304"/>
          </a:xfrm>
          <a:prstGeom prst="ellipse">
            <a:avLst/>
          </a:prstGeom>
          <a:solidFill>
            <a:srgbClr val="D1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2377440"/>
            <a:ext cx="6400800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שירת כלוחם ומפקד</a:t>
            </a: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 בחיל ההנדסה הקרבית, ובמילואים ביחידת דובדבן.</a:t>
            </a:r>
            <a:endParaRPr lang="he-IL" sz="2200"/>
          </a:p>
        </p:txBody>
      </p:sp>
      <p:sp>
        <p:nvSpPr>
          <p:cNvPr id="14" name="Oval 13"/>
          <p:cNvSpPr/>
          <p:nvPr/>
        </p:nvSpPr>
        <p:spPr>
          <a:xfrm>
            <a:off x="11475720" y="3447288"/>
            <a:ext cx="146304" cy="146304"/>
          </a:xfrm>
          <a:prstGeom prst="ellipse">
            <a:avLst/>
          </a:prstGeom>
          <a:solidFill>
            <a:srgbClr val="D1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291840"/>
            <a:ext cx="6400800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ב״כוכב נולד״ 2010</a:t>
            </a: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 הגיע לגמר עם ״כאב של לוחמים״ – שיר שכתב על חוויותיו כלוחם.</a:t>
            </a:r>
            <a:endParaRPr lang="he-IL" sz="2200"/>
          </a:p>
        </p:txBody>
      </p:sp>
      <p:sp>
        <p:nvSpPr>
          <p:cNvPr id="16" name="Oval 15"/>
          <p:cNvSpPr/>
          <p:nvPr/>
        </p:nvSpPr>
        <p:spPr>
          <a:xfrm>
            <a:off x="11475720" y="4361688"/>
            <a:ext cx="146304" cy="146304"/>
          </a:xfrm>
          <a:prstGeom prst="ellipse">
            <a:avLst/>
          </a:prstGeom>
          <a:solidFill>
            <a:srgbClr val="D1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4206240"/>
            <a:ext cx="6400800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שחקן ויוצר:</a:t>
            </a: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 גילם את שגיא צור בסדרה ״פאודה״ והוציא שישה אלבומי אולפן.</a:t>
            </a:r>
            <a:endParaRPr lang="he-IL" sz="2200"/>
          </a:p>
        </p:txBody>
      </p:sp>
      <p:sp>
        <p:nvSpPr>
          <p:cNvPr id="18" name="Oval 17"/>
          <p:cNvSpPr/>
          <p:nvPr/>
        </p:nvSpPr>
        <p:spPr>
          <a:xfrm>
            <a:off x="11475720" y="5276088"/>
            <a:ext cx="146304" cy="146304"/>
          </a:xfrm>
          <a:prstGeom prst="ellipse">
            <a:avLst/>
          </a:prstGeom>
          <a:solidFill>
            <a:srgbClr val="D1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5120640"/>
            <a:ext cx="6400800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עשייה ציבורית:</a:t>
            </a: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 נפצע קשה בעזה במילואים, שיתף את הציבור במסע השיקום – ובסוף 2025 חזר לשרת.</a:t>
            </a:r>
            <a:endParaRPr lang="he-IL" sz="2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ubric tag"/>
          <p:cNvSpPr/>
          <p:nvPr/>
        </p:nvSpPr>
        <p:spPr>
          <a:xfrm>
            <a:off x="548640" y="457200"/>
            <a:ext cx="1600200" cy="45720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D1A9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buNone/>
            </a:pPr>
            <a:r>
              <a:rPr lang="he-IL" altLang="en-US" sz="1600" b="1">
                <a:solidFill>
                  <a:srgbClr val="D1A95E"/>
                </a:solidFill>
                <a:latin typeface="Heebo"/>
                <a:cs typeface="Heebo"/>
              </a:rPr>
              <a:t>עמוד 2</a:t>
            </a:r>
            <a:endParaRPr lang="he-IL" sz="1600"/>
          </a:p>
        </p:txBody>
      </p:sp>
      <p:sp>
        <p:nvSpPr>
          <p:cNvPr id="5" name="Slide number"/>
          <p:cNvSpPr txBox="1"/>
          <p:nvPr/>
        </p:nvSpPr>
        <p:spPr>
          <a:xfrm>
            <a:off x="548640" y="632764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4ACBD"/>
                </a:solidFill>
                <a:latin typeface="Heebo"/>
                <a:cs typeface="Heebo"/>
              </a:rPr>
              <a:t>4 / 11</a:t>
            </a:r>
            <a:endParaRPr lang="he-IL" sz="1200"/>
          </a:p>
        </p:txBody>
      </p:sp>
      <p:sp>
        <p:nvSpPr>
          <p:cNvPr id="6" name="Title"/>
          <p:cNvSpPr txBox="1"/>
          <p:nvPr/>
        </p:nvSpPr>
        <p:spPr>
          <a:xfrm>
            <a:off x="2468880" y="347472"/>
            <a:ext cx="9171432" cy="777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1">
                <a:solidFill>
                  <a:srgbClr val="F3EFE7"/>
                </a:solidFill>
                <a:latin typeface="Heebo"/>
                <a:cs typeface="Heebo"/>
              </a:rPr>
              <a:t>מילות השיר – חלק א׳</a:t>
            </a:r>
            <a:endParaRPr lang="he-IL" sz="4400"/>
          </a:p>
        </p:txBody>
      </p:sp>
      <p:sp>
        <p:nvSpPr>
          <p:cNvPr id="7" name="Lyrics right"/>
          <p:cNvSpPr txBox="1"/>
          <p:nvPr/>
        </p:nvSpPr>
        <p:spPr>
          <a:xfrm>
            <a:off x="6355080" y="1417320"/>
            <a:ext cx="5285232" cy="48463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שראתה בתוכי כוח על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שהוא גם קביים גם כנפיים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שלימדה אותי שבשבר מר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מסתתרים להם גם שמיים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ולא חשוב כמה חטפתי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140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העיקר לא הרמתי ידיים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ולאט שיר ועוד שיר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למדתי לעצמי להסביר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שכל מה שחוויתי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נועד לי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כדי שאוכל לבסוף להבין</a:t>
            </a:r>
            <a:endParaRPr lang="he-IL" sz="2200"/>
          </a:p>
        </p:txBody>
      </p:sp>
      <p:sp>
        <p:nvSpPr>
          <p:cNvPr id="8" name="Lyrics left"/>
          <p:cNvSpPr txBox="1"/>
          <p:nvPr/>
        </p:nvSpPr>
        <p:spPr>
          <a:xfrm>
            <a:off x="548640" y="1417320"/>
            <a:ext cx="5394960" cy="48463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שרק מי שצעד באפלה ובחושך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יודע באמת מהו אור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שכל תפילה בה ביקשתי לשכוח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140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רק גרמה לי לשוב ולזכור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ואחרי שנפצעתי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היו לי לילות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ששאגתי מתוך החזה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התחלתי לנהל עם אלוהים חשבונות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אם תיתן לי ככה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אני אתן לך את זה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l" rtl="1">
              <a:buNone/>
            </a:pPr>
            <a:r>
              <a:rPr lang="he-IL" altLang="en-US" sz="1200" b="0">
                <a:solidFill>
                  <a:srgbClr val="A4ACBD"/>
                </a:solidFill>
                <a:latin typeface="Heebo"/>
                <a:cs typeface="Heebo"/>
              </a:rPr>
              <a:t>מילים: עידן עמדי · מקור הטקסט: LyricFind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ubric tag"/>
          <p:cNvSpPr/>
          <p:nvPr/>
        </p:nvSpPr>
        <p:spPr>
          <a:xfrm>
            <a:off x="548640" y="457200"/>
            <a:ext cx="1600200" cy="45720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D1A9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buNone/>
            </a:pPr>
            <a:r>
              <a:rPr lang="he-IL" altLang="en-US" sz="1600" b="1">
                <a:solidFill>
                  <a:srgbClr val="D1A95E"/>
                </a:solidFill>
                <a:latin typeface="Heebo"/>
                <a:cs typeface="Heebo"/>
              </a:rPr>
              <a:t>עמוד 2</a:t>
            </a:r>
            <a:endParaRPr lang="he-IL" sz="1600"/>
          </a:p>
        </p:txBody>
      </p:sp>
      <p:sp>
        <p:nvSpPr>
          <p:cNvPr id="5" name="Slide number"/>
          <p:cNvSpPr txBox="1"/>
          <p:nvPr/>
        </p:nvSpPr>
        <p:spPr>
          <a:xfrm>
            <a:off x="548640" y="632764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4ACBD"/>
                </a:solidFill>
                <a:latin typeface="Heebo"/>
                <a:cs typeface="Heebo"/>
              </a:rPr>
              <a:t>5 / 11</a:t>
            </a:r>
            <a:endParaRPr lang="he-IL" sz="1200"/>
          </a:p>
        </p:txBody>
      </p:sp>
      <p:sp>
        <p:nvSpPr>
          <p:cNvPr id="6" name="Title"/>
          <p:cNvSpPr txBox="1"/>
          <p:nvPr/>
        </p:nvSpPr>
        <p:spPr>
          <a:xfrm>
            <a:off x="2468880" y="347472"/>
            <a:ext cx="9171432" cy="777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1">
                <a:solidFill>
                  <a:srgbClr val="F3EFE7"/>
                </a:solidFill>
                <a:latin typeface="Heebo"/>
                <a:cs typeface="Heebo"/>
              </a:rPr>
              <a:t>מילות השיר – חלק ב׳</a:t>
            </a:r>
            <a:endParaRPr lang="he-IL" sz="4400"/>
          </a:p>
        </p:txBody>
      </p:sp>
      <p:sp>
        <p:nvSpPr>
          <p:cNvPr id="7" name="Lyrics right"/>
          <p:cNvSpPr txBox="1"/>
          <p:nvPr/>
        </p:nvSpPr>
        <p:spPr>
          <a:xfrm>
            <a:off x="6355080" y="1417320"/>
            <a:ext cx="5285232" cy="48463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אך בסתר ליבי השבור השלם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לא היו לי ספקות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כבר לא מפחיד אותי למות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1400"/>
              </a:spcAft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יותר מפחיד לא לחיות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נזרקתי לחיים ידיי היו ריקות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שרדתי כל אוויר דליל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מחנק בעליות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אחרי החושך שעברתי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אלף תהומות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כבר לא מפחיד אותי למות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יותר מפחיד לא לחיות</a:t>
            </a:r>
            <a:endParaRPr lang="he-IL" sz="2200"/>
          </a:p>
        </p:txBody>
      </p:sp>
      <p:sp>
        <p:nvSpPr>
          <p:cNvPr id="8" name="Lyrics left"/>
          <p:cNvSpPr txBox="1"/>
          <p:nvPr/>
        </p:nvSpPr>
        <p:spPr>
          <a:xfrm>
            <a:off x="548640" y="1417320"/>
            <a:ext cx="5394960" cy="48463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זה לכל מי שחשד בי שאני אחר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שקיבלתי את האור שלי מן ההפקר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שהמלאכים ירדו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השתחוו, אמרו ׳אמן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הוא לא אדם רגיל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הוא סופר-מן׳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l" rtl="1">
              <a:buNone/>
            </a:pPr>
            <a:r>
              <a:rPr lang="he-IL" altLang="en-US" sz="1200" b="0">
                <a:solidFill>
                  <a:srgbClr val="A4ACBD"/>
                </a:solidFill>
                <a:latin typeface="Heebo"/>
                <a:cs typeface="Heebo"/>
              </a:rPr>
              <a:t>מילים: עידן עמדי · מקור הטקסט: LyricFind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ubric tag"/>
          <p:cNvSpPr/>
          <p:nvPr/>
        </p:nvSpPr>
        <p:spPr>
          <a:xfrm>
            <a:off x="548640" y="457200"/>
            <a:ext cx="1600200" cy="45720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D1A9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buNone/>
            </a:pPr>
            <a:r>
              <a:rPr lang="he-IL" altLang="en-US" sz="1600" b="1">
                <a:solidFill>
                  <a:srgbClr val="D1A95E"/>
                </a:solidFill>
                <a:latin typeface="Heebo"/>
                <a:cs typeface="Heebo"/>
              </a:rPr>
              <a:t>עמוד 3</a:t>
            </a:r>
            <a:endParaRPr lang="he-IL" sz="1600"/>
          </a:p>
        </p:txBody>
      </p:sp>
      <p:sp>
        <p:nvSpPr>
          <p:cNvPr id="5" name="Slide number"/>
          <p:cNvSpPr txBox="1"/>
          <p:nvPr/>
        </p:nvSpPr>
        <p:spPr>
          <a:xfrm>
            <a:off x="548640" y="632764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4ACBD"/>
                </a:solidFill>
                <a:latin typeface="Heebo"/>
                <a:cs typeface="Heebo"/>
              </a:rPr>
              <a:t>6 / 11</a:t>
            </a:r>
            <a:endParaRPr lang="he-IL" sz="1200"/>
          </a:p>
        </p:txBody>
      </p:sp>
      <p:sp>
        <p:nvSpPr>
          <p:cNvPr id="6" name="Title"/>
          <p:cNvSpPr txBox="1"/>
          <p:nvPr/>
        </p:nvSpPr>
        <p:spPr>
          <a:xfrm>
            <a:off x="2468880" y="347472"/>
            <a:ext cx="9171432" cy="777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1">
                <a:solidFill>
                  <a:srgbClr val="F3EFE7"/>
                </a:solidFill>
                <a:latin typeface="Heebo"/>
                <a:cs typeface="Heebo"/>
              </a:rPr>
              <a:t>מושג ראשון: מטאפורה</a:t>
            </a:r>
            <a:endParaRPr lang="he-IL" sz="4400"/>
          </a:p>
        </p:txBody>
      </p:sp>
      <p:sp>
        <p:nvSpPr>
          <p:cNvPr id="7" name="TextBox 6"/>
          <p:cNvSpPr txBox="1"/>
          <p:nvPr/>
        </p:nvSpPr>
        <p:spPr>
          <a:xfrm>
            <a:off x="8001000" y="1463040"/>
            <a:ext cx="3639312" cy="9144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000" b="0">
                <a:solidFill>
                  <a:srgbClr val="D1A95E"/>
                </a:solidFill>
                <a:latin typeface="Heebo Black"/>
                <a:cs typeface="Heebo Black"/>
              </a:rPr>
              <a:t>מטאפורה</a:t>
            </a:r>
            <a:endParaRPr lang="he-IL" sz="5000"/>
          </a:p>
        </p:txBody>
      </p:sp>
      <p:sp>
        <p:nvSpPr>
          <p:cNvPr id="8" name="TextBox 7"/>
          <p:cNvSpPr txBox="1"/>
          <p:nvPr/>
        </p:nvSpPr>
        <p:spPr>
          <a:xfrm>
            <a:off x="8001000" y="2423160"/>
            <a:ext cx="3639312" cy="14630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he-IL" altLang="en-US" sz="2200" b="1">
                <a:solidFill>
                  <a:srgbClr val="A4ACBD"/>
                </a:solidFill>
                <a:latin typeface="Heebo"/>
                <a:cs typeface="Heebo"/>
              </a:rPr>
              <a:t>הגדרה: </a:t>
            </a: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חיבור בין שני מושגים מעולמות שונים, בלי מילת דימוי (כמו, כְּ־), כדי ליצור משמעות חדשה.</a:t>
            </a:r>
            <a:endParaRPr lang="he-IL" sz="2200"/>
          </a:p>
        </p:txBody>
      </p:sp>
      <p:sp>
        <p:nvSpPr>
          <p:cNvPr id="9" name="Quote card"/>
          <p:cNvSpPr/>
          <p:nvPr/>
        </p:nvSpPr>
        <p:spPr>
          <a:xfrm>
            <a:off x="548640" y="1463040"/>
            <a:ext cx="7086600" cy="2423160"/>
          </a:xfrm>
          <a:prstGeom prst="roundRect">
            <a:avLst>
              <a:gd name="adj" fmla="val 6000"/>
            </a:avLst>
          </a:prstGeom>
          <a:solidFill>
            <a:srgbClr val="16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1463040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rtlCol="1" anchor="b">
            <a:spAutoFit/>
          </a:bodyPr>
          <a:lstStyle/>
          <a:p>
            <a:pPr algn="r" rtl="1">
              <a:buNone/>
            </a:pPr>
            <a:r>
              <a:rPr lang="he-IL" altLang="en-US" sz="1600" b="1">
                <a:solidFill>
                  <a:srgbClr val="A4ACBD"/>
                </a:solidFill>
                <a:latin typeface="Heebo"/>
                <a:cs typeface="Heebo"/>
              </a:rPr>
              <a:t>הציטוט מהשיר</a:t>
            </a:r>
            <a:endParaRPr lang="he-IL" sz="1600"/>
          </a:p>
        </p:txBody>
      </p:sp>
      <p:sp>
        <p:nvSpPr>
          <p:cNvPr id="11" name="TextBox 10"/>
          <p:cNvSpPr txBox="1"/>
          <p:nvPr/>
        </p:nvSpPr>
        <p:spPr>
          <a:xfrm>
            <a:off x="868680" y="2011680"/>
            <a:ext cx="6492240" cy="16916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105000"/>
              </a:lnSpc>
              <a:spcAft>
                <a:spcPts val="400"/>
              </a:spcAft>
              <a:buNone/>
            </a:pPr>
            <a:r>
              <a:rPr lang="he-IL" altLang="en-US" sz="3000" b="1">
                <a:solidFill>
                  <a:srgbClr val="F3EFE7"/>
                </a:solidFill>
                <a:latin typeface="Heebo"/>
                <a:cs typeface="Heebo"/>
              </a:rPr>
              <a:t>״שראתה בתוכי כוח על</a:t>
            </a:r>
            <a:endParaRPr lang="he-IL" sz="3000"/>
          </a:p>
          <a:p>
            <a:pPr algn="r" rtl="1">
              <a:lnSpc>
                <a:spcPct val="105000"/>
              </a:lnSpc>
              <a:spcAft>
                <a:spcPts val="400"/>
              </a:spcAft>
              <a:buNone/>
            </a:pPr>
            <a:r>
              <a:rPr lang="he-IL" altLang="en-US" sz="3000" b="1">
                <a:solidFill>
                  <a:srgbClr val="F3EFE7"/>
                </a:solidFill>
                <a:latin typeface="Heebo"/>
                <a:cs typeface="Heebo"/>
              </a:rPr>
              <a:t>שהוא גם </a:t>
            </a:r>
            <a:r>
              <a:rPr lang="he-IL" altLang="en-US" sz="3000" b="1">
                <a:solidFill>
                  <a:srgbClr val="D1A95E"/>
                </a:solidFill>
                <a:latin typeface="Heebo"/>
                <a:cs typeface="Heebo"/>
              </a:rPr>
              <a:t>קביים</a:t>
            </a:r>
            <a:r>
              <a:rPr lang="he-IL" altLang="en-US" sz="3000" b="1">
                <a:solidFill>
                  <a:srgbClr val="F3EFE7"/>
                </a:solidFill>
                <a:latin typeface="Heebo"/>
                <a:cs typeface="Heebo"/>
              </a:rPr>
              <a:t> גם </a:t>
            </a:r>
            <a:r>
              <a:rPr lang="he-IL" altLang="en-US" sz="3000" b="1">
                <a:solidFill>
                  <a:srgbClr val="D1A95E"/>
                </a:solidFill>
                <a:latin typeface="Heebo"/>
                <a:cs typeface="Heebo"/>
              </a:rPr>
              <a:t>כנפיים</a:t>
            </a:r>
            <a:r>
              <a:rPr lang="he-IL" altLang="en-US" sz="3000" b="1">
                <a:solidFill>
                  <a:srgbClr val="F3EFE7"/>
                </a:solidFill>
                <a:latin typeface="Heebo"/>
                <a:cs typeface="Heebo"/>
              </a:rPr>
              <a:t>״</a:t>
            </a:r>
            <a:endParaRPr lang="he-IL" sz="3000"/>
          </a:p>
        </p:txBody>
      </p:sp>
      <p:sp>
        <p:nvSpPr>
          <p:cNvPr id="12" name="Rounded Rectangle 11"/>
          <p:cNvSpPr/>
          <p:nvPr/>
        </p:nvSpPr>
        <p:spPr>
          <a:xfrm>
            <a:off x="6236208" y="4206240"/>
            <a:ext cx="5404104" cy="1965960"/>
          </a:xfrm>
          <a:prstGeom prst="roundRect">
            <a:avLst>
              <a:gd name="adj" fmla="val 6000"/>
            </a:avLst>
          </a:prstGeom>
          <a:solidFill>
            <a:srgbClr val="161C2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48640" y="4206240"/>
            <a:ext cx="5404104" cy="1965960"/>
          </a:xfrm>
          <a:prstGeom prst="roundRect">
            <a:avLst>
              <a:gd name="adj" fmla="val 6000"/>
            </a:avLst>
          </a:prstGeom>
          <a:solidFill>
            <a:srgbClr val="161C2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92240" y="4370832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איך המושג בא לידי ביטוי?</a:t>
            </a:r>
            <a:endParaRPr lang="he-IL" sz="2200"/>
          </a:p>
          <a:p>
            <a:pPr algn="r" rtl="1">
              <a:lnSpc>
                <a:spcPct val="102000"/>
              </a:lnSpc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הכוח שאשתו ראתה בו הוא ״קביים״ – תמיכה למי שנפצע ולא יכול ללכת לבד – וגם ״כנפיים״ – מה שמרים ומאפשר לעוף.</a:t>
            </a:r>
            <a:endParaRPr lang="he-IL" sz="2200"/>
          </a:p>
        </p:txBody>
      </p:sp>
      <p:sp>
        <p:nvSpPr>
          <p:cNvPr id="15" name="TextBox 14"/>
          <p:cNvSpPr txBox="1"/>
          <p:nvPr/>
        </p:nvSpPr>
        <p:spPr>
          <a:xfrm>
            <a:off x="804672" y="4370832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מה זה תורם למשמעות?</a:t>
            </a:r>
            <a:endParaRPr lang="he-IL" sz="2200"/>
          </a:p>
          <a:p>
            <a:pPr algn="r" rtl="1">
              <a:lnSpc>
                <a:spcPct val="102000"/>
              </a:lnSpc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שיקום הוא לא רק לעמוד שוב על הרגליים, אלא גם לחלום ולהמריא מחדש. האהבה נותנת לו את שניהם.</a:t>
            </a:r>
            <a:endParaRPr lang="he-IL" sz="2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ubric tag"/>
          <p:cNvSpPr/>
          <p:nvPr/>
        </p:nvSpPr>
        <p:spPr>
          <a:xfrm>
            <a:off x="548640" y="457200"/>
            <a:ext cx="1600200" cy="45720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D1A9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buNone/>
            </a:pPr>
            <a:r>
              <a:rPr lang="he-IL" altLang="en-US" sz="1600" b="1">
                <a:solidFill>
                  <a:srgbClr val="D1A95E"/>
                </a:solidFill>
                <a:latin typeface="Heebo"/>
                <a:cs typeface="Heebo"/>
              </a:rPr>
              <a:t>עמוד 3</a:t>
            </a:r>
            <a:endParaRPr lang="he-IL" sz="1600"/>
          </a:p>
        </p:txBody>
      </p:sp>
      <p:sp>
        <p:nvSpPr>
          <p:cNvPr id="5" name="Slide number"/>
          <p:cNvSpPr txBox="1"/>
          <p:nvPr/>
        </p:nvSpPr>
        <p:spPr>
          <a:xfrm>
            <a:off x="548640" y="632764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4ACBD"/>
                </a:solidFill>
                <a:latin typeface="Heebo"/>
                <a:cs typeface="Heebo"/>
              </a:rPr>
              <a:t>7 / 11</a:t>
            </a:r>
            <a:endParaRPr lang="he-IL" sz="1200"/>
          </a:p>
        </p:txBody>
      </p:sp>
      <p:sp>
        <p:nvSpPr>
          <p:cNvPr id="6" name="Title"/>
          <p:cNvSpPr txBox="1"/>
          <p:nvPr/>
        </p:nvSpPr>
        <p:spPr>
          <a:xfrm>
            <a:off x="2468880" y="347472"/>
            <a:ext cx="9171432" cy="777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1">
                <a:solidFill>
                  <a:srgbClr val="F3EFE7"/>
                </a:solidFill>
                <a:latin typeface="Heebo"/>
                <a:cs typeface="Heebo"/>
              </a:rPr>
              <a:t>מושג שני: ניגוד</a:t>
            </a:r>
            <a:endParaRPr lang="he-IL" sz="4400"/>
          </a:p>
        </p:txBody>
      </p:sp>
      <p:sp>
        <p:nvSpPr>
          <p:cNvPr id="7" name="TextBox 6"/>
          <p:cNvSpPr txBox="1"/>
          <p:nvPr/>
        </p:nvSpPr>
        <p:spPr>
          <a:xfrm>
            <a:off x="8001000" y="1463040"/>
            <a:ext cx="3639312" cy="9144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000" b="0">
                <a:solidFill>
                  <a:srgbClr val="D1A95E"/>
                </a:solidFill>
                <a:latin typeface="Heebo Black"/>
                <a:cs typeface="Heebo Black"/>
              </a:rPr>
              <a:t>ניגוד</a:t>
            </a:r>
            <a:endParaRPr lang="he-IL" sz="5000"/>
          </a:p>
        </p:txBody>
      </p:sp>
      <p:sp>
        <p:nvSpPr>
          <p:cNvPr id="8" name="TextBox 7"/>
          <p:cNvSpPr txBox="1"/>
          <p:nvPr/>
        </p:nvSpPr>
        <p:spPr>
          <a:xfrm>
            <a:off x="8001000" y="2423160"/>
            <a:ext cx="3639312" cy="14630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he-IL" altLang="en-US" sz="2200" b="1">
                <a:solidFill>
                  <a:srgbClr val="A4ACBD"/>
                </a:solidFill>
                <a:latin typeface="Heebo"/>
                <a:cs typeface="Heebo"/>
              </a:rPr>
              <a:t>הגדרה: </a:t>
            </a: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העמדה של שני דברים הפוכים זה מול זה, כדי לחדד את ההבדל ביניהם ולהבליט רעיון.</a:t>
            </a:r>
            <a:endParaRPr lang="he-IL" sz="2200"/>
          </a:p>
        </p:txBody>
      </p:sp>
      <p:sp>
        <p:nvSpPr>
          <p:cNvPr id="9" name="Quote card"/>
          <p:cNvSpPr/>
          <p:nvPr/>
        </p:nvSpPr>
        <p:spPr>
          <a:xfrm>
            <a:off x="548640" y="1463040"/>
            <a:ext cx="7086600" cy="2423160"/>
          </a:xfrm>
          <a:prstGeom prst="roundRect">
            <a:avLst>
              <a:gd name="adj" fmla="val 6000"/>
            </a:avLst>
          </a:prstGeom>
          <a:solidFill>
            <a:srgbClr val="16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1463040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rtlCol="1" anchor="b">
            <a:spAutoFit/>
          </a:bodyPr>
          <a:lstStyle/>
          <a:p>
            <a:pPr algn="r" rtl="1">
              <a:buNone/>
            </a:pPr>
            <a:r>
              <a:rPr lang="he-IL" altLang="en-US" sz="1600" b="1">
                <a:solidFill>
                  <a:srgbClr val="A4ACBD"/>
                </a:solidFill>
                <a:latin typeface="Heebo"/>
                <a:cs typeface="Heebo"/>
              </a:rPr>
              <a:t>הציטוט מהשיר</a:t>
            </a:r>
            <a:endParaRPr lang="he-IL" sz="1600"/>
          </a:p>
        </p:txBody>
      </p:sp>
      <p:sp>
        <p:nvSpPr>
          <p:cNvPr id="11" name="TextBox 10"/>
          <p:cNvSpPr txBox="1"/>
          <p:nvPr/>
        </p:nvSpPr>
        <p:spPr>
          <a:xfrm>
            <a:off x="868680" y="2011680"/>
            <a:ext cx="6492240" cy="16916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105000"/>
              </a:lnSpc>
              <a:spcAft>
                <a:spcPts val="400"/>
              </a:spcAft>
              <a:buNone/>
            </a:pPr>
            <a:r>
              <a:rPr lang="he-IL" altLang="en-US" sz="3000" b="1">
                <a:solidFill>
                  <a:srgbClr val="F3EFE7"/>
                </a:solidFill>
                <a:latin typeface="Heebo"/>
                <a:cs typeface="Heebo"/>
              </a:rPr>
              <a:t>״שרק מי שצעד ב</a:t>
            </a:r>
            <a:r>
              <a:rPr lang="he-IL" altLang="en-US" sz="3000" b="1">
                <a:solidFill>
                  <a:srgbClr val="D1A95E"/>
                </a:solidFill>
                <a:latin typeface="Heebo"/>
                <a:cs typeface="Heebo"/>
              </a:rPr>
              <a:t>אפלה</a:t>
            </a:r>
            <a:r>
              <a:rPr lang="he-IL" altLang="en-US" sz="3000" b="1">
                <a:solidFill>
                  <a:srgbClr val="F3EFE7"/>
                </a:solidFill>
                <a:latin typeface="Heebo"/>
                <a:cs typeface="Heebo"/>
              </a:rPr>
              <a:t> וב</a:t>
            </a:r>
            <a:r>
              <a:rPr lang="he-IL" altLang="en-US" sz="3000" b="1">
                <a:solidFill>
                  <a:srgbClr val="D1A95E"/>
                </a:solidFill>
                <a:latin typeface="Heebo"/>
                <a:cs typeface="Heebo"/>
              </a:rPr>
              <a:t>חושך</a:t>
            </a:r>
            <a:endParaRPr lang="he-IL" sz="3000"/>
          </a:p>
          <a:p>
            <a:pPr algn="r" rtl="1">
              <a:lnSpc>
                <a:spcPct val="105000"/>
              </a:lnSpc>
              <a:spcAft>
                <a:spcPts val="400"/>
              </a:spcAft>
              <a:buNone/>
            </a:pPr>
            <a:r>
              <a:rPr lang="he-IL" altLang="en-US" sz="3000" b="1">
                <a:solidFill>
                  <a:srgbClr val="F3EFE7"/>
                </a:solidFill>
                <a:latin typeface="Heebo"/>
                <a:cs typeface="Heebo"/>
              </a:rPr>
              <a:t>יודע באמת מהו </a:t>
            </a:r>
            <a:r>
              <a:rPr lang="he-IL" altLang="en-US" sz="3000" b="1">
                <a:solidFill>
                  <a:srgbClr val="D1A95E"/>
                </a:solidFill>
                <a:latin typeface="Heebo"/>
                <a:cs typeface="Heebo"/>
              </a:rPr>
              <a:t>אור</a:t>
            </a:r>
            <a:r>
              <a:rPr lang="he-IL" altLang="en-US" sz="3000" b="1">
                <a:solidFill>
                  <a:srgbClr val="F3EFE7"/>
                </a:solidFill>
                <a:latin typeface="Heebo"/>
                <a:cs typeface="Heebo"/>
              </a:rPr>
              <a:t>״</a:t>
            </a:r>
            <a:endParaRPr lang="he-IL" sz="3000"/>
          </a:p>
        </p:txBody>
      </p:sp>
      <p:sp>
        <p:nvSpPr>
          <p:cNvPr id="12" name="Rounded Rectangle 11"/>
          <p:cNvSpPr/>
          <p:nvPr/>
        </p:nvSpPr>
        <p:spPr>
          <a:xfrm>
            <a:off x="6236208" y="4206240"/>
            <a:ext cx="5404104" cy="1965960"/>
          </a:xfrm>
          <a:prstGeom prst="roundRect">
            <a:avLst>
              <a:gd name="adj" fmla="val 6000"/>
            </a:avLst>
          </a:prstGeom>
          <a:solidFill>
            <a:srgbClr val="161C2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48640" y="4206240"/>
            <a:ext cx="5404104" cy="1965960"/>
          </a:xfrm>
          <a:prstGeom prst="roundRect">
            <a:avLst>
              <a:gd name="adj" fmla="val 6000"/>
            </a:avLst>
          </a:prstGeom>
          <a:solidFill>
            <a:srgbClr val="161C2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92240" y="4370832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איך המושג בא לידי ביטוי?</a:t>
            </a:r>
            <a:endParaRPr lang="he-IL" sz="2200"/>
          </a:p>
          <a:p>
            <a:pPr algn="r" rtl="1">
              <a:lnSpc>
                <a:spcPct val="102000"/>
              </a:lnSpc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החושך הוא הפציעה והלילות הקשים שאחריה; האור הוא החזרה לחיים. הניגוד חוזר גם בפזמון: ״למות״ מול ״לחיות״.</a:t>
            </a:r>
            <a:endParaRPr lang="he-IL" sz="2200"/>
          </a:p>
        </p:txBody>
      </p:sp>
      <p:sp>
        <p:nvSpPr>
          <p:cNvPr id="15" name="TextBox 14"/>
          <p:cNvSpPr txBox="1"/>
          <p:nvPr/>
        </p:nvSpPr>
        <p:spPr>
          <a:xfrm>
            <a:off x="804672" y="4370832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מה זה תורם למשמעות?</a:t>
            </a:r>
            <a:endParaRPr lang="he-IL" sz="2200"/>
          </a:p>
          <a:p>
            <a:pPr algn="r" rtl="1">
              <a:lnSpc>
                <a:spcPct val="102000"/>
              </a:lnSpc>
              <a:buNone/>
            </a:pP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רק מי שעבר את הרע מעריך באמת את הטוב. זה המסע של כל השיר – מחושך לאור.</a:t>
            </a:r>
            <a:endParaRPr lang="he-IL" sz="2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ubric tag"/>
          <p:cNvSpPr/>
          <p:nvPr/>
        </p:nvSpPr>
        <p:spPr>
          <a:xfrm>
            <a:off x="548640" y="457200"/>
            <a:ext cx="1600200" cy="45720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D1A9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buNone/>
            </a:pPr>
            <a:r>
              <a:rPr lang="he-IL" altLang="en-US" sz="1600" b="1">
                <a:solidFill>
                  <a:srgbClr val="D1A95E"/>
                </a:solidFill>
                <a:latin typeface="Heebo"/>
                <a:cs typeface="Heebo"/>
              </a:rPr>
              <a:t>עמוד 4א</a:t>
            </a:r>
            <a:endParaRPr lang="he-IL" sz="1600"/>
          </a:p>
        </p:txBody>
      </p:sp>
      <p:sp>
        <p:nvSpPr>
          <p:cNvPr id="5" name="Slide number"/>
          <p:cNvSpPr txBox="1"/>
          <p:nvPr/>
        </p:nvSpPr>
        <p:spPr>
          <a:xfrm>
            <a:off x="548640" y="632764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4ACBD"/>
                </a:solidFill>
                <a:latin typeface="Heebo"/>
                <a:cs typeface="Heebo"/>
              </a:rPr>
              <a:t>8 / 11</a:t>
            </a:r>
            <a:endParaRPr lang="he-IL" sz="1200"/>
          </a:p>
        </p:txBody>
      </p:sp>
      <p:sp>
        <p:nvSpPr>
          <p:cNvPr id="6" name="Title"/>
          <p:cNvSpPr txBox="1"/>
          <p:nvPr/>
        </p:nvSpPr>
        <p:spPr>
          <a:xfrm>
            <a:off x="2468880" y="347472"/>
            <a:ext cx="9171432" cy="777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1">
                <a:solidFill>
                  <a:srgbClr val="F3EFE7"/>
                </a:solidFill>
                <a:latin typeface="Heebo"/>
                <a:cs typeface="Heebo"/>
              </a:rPr>
              <a:t>מילים שמעוררות את המלחמה</a:t>
            </a:r>
            <a:endParaRPr lang="he-IL" sz="4400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200" b="0">
                <a:solidFill>
                  <a:srgbClr val="A4ACBD"/>
                </a:solidFill>
                <a:latin typeface="Heebo"/>
                <a:cs typeface="Heebo"/>
              </a:rPr>
              <a:t>מילים וצירופים מהשיר שמחזירים אותנו אל שדה הקרב ואל הפציעה</a:t>
            </a:r>
            <a:endParaRPr lang="he-IL" sz="2200"/>
          </a:p>
        </p:txBody>
      </p:sp>
      <p:sp>
        <p:nvSpPr>
          <p:cNvPr id="8" name="Word card 1"/>
          <p:cNvSpPr/>
          <p:nvPr/>
        </p:nvSpPr>
        <p:spPr>
          <a:xfrm>
            <a:off x="9082735" y="2103120"/>
            <a:ext cx="2560320" cy="1783080"/>
          </a:xfrm>
          <a:prstGeom prst="roundRect">
            <a:avLst>
              <a:gd name="adj" fmla="val 8000"/>
            </a:avLst>
          </a:prstGeom>
          <a:solidFill>
            <a:srgbClr val="16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911535" y="226771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0">
              <a:buNone/>
            </a:pPr>
            <a:r>
              <a:rPr lang="he-IL" altLang="en-US" sz="1400" b="1">
                <a:solidFill>
                  <a:srgbClr val="D1A95E"/>
                </a:solidFill>
                <a:latin typeface="Heebo"/>
                <a:cs typeface="Heebo"/>
              </a:rPr>
              <a:t>01</a:t>
            </a:r>
            <a:endParaRPr lang="he-IL" sz="1400"/>
          </a:p>
        </p:txBody>
      </p:sp>
      <p:sp>
        <p:nvSpPr>
          <p:cNvPr id="10" name="TextBox 9"/>
          <p:cNvSpPr txBox="1"/>
          <p:nvPr/>
        </p:nvSpPr>
        <p:spPr>
          <a:xfrm>
            <a:off x="9219895" y="242316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5000"/>
              </a:lnSpc>
              <a:buNone/>
            </a:pPr>
            <a:r>
              <a:rPr lang="he-IL" altLang="en-US" sz="2800" b="1">
                <a:solidFill>
                  <a:srgbClr val="F3EFE7"/>
                </a:solidFill>
                <a:latin typeface="Heebo"/>
                <a:cs typeface="Heebo"/>
              </a:rPr>
              <a:t>״נפצעתי״</a:t>
            </a:r>
            <a:endParaRPr lang="he-IL" sz="2800"/>
          </a:p>
        </p:txBody>
      </p:sp>
      <p:sp>
        <p:nvSpPr>
          <p:cNvPr id="11" name="Word card 2"/>
          <p:cNvSpPr/>
          <p:nvPr/>
        </p:nvSpPr>
        <p:spPr>
          <a:xfrm>
            <a:off x="6238951" y="2103120"/>
            <a:ext cx="2560320" cy="1783080"/>
          </a:xfrm>
          <a:prstGeom prst="roundRect">
            <a:avLst>
              <a:gd name="adj" fmla="val 8000"/>
            </a:avLst>
          </a:prstGeom>
          <a:solidFill>
            <a:srgbClr val="16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67751" y="226771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0">
              <a:buNone/>
            </a:pPr>
            <a:r>
              <a:rPr lang="he-IL" altLang="en-US" sz="1400" b="1">
                <a:solidFill>
                  <a:srgbClr val="D1A95E"/>
                </a:solidFill>
                <a:latin typeface="Heebo"/>
                <a:cs typeface="Heebo"/>
              </a:rPr>
              <a:t>02</a:t>
            </a:r>
            <a:endParaRPr lang="he-IL" sz="1400"/>
          </a:p>
        </p:txBody>
      </p:sp>
      <p:sp>
        <p:nvSpPr>
          <p:cNvPr id="13" name="TextBox 12"/>
          <p:cNvSpPr txBox="1"/>
          <p:nvPr/>
        </p:nvSpPr>
        <p:spPr>
          <a:xfrm>
            <a:off x="6376111" y="242316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5000"/>
              </a:lnSpc>
              <a:buNone/>
            </a:pPr>
            <a:r>
              <a:rPr lang="he-IL" altLang="en-US" sz="2800" b="1">
                <a:solidFill>
                  <a:srgbClr val="F3EFE7"/>
                </a:solidFill>
                <a:latin typeface="Heebo"/>
                <a:cs typeface="Heebo"/>
              </a:rPr>
              <a:t>״חטפתי״</a:t>
            </a:r>
            <a:endParaRPr lang="he-IL" sz="2800"/>
          </a:p>
        </p:txBody>
      </p:sp>
      <p:sp>
        <p:nvSpPr>
          <p:cNvPr id="14" name="Word card 3"/>
          <p:cNvSpPr/>
          <p:nvPr/>
        </p:nvSpPr>
        <p:spPr>
          <a:xfrm>
            <a:off x="3395167" y="2103120"/>
            <a:ext cx="2560320" cy="1783080"/>
          </a:xfrm>
          <a:prstGeom prst="roundRect">
            <a:avLst>
              <a:gd name="adj" fmla="val 8000"/>
            </a:avLst>
          </a:prstGeom>
          <a:solidFill>
            <a:srgbClr val="16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23967" y="226771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0">
              <a:buNone/>
            </a:pPr>
            <a:r>
              <a:rPr lang="he-IL" altLang="en-US" sz="1400" b="1">
                <a:solidFill>
                  <a:srgbClr val="D1A95E"/>
                </a:solidFill>
                <a:latin typeface="Heebo"/>
                <a:cs typeface="Heebo"/>
              </a:rPr>
              <a:t>03</a:t>
            </a:r>
            <a:endParaRPr lang="he-IL" sz="1400"/>
          </a:p>
        </p:txBody>
      </p:sp>
      <p:sp>
        <p:nvSpPr>
          <p:cNvPr id="16" name="TextBox 15"/>
          <p:cNvSpPr txBox="1"/>
          <p:nvPr/>
        </p:nvSpPr>
        <p:spPr>
          <a:xfrm>
            <a:off x="3532327" y="242316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5000"/>
              </a:lnSpc>
              <a:buNone/>
            </a:pPr>
            <a:r>
              <a:rPr lang="he-IL" altLang="en-US" sz="2800" b="1">
                <a:solidFill>
                  <a:srgbClr val="F3EFE7"/>
                </a:solidFill>
                <a:latin typeface="Heebo"/>
                <a:cs typeface="Heebo"/>
              </a:rPr>
              <a:t>״לא הרמתי ידיים״</a:t>
            </a:r>
            <a:endParaRPr lang="he-IL" sz="2800"/>
          </a:p>
        </p:txBody>
      </p:sp>
      <p:sp>
        <p:nvSpPr>
          <p:cNvPr id="17" name="Word card 4"/>
          <p:cNvSpPr/>
          <p:nvPr/>
        </p:nvSpPr>
        <p:spPr>
          <a:xfrm>
            <a:off x="551383" y="2103120"/>
            <a:ext cx="2560320" cy="1783080"/>
          </a:xfrm>
          <a:prstGeom prst="roundRect">
            <a:avLst>
              <a:gd name="adj" fmla="val 8000"/>
            </a:avLst>
          </a:prstGeom>
          <a:solidFill>
            <a:srgbClr val="16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380183" y="226771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0">
              <a:buNone/>
            </a:pPr>
            <a:r>
              <a:rPr lang="he-IL" altLang="en-US" sz="1400" b="1">
                <a:solidFill>
                  <a:srgbClr val="D1A95E"/>
                </a:solidFill>
                <a:latin typeface="Heebo"/>
                <a:cs typeface="Heebo"/>
              </a:rPr>
              <a:t>04</a:t>
            </a:r>
            <a:endParaRPr lang="he-IL" sz="1400"/>
          </a:p>
        </p:txBody>
      </p:sp>
      <p:sp>
        <p:nvSpPr>
          <p:cNvPr id="19" name="TextBox 18"/>
          <p:cNvSpPr txBox="1"/>
          <p:nvPr/>
        </p:nvSpPr>
        <p:spPr>
          <a:xfrm>
            <a:off x="688543" y="242316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5000"/>
              </a:lnSpc>
              <a:buNone/>
            </a:pPr>
            <a:r>
              <a:rPr lang="he-IL" altLang="en-US" sz="2800" b="1">
                <a:solidFill>
                  <a:srgbClr val="F3EFE7"/>
                </a:solidFill>
                <a:latin typeface="Heebo"/>
                <a:cs typeface="Heebo"/>
              </a:rPr>
              <a:t>״קביים״</a:t>
            </a:r>
            <a:endParaRPr lang="he-IL" sz="2800"/>
          </a:p>
        </p:txBody>
      </p:sp>
      <p:sp>
        <p:nvSpPr>
          <p:cNvPr id="20" name="Word card 5"/>
          <p:cNvSpPr/>
          <p:nvPr/>
        </p:nvSpPr>
        <p:spPr>
          <a:xfrm>
            <a:off x="9082735" y="4160520"/>
            <a:ext cx="2560320" cy="1783080"/>
          </a:xfrm>
          <a:prstGeom prst="roundRect">
            <a:avLst>
              <a:gd name="adj" fmla="val 8000"/>
            </a:avLst>
          </a:prstGeom>
          <a:solidFill>
            <a:srgbClr val="16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911535" y="432511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0">
              <a:buNone/>
            </a:pPr>
            <a:r>
              <a:rPr lang="he-IL" altLang="en-US" sz="1400" b="1">
                <a:solidFill>
                  <a:srgbClr val="D1A95E"/>
                </a:solidFill>
                <a:latin typeface="Heebo"/>
                <a:cs typeface="Heebo"/>
              </a:rPr>
              <a:t>05</a:t>
            </a:r>
            <a:endParaRPr lang="he-IL" sz="1400"/>
          </a:p>
        </p:txBody>
      </p:sp>
      <p:sp>
        <p:nvSpPr>
          <p:cNvPr id="22" name="TextBox 21"/>
          <p:cNvSpPr txBox="1"/>
          <p:nvPr/>
        </p:nvSpPr>
        <p:spPr>
          <a:xfrm>
            <a:off x="9219895" y="4480559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5000"/>
              </a:lnSpc>
              <a:buNone/>
            </a:pPr>
            <a:r>
              <a:rPr lang="he-IL" altLang="en-US" sz="2800" b="1">
                <a:solidFill>
                  <a:srgbClr val="F3EFE7"/>
                </a:solidFill>
                <a:latin typeface="Heebo"/>
                <a:cs typeface="Heebo"/>
              </a:rPr>
              <a:t>״שאגתי מתוך החזה״</a:t>
            </a:r>
            <a:endParaRPr lang="he-IL" sz="2800"/>
          </a:p>
        </p:txBody>
      </p:sp>
      <p:sp>
        <p:nvSpPr>
          <p:cNvPr id="23" name="Word card 6"/>
          <p:cNvSpPr/>
          <p:nvPr/>
        </p:nvSpPr>
        <p:spPr>
          <a:xfrm>
            <a:off x="6238951" y="4160520"/>
            <a:ext cx="2560320" cy="1783080"/>
          </a:xfrm>
          <a:prstGeom prst="roundRect">
            <a:avLst>
              <a:gd name="adj" fmla="val 8000"/>
            </a:avLst>
          </a:prstGeom>
          <a:solidFill>
            <a:srgbClr val="16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067751" y="432511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0">
              <a:buNone/>
            </a:pPr>
            <a:r>
              <a:rPr lang="he-IL" altLang="en-US" sz="1400" b="1">
                <a:solidFill>
                  <a:srgbClr val="D1A95E"/>
                </a:solidFill>
                <a:latin typeface="Heebo"/>
                <a:cs typeface="Heebo"/>
              </a:rPr>
              <a:t>06</a:t>
            </a:r>
            <a:endParaRPr lang="he-IL" sz="1400"/>
          </a:p>
        </p:txBody>
      </p:sp>
      <p:sp>
        <p:nvSpPr>
          <p:cNvPr id="25" name="TextBox 24"/>
          <p:cNvSpPr txBox="1"/>
          <p:nvPr/>
        </p:nvSpPr>
        <p:spPr>
          <a:xfrm>
            <a:off x="6376111" y="4480559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5000"/>
              </a:lnSpc>
              <a:buNone/>
            </a:pPr>
            <a:r>
              <a:rPr lang="he-IL" altLang="en-US" sz="2800" b="1">
                <a:solidFill>
                  <a:srgbClr val="F3EFE7"/>
                </a:solidFill>
                <a:latin typeface="Heebo"/>
                <a:cs typeface="Heebo"/>
              </a:rPr>
              <a:t>״אוויר דליל״</a:t>
            </a:r>
            <a:endParaRPr lang="he-IL" sz="2800"/>
          </a:p>
        </p:txBody>
      </p:sp>
      <p:sp>
        <p:nvSpPr>
          <p:cNvPr id="26" name="Word card 7"/>
          <p:cNvSpPr/>
          <p:nvPr/>
        </p:nvSpPr>
        <p:spPr>
          <a:xfrm>
            <a:off x="3395167" y="4160520"/>
            <a:ext cx="2560320" cy="1783080"/>
          </a:xfrm>
          <a:prstGeom prst="roundRect">
            <a:avLst>
              <a:gd name="adj" fmla="val 8000"/>
            </a:avLst>
          </a:prstGeom>
          <a:solidFill>
            <a:srgbClr val="16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223967" y="432511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0">
              <a:buNone/>
            </a:pPr>
            <a:r>
              <a:rPr lang="he-IL" altLang="en-US" sz="1400" b="1">
                <a:solidFill>
                  <a:srgbClr val="D1A95E"/>
                </a:solidFill>
                <a:latin typeface="Heebo"/>
                <a:cs typeface="Heebo"/>
              </a:rPr>
              <a:t>07</a:t>
            </a:r>
            <a:endParaRPr lang="he-IL" sz="1400"/>
          </a:p>
        </p:txBody>
      </p:sp>
      <p:sp>
        <p:nvSpPr>
          <p:cNvPr id="28" name="TextBox 27"/>
          <p:cNvSpPr txBox="1"/>
          <p:nvPr/>
        </p:nvSpPr>
        <p:spPr>
          <a:xfrm>
            <a:off x="3532327" y="4480559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5000"/>
              </a:lnSpc>
              <a:buNone/>
            </a:pPr>
            <a:r>
              <a:rPr lang="he-IL" altLang="en-US" sz="2800" b="1">
                <a:solidFill>
                  <a:srgbClr val="F3EFE7"/>
                </a:solidFill>
                <a:latin typeface="Heebo"/>
                <a:cs typeface="Heebo"/>
              </a:rPr>
              <a:t>״מחנק בעליות״</a:t>
            </a:r>
            <a:endParaRPr lang="he-IL" sz="2800"/>
          </a:p>
        </p:txBody>
      </p:sp>
      <p:sp>
        <p:nvSpPr>
          <p:cNvPr id="29" name="Word card 8"/>
          <p:cNvSpPr/>
          <p:nvPr/>
        </p:nvSpPr>
        <p:spPr>
          <a:xfrm>
            <a:off x="551383" y="4160520"/>
            <a:ext cx="2560320" cy="1783080"/>
          </a:xfrm>
          <a:prstGeom prst="roundRect">
            <a:avLst>
              <a:gd name="adj" fmla="val 8000"/>
            </a:avLst>
          </a:prstGeom>
          <a:solidFill>
            <a:srgbClr val="16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380183" y="432511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0">
              <a:buNone/>
            </a:pPr>
            <a:r>
              <a:rPr lang="he-IL" altLang="en-US" sz="1400" b="1">
                <a:solidFill>
                  <a:srgbClr val="D1A95E"/>
                </a:solidFill>
                <a:latin typeface="Heebo"/>
                <a:cs typeface="Heebo"/>
              </a:rPr>
              <a:t>08</a:t>
            </a:r>
            <a:endParaRPr lang="he-IL" sz="1400"/>
          </a:p>
        </p:txBody>
      </p:sp>
      <p:sp>
        <p:nvSpPr>
          <p:cNvPr id="31" name="TextBox 30"/>
          <p:cNvSpPr txBox="1"/>
          <p:nvPr/>
        </p:nvSpPr>
        <p:spPr>
          <a:xfrm>
            <a:off x="688543" y="4480559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5000"/>
              </a:lnSpc>
              <a:buNone/>
            </a:pPr>
            <a:r>
              <a:rPr lang="he-IL" altLang="en-US" sz="2800" b="1">
                <a:solidFill>
                  <a:srgbClr val="F3EFE7"/>
                </a:solidFill>
                <a:latin typeface="Heebo"/>
                <a:cs typeface="Heebo"/>
              </a:rPr>
              <a:t>״החושך שעברתי״</a:t>
            </a:r>
            <a:endParaRPr lang="he-IL" sz="28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ubric tag"/>
          <p:cNvSpPr/>
          <p:nvPr/>
        </p:nvSpPr>
        <p:spPr>
          <a:xfrm>
            <a:off x="548640" y="457200"/>
            <a:ext cx="1600200" cy="45720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D1A9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buNone/>
            </a:pPr>
            <a:r>
              <a:rPr lang="he-IL" altLang="en-US" sz="1600" b="1">
                <a:solidFill>
                  <a:srgbClr val="D1A95E"/>
                </a:solidFill>
                <a:latin typeface="Heebo"/>
                <a:cs typeface="Heebo"/>
              </a:rPr>
              <a:t>עמוד 4ב</a:t>
            </a:r>
            <a:endParaRPr lang="he-IL" sz="1600"/>
          </a:p>
        </p:txBody>
      </p:sp>
      <p:sp>
        <p:nvSpPr>
          <p:cNvPr id="5" name="Slide number"/>
          <p:cNvSpPr txBox="1"/>
          <p:nvPr/>
        </p:nvSpPr>
        <p:spPr>
          <a:xfrm>
            <a:off x="548640" y="632764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4ACBD"/>
                </a:solidFill>
                <a:latin typeface="Heebo"/>
                <a:cs typeface="Heebo"/>
              </a:rPr>
              <a:t>9 / 11</a:t>
            </a:r>
            <a:endParaRPr lang="he-IL" sz="1200"/>
          </a:p>
        </p:txBody>
      </p:sp>
      <p:sp>
        <p:nvSpPr>
          <p:cNvPr id="6" name="Title"/>
          <p:cNvSpPr txBox="1"/>
          <p:nvPr/>
        </p:nvSpPr>
        <p:spPr>
          <a:xfrm>
            <a:off x="2468880" y="347472"/>
            <a:ext cx="9171432" cy="777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1">
                <a:solidFill>
                  <a:srgbClr val="F3EFE7"/>
                </a:solidFill>
                <a:latin typeface="Heebo"/>
                <a:cs typeface="Heebo"/>
              </a:rPr>
              <a:t>האירועים שהמילים מעוררות</a:t>
            </a:r>
            <a:endParaRPr lang="he-IL" sz="4400"/>
          </a:p>
        </p:txBody>
      </p:sp>
      <p:pic>
        <p:nvPicPr>
          <p:cNvPr id="7" name="Event photo" descr="amedi_handshake.jpg"/>
          <p:cNvPicPr>
            <a:picLocks noChangeAspect="1"/>
          </p:cNvPicPr>
          <p:nvPr/>
        </p:nvPicPr>
        <p:blipFill>
          <a:blip r:embed="rId3"/>
          <a:srcRect l="3796" r="3796"/>
          <a:stretch>
            <a:fillRect/>
          </a:stretch>
        </p:blipFill>
        <p:spPr>
          <a:xfrm>
            <a:off x="548640" y="1463040"/>
            <a:ext cx="4754880" cy="3429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029200"/>
            <a:ext cx="4754880" cy="11887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A4ACBD"/>
                </a:solidFill>
                <a:latin typeface="Heebo"/>
                <a:cs typeface="Heebo"/>
              </a:rPr>
              <a:t>עידן עמדי במדי מילואים, בלחיצת יד עם מפקד בכיר. מאחורי ה״סופרמן״ שבשיר עומד לוחם אמיתי.</a:t>
            </a:r>
            <a:endParaRPr lang="he-IL" sz="1800"/>
          </a:p>
        </p:txBody>
      </p:sp>
      <p:sp>
        <p:nvSpPr>
          <p:cNvPr id="9" name="Timeline"/>
          <p:cNvSpPr/>
          <p:nvPr/>
        </p:nvSpPr>
        <p:spPr>
          <a:xfrm>
            <a:off x="11539728" y="1691640"/>
            <a:ext cx="22860" cy="3840480"/>
          </a:xfrm>
          <a:prstGeom prst="rect">
            <a:avLst/>
          </a:prstGeom>
          <a:solidFill>
            <a:srgbClr val="D1A95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1457432" y="1645920"/>
            <a:ext cx="182880" cy="182880"/>
          </a:xfrm>
          <a:prstGeom prst="ellipse">
            <a:avLst/>
          </a:prstGeom>
          <a:solidFill>
            <a:srgbClr val="D1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463040"/>
            <a:ext cx="5486400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7 באוקטובר 2023:</a:t>
            </a: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 פורצת מלחמת ״חרבות ברזל״, ועמדי מגויס למילואים.</a:t>
            </a:r>
            <a:endParaRPr lang="he-IL" sz="2200"/>
          </a:p>
        </p:txBody>
      </p:sp>
      <p:sp>
        <p:nvSpPr>
          <p:cNvPr id="12" name="Oval 11"/>
          <p:cNvSpPr/>
          <p:nvPr/>
        </p:nvSpPr>
        <p:spPr>
          <a:xfrm>
            <a:off x="11457432" y="2560320"/>
            <a:ext cx="182880" cy="182880"/>
          </a:xfrm>
          <a:prstGeom prst="ellipse">
            <a:avLst/>
          </a:prstGeom>
          <a:solidFill>
            <a:srgbClr val="D1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2377440"/>
            <a:ext cx="5486400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לוחם הנדסה:</a:t>
            </a: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 נלחם עם יחידתו, גם בתוך רצועת עזה.</a:t>
            </a:r>
            <a:endParaRPr lang="he-IL" sz="2200"/>
          </a:p>
        </p:txBody>
      </p:sp>
      <p:sp>
        <p:nvSpPr>
          <p:cNvPr id="14" name="Oval 13"/>
          <p:cNvSpPr/>
          <p:nvPr/>
        </p:nvSpPr>
        <p:spPr>
          <a:xfrm>
            <a:off x="11457432" y="3474720"/>
            <a:ext cx="182880" cy="182880"/>
          </a:xfrm>
          <a:prstGeom prst="ellipse">
            <a:avLst/>
          </a:prstGeom>
          <a:solidFill>
            <a:srgbClr val="D1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3291840"/>
            <a:ext cx="5486400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8 בינואר 2024:</a:t>
            </a: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 נפצע קשה מפיצוץ בזמן פעולה להשמדת מנהרה.</a:t>
            </a:r>
            <a:endParaRPr lang="he-IL" sz="2200"/>
          </a:p>
        </p:txBody>
      </p:sp>
      <p:sp>
        <p:nvSpPr>
          <p:cNvPr id="16" name="Oval 15"/>
          <p:cNvSpPr/>
          <p:nvPr/>
        </p:nvSpPr>
        <p:spPr>
          <a:xfrm>
            <a:off x="11457432" y="4389120"/>
            <a:ext cx="182880" cy="182880"/>
          </a:xfrm>
          <a:prstGeom prst="ellipse">
            <a:avLst/>
          </a:prstGeom>
          <a:solidFill>
            <a:srgbClr val="D1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4206240"/>
            <a:ext cx="5486400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בית החולים שיבא:</a:t>
            </a: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 מגיע מורדם ומונשם, עם רסיסים בכל הגוף.</a:t>
            </a:r>
            <a:endParaRPr lang="he-IL" sz="2200"/>
          </a:p>
        </p:txBody>
      </p:sp>
      <p:sp>
        <p:nvSpPr>
          <p:cNvPr id="18" name="Oval 17"/>
          <p:cNvSpPr/>
          <p:nvPr/>
        </p:nvSpPr>
        <p:spPr>
          <a:xfrm>
            <a:off x="11457432" y="5303520"/>
            <a:ext cx="182880" cy="182880"/>
          </a:xfrm>
          <a:prstGeom prst="ellipse">
            <a:avLst/>
          </a:prstGeom>
          <a:solidFill>
            <a:srgbClr val="D1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5120640"/>
            <a:ext cx="5486400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1">
                <a:solidFill>
                  <a:srgbClr val="D1A95E"/>
                </a:solidFill>
                <a:latin typeface="Heebo"/>
                <a:cs typeface="Heebo"/>
              </a:rPr>
              <a:t>השיקום:</a:t>
            </a:r>
            <a:r>
              <a:rPr lang="he-IL" altLang="en-US" sz="2200" b="0">
                <a:solidFill>
                  <a:srgbClr val="F3EFE7"/>
                </a:solidFill>
                <a:latin typeface="Heebo"/>
                <a:cs typeface="Heebo"/>
              </a:rPr>
              <a:t> יותר משנה של החלמה – ומתוכה נולד ״סופרמן״.</a:t>
            </a:r>
            <a:endParaRPr lang="he-IL" sz="220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50292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000" b="1">
                <a:solidFill>
                  <a:srgbClr val="D1A95E"/>
                </a:solidFill>
                <a:latin typeface="Heebo"/>
                <a:cs typeface="Heebo"/>
              </a:rPr>
              <a:t>סיכום</a:t>
            </a:r>
            <a:endParaRPr lang="he-IL" sz="2000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1672" cy="3291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800"/>
              </a:spcAft>
              <a:buNone/>
            </a:pPr>
            <a:r>
              <a:rPr lang="he-IL" altLang="en-US" sz="3600" b="1">
                <a:solidFill>
                  <a:srgbClr val="F3EFE7"/>
                </a:solidFill>
                <a:latin typeface="Heebo"/>
                <a:cs typeface="Heebo"/>
              </a:rPr>
              <a:t>ה״סופרמן״ של עידן עמדי לא עף, ולא בלתי פגיע.</a:t>
            </a:r>
            <a:endParaRPr lang="he-IL" sz="3600"/>
          </a:p>
          <a:p>
            <a:pPr algn="ctr" rtl="1">
              <a:lnSpc>
                <a:spcPct val="105000"/>
              </a:lnSpc>
              <a:spcAft>
                <a:spcPts val="1800"/>
              </a:spcAft>
              <a:buNone/>
            </a:pPr>
            <a:r>
              <a:rPr lang="he-IL" altLang="en-US" sz="4000" b="1">
                <a:solidFill>
                  <a:srgbClr val="D1A95E"/>
                </a:solidFill>
                <a:latin typeface="Heebo"/>
                <a:cs typeface="Heebo"/>
              </a:rPr>
              <a:t>הוא נפצע, נשבר – ובחר לקום ולחיות.</a:t>
            </a:r>
            <a:endParaRPr lang="he-IL" sz="4000"/>
          </a:p>
          <a:p>
            <a:pPr algn="ctr" rtl="1">
              <a:lnSpc>
                <a:spcPct val="105000"/>
              </a:lnSpc>
              <a:buNone/>
            </a:pPr>
            <a:r>
              <a:rPr lang="he-IL" altLang="en-US" sz="4000" b="0">
                <a:solidFill>
                  <a:srgbClr val="F3EFE7"/>
                </a:solidFill>
                <a:latin typeface="Heebo Light"/>
                <a:cs typeface="Heebo Light"/>
              </a:rPr>
              <a:t>זו הגבורה האמיתית.</a:t>
            </a:r>
            <a:endParaRPr lang="he-IL" sz="4000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4ACBD"/>
                </a:solidFill>
                <a:latin typeface="Heebo"/>
                <a:cs typeface="Heebo"/>
              </a:rPr>
              <a:t>10 / 11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lide number"/>
          <p:cNvSpPr txBox="1"/>
          <p:nvPr/>
        </p:nvSpPr>
        <p:spPr>
          <a:xfrm>
            <a:off x="548640" y="632764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4ACBD"/>
                </a:solidFill>
                <a:latin typeface="Heebo"/>
                <a:cs typeface="Heebo"/>
              </a:rPr>
              <a:t>11 / 11</a:t>
            </a:r>
            <a:endParaRPr lang="he-IL" sz="1200"/>
          </a:p>
        </p:txBody>
      </p:sp>
      <p:sp>
        <p:nvSpPr>
          <p:cNvPr id="4" name="Title"/>
          <p:cNvSpPr txBox="1"/>
          <p:nvPr/>
        </p:nvSpPr>
        <p:spPr>
          <a:xfrm>
            <a:off x="2468880" y="347472"/>
            <a:ext cx="9171432" cy="777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1">
                <a:solidFill>
                  <a:srgbClr val="F3EFE7"/>
                </a:solidFill>
                <a:latin typeface="Heebo"/>
                <a:cs typeface="Heebo"/>
              </a:rPr>
              <a:t>מקורות</a:t>
            </a:r>
            <a:endParaRPr lang="he-IL" sz="4400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47548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1000"/>
              </a:spcAft>
              <a:buNone/>
            </a:pPr>
            <a:r>
              <a:rPr lang="he-IL" altLang="en-US" sz="1800" b="1">
                <a:solidFill>
                  <a:srgbClr val="F3EFE7"/>
                </a:solidFill>
                <a:latin typeface="Heebo"/>
                <a:cs typeface="Heebo"/>
              </a:rPr>
              <a:t>ויקיפדיה העברית, ״עידן עמדי״</a:t>
            </a:r>
            <a:r>
              <a:rPr lang="he-IL" altLang="en-US" sz="1800" b="0">
                <a:solidFill>
                  <a:srgbClr val="A4ACBD"/>
                </a:solidFill>
                <a:latin typeface="Heebo"/>
                <a:cs typeface="Heebo"/>
              </a:rPr>
              <a:t>  ·  </a:t>
            </a:r>
            <a:r>
              <a:rPr lang="he-IL" altLang="en-US" sz="1600" b="0">
                <a:solidFill>
                  <a:srgbClr val="A4ACBD"/>
                </a:solidFill>
                <a:latin typeface="Heebo"/>
                <a:cs typeface="Heebo"/>
              </a:rPr>
              <a:t>he.wikipedia.org/wiki/עידן_עמדי</a:t>
            </a:r>
            <a:endParaRPr lang="he-IL" sz="1800"/>
          </a:p>
          <a:p>
            <a:pPr algn="r" rtl="1">
              <a:lnSpc>
                <a:spcPct val="100000"/>
              </a:lnSpc>
              <a:spcAft>
                <a:spcPts val="1000"/>
              </a:spcAft>
              <a:buNone/>
            </a:pPr>
            <a:r>
              <a:rPr lang="he-IL" altLang="en-US" sz="1800" b="1">
                <a:solidFill>
                  <a:srgbClr val="F3EFE7"/>
                </a:solidFill>
                <a:latin typeface="Heebo"/>
                <a:cs typeface="Heebo"/>
              </a:rPr>
              <a:t>Wikipedia, ״Idan Amedi״</a:t>
            </a:r>
            <a:r>
              <a:rPr lang="he-IL" altLang="en-US" sz="1800" b="0">
                <a:solidFill>
                  <a:srgbClr val="A4ACBD"/>
                </a:solidFill>
                <a:latin typeface="Heebo"/>
                <a:cs typeface="Heebo"/>
              </a:rPr>
              <a:t>  ·  </a:t>
            </a:r>
            <a:r>
              <a:rPr lang="he-IL" altLang="en-US" sz="1600" b="0">
                <a:solidFill>
                  <a:srgbClr val="A4ACBD"/>
                </a:solidFill>
                <a:latin typeface="Heebo"/>
                <a:cs typeface="Heebo"/>
              </a:rPr>
              <a:t>en.wikipedia.org/wiki/Idan_Amedi</a:t>
            </a:r>
            <a:endParaRPr lang="he-IL" sz="1800"/>
          </a:p>
          <a:p>
            <a:pPr algn="r" rtl="1">
              <a:lnSpc>
                <a:spcPct val="100000"/>
              </a:lnSpc>
              <a:spcAft>
                <a:spcPts val="1000"/>
              </a:spcAft>
              <a:buNone/>
            </a:pPr>
            <a:r>
              <a:rPr lang="he-IL" altLang="en-US" sz="1800" b="1">
                <a:solidFill>
                  <a:srgbClr val="F3EFE7"/>
                </a:solidFill>
                <a:latin typeface="Heebo"/>
                <a:cs typeface="Heebo"/>
              </a:rPr>
              <a:t>ynet, דיווח על פציעתו של עידן עמדי ברצועת עזה, 8.1.2024</a:t>
            </a:r>
            <a:r>
              <a:rPr lang="he-IL" altLang="en-US" sz="1800" b="0">
                <a:solidFill>
                  <a:srgbClr val="A4ACBD"/>
                </a:solidFill>
                <a:latin typeface="Heebo"/>
                <a:cs typeface="Heebo"/>
              </a:rPr>
              <a:t>  ·  </a:t>
            </a:r>
            <a:r>
              <a:rPr lang="he-IL" altLang="en-US" sz="1600" b="0">
                <a:solidFill>
                  <a:srgbClr val="A4ACBD"/>
                </a:solidFill>
                <a:latin typeface="Heebo"/>
                <a:cs typeface="Heebo"/>
              </a:rPr>
              <a:t>ynet.co.il/news/article/bjhwsjfut</a:t>
            </a:r>
            <a:endParaRPr lang="he-IL" sz="1800"/>
          </a:p>
          <a:p>
            <a:pPr algn="r" rtl="1">
              <a:lnSpc>
                <a:spcPct val="100000"/>
              </a:lnSpc>
              <a:spcAft>
                <a:spcPts val="1000"/>
              </a:spcAft>
              <a:buNone/>
            </a:pPr>
            <a:r>
              <a:rPr lang="he-IL" altLang="en-US" sz="1800" b="1">
                <a:solidFill>
                  <a:srgbClr val="F3EFE7"/>
                </a:solidFill>
                <a:latin typeface="Heebo"/>
                <a:cs typeface="Heebo"/>
              </a:rPr>
              <a:t>ice, כתבה על יציאת הסינגל ״סופרמן״, 16.12.2024</a:t>
            </a:r>
            <a:r>
              <a:rPr lang="he-IL" altLang="en-US" sz="1800" b="0">
                <a:solidFill>
                  <a:srgbClr val="A4ACBD"/>
                </a:solidFill>
                <a:latin typeface="Heebo"/>
                <a:cs typeface="Heebo"/>
              </a:rPr>
              <a:t>  ·  </a:t>
            </a:r>
            <a:r>
              <a:rPr lang="he-IL" altLang="en-US" sz="1600" b="0">
                <a:solidFill>
                  <a:srgbClr val="A4ACBD"/>
                </a:solidFill>
                <a:latin typeface="Heebo"/>
                <a:cs typeface="Heebo"/>
              </a:rPr>
              <a:t>ice.co.il/culture/news/article/1042515</a:t>
            </a:r>
            <a:endParaRPr lang="he-IL" sz="1800"/>
          </a:p>
          <a:p>
            <a:pPr algn="r" rtl="1">
              <a:lnSpc>
                <a:spcPct val="100000"/>
              </a:lnSpc>
              <a:spcAft>
                <a:spcPts val="1000"/>
              </a:spcAft>
              <a:buNone/>
            </a:pPr>
            <a:r>
              <a:rPr lang="he-IL" altLang="en-US" sz="1800" b="1">
                <a:solidFill>
                  <a:srgbClr val="F3EFE7"/>
                </a:solidFill>
                <a:latin typeface="Heebo"/>
                <a:cs typeface="Heebo"/>
              </a:rPr>
              <a:t>כאן חדשות, כתבה על ״כאב של לוחמים״</a:t>
            </a:r>
            <a:r>
              <a:rPr lang="he-IL" altLang="en-US" sz="1800" b="0">
                <a:solidFill>
                  <a:srgbClr val="A4ACBD"/>
                </a:solidFill>
                <a:latin typeface="Heebo"/>
                <a:cs typeface="Heebo"/>
              </a:rPr>
              <a:t>  ·  </a:t>
            </a:r>
            <a:r>
              <a:rPr lang="he-IL" altLang="en-US" sz="1600" b="0">
                <a:solidFill>
                  <a:srgbClr val="A4ACBD"/>
                </a:solidFill>
                <a:latin typeface="Heebo"/>
                <a:cs typeface="Heebo"/>
              </a:rPr>
              <a:t>kan.org.il/content/kan-news/culture/680628</a:t>
            </a:r>
            <a:endParaRPr lang="he-IL" sz="1800"/>
          </a:p>
          <a:p>
            <a:pPr algn="r" rtl="1">
              <a:lnSpc>
                <a:spcPct val="100000"/>
              </a:lnSpc>
              <a:spcAft>
                <a:spcPts val="1000"/>
              </a:spcAft>
              <a:buNone/>
            </a:pPr>
            <a:r>
              <a:rPr lang="he-IL" altLang="en-US" sz="1800" b="1">
                <a:solidFill>
                  <a:srgbClr val="F3EFE7"/>
                </a:solidFill>
                <a:latin typeface="Heebo"/>
                <a:cs typeface="Heebo"/>
              </a:rPr>
              <a:t>מילות השיר: עידן עמדי, ״סופרמן״ (2024), באמצעות LyricFind</a:t>
            </a:r>
            <a:endParaRPr lang="he-IL" sz="1800"/>
          </a:p>
          <a:p>
            <a:pPr algn="r" rtl="1">
              <a:lnSpc>
                <a:spcPct val="100000"/>
              </a:lnSpc>
              <a:spcAft>
                <a:spcPts val="1000"/>
              </a:spcAft>
              <a:buNone/>
            </a:pPr>
            <a:r>
              <a:rPr lang="he-IL" altLang="en-US" sz="1800" b="1">
                <a:solidFill>
                  <a:srgbClr val="F3EFE7"/>
                </a:solidFill>
                <a:latin typeface="Heebo"/>
                <a:cs typeface="Heebo"/>
              </a:rPr>
              <a:t>הגדרות המושגים: דף לימוד בספרות, אתר דעת</a:t>
            </a:r>
            <a:r>
              <a:rPr lang="he-IL" altLang="en-US" sz="1800" b="0">
                <a:solidFill>
                  <a:srgbClr val="A4ACBD"/>
                </a:solidFill>
                <a:latin typeface="Heebo"/>
                <a:cs typeface="Heebo"/>
              </a:rPr>
              <a:t>  ·  </a:t>
            </a:r>
            <a:r>
              <a:rPr lang="he-IL" altLang="en-US" sz="1600" b="0">
                <a:solidFill>
                  <a:srgbClr val="A4ACBD"/>
                </a:solidFill>
                <a:latin typeface="Heebo"/>
                <a:cs typeface="Heebo"/>
              </a:rPr>
              <a:t>daat.ac.il</a:t>
            </a:r>
            <a:endParaRPr lang="he-IL" sz="1800"/>
          </a:p>
          <a:p>
            <a:pPr algn="r" rtl="1">
              <a:lnSpc>
                <a:spcPct val="100000"/>
              </a:lnSpc>
              <a:spcAft>
                <a:spcPts val="1000"/>
              </a:spcAft>
              <a:buNone/>
            </a:pPr>
            <a:r>
              <a:rPr lang="he-IL" altLang="en-US" sz="1800" b="1">
                <a:solidFill>
                  <a:srgbClr val="F3EFE7"/>
                </a:solidFill>
                <a:latin typeface="Heebo"/>
                <a:cs typeface="Heebo"/>
              </a:rPr>
              <a:t>תמונת האמן: סלי בן אריה, ויקישיתוף, CC BY-SA 4.0</a:t>
            </a:r>
            <a:r>
              <a:rPr lang="he-IL" altLang="en-US" sz="1800" b="0">
                <a:solidFill>
                  <a:srgbClr val="A4ACBD"/>
                </a:solidFill>
                <a:latin typeface="Heebo"/>
                <a:cs typeface="Heebo"/>
              </a:rPr>
              <a:t>  ·  </a:t>
            </a:r>
            <a:r>
              <a:rPr lang="he-IL" altLang="en-US" sz="1600" b="0">
                <a:solidFill>
                  <a:srgbClr val="A4ACBD"/>
                </a:solidFill>
                <a:latin typeface="Heebo"/>
                <a:cs typeface="Heebo"/>
              </a:rPr>
              <a:t>commons.wikimedia.org</a:t>
            </a:r>
            <a:endParaRPr lang="he-IL" sz="18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