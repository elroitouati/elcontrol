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הערכה חלופית בספרות · שכבה ט׳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640080" y="132588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3800" b="0">
                <a:solidFill>
                  <a:srgbClr val="22252B"/>
                </a:solidFill>
                <a:latin typeface="Solitreo"/>
                <a:cs typeface="Solitreo"/>
              </a:rPr>
              <a:t>סופרמן</a:t>
            </a:r>
            <a:endParaRPr lang="he-IL" sz="13800"/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C4F86"/>
                </a:solidFill>
                <a:latin typeface="Assistant Light"/>
                <a:cs typeface="Assistant Light"/>
              </a:rPr>
              <a:t>עידן עמדי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646A75"/>
                </a:solidFill>
                <a:latin typeface="Assistant Light"/>
                <a:cs typeface="Assistant Light"/>
              </a:rPr>
              <a:t>שיר על פציעה, שיקום ובחירה בחיים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2252B"/>
                </a:solidFill>
                <a:latin typeface="Assistant SemiBold"/>
                <a:cs typeface="Assistant SemiBold"/>
              </a:rPr>
              <a:t>אלרואי טואטי   ·   יואב טימסטיט   ·   אלינדב בק</a:t>
            </a:r>
            <a:endParaRPr lang="he-IL" sz="24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הקטע שבחרנו</a:t>
            </a:r>
            <a:endParaRPr lang="he-IL" sz="4400"/>
          </a:p>
        </p:txBody>
      </p:sp>
      <p:sp>
        <p:nvSpPr>
          <p:cNvPr id="4" name="Quote mark"/>
          <p:cNvSpPr txBox="1"/>
          <p:nvPr/>
        </p:nvSpPr>
        <p:spPr>
          <a:xfrm>
            <a:off x="6675120" y="1417320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2000" b="0">
                <a:solidFill>
                  <a:srgbClr val="2C4F86"/>
                </a:solidFill>
                <a:latin typeface="Solitreo"/>
                <a:cs typeface="Solitreo"/>
              </a:rPr>
              <a:t>״</a:t>
            </a:r>
            <a:endParaRPr lang="he-IL" sz="12000"/>
          </a:p>
        </p:txBody>
      </p:sp>
      <p:sp>
        <p:nvSpPr>
          <p:cNvPr id="5" name="TextBox 4"/>
          <p:cNvSpPr txBox="1"/>
          <p:nvPr/>
        </p:nvSpPr>
        <p:spPr>
          <a:xfrm>
            <a:off x="6675120" y="2423160"/>
            <a:ext cx="4873752" cy="2743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2252B"/>
                </a:solidFill>
                <a:latin typeface="Assistant Light"/>
                <a:cs typeface="Assistant Light"/>
              </a:rPr>
              <a:t>אך בסתר ליבי </a:t>
            </a:r>
            <a:r>
              <a:rPr lang="he-IL" altLang="en-US" sz="3000" b="0">
                <a:solidFill>
                  <a:srgbClr val="2C4F86"/>
                </a:solidFill>
                <a:latin typeface="Assistant Light"/>
                <a:cs typeface="Assistant Light"/>
              </a:rPr>
              <a:t>השבור השלם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2000"/>
              </a:spcAft>
              <a:buNone/>
            </a:pPr>
            <a:r>
              <a:rPr lang="he-IL" altLang="en-US" sz="3000" b="0">
                <a:solidFill>
                  <a:srgbClr val="22252B"/>
                </a:solidFill>
                <a:latin typeface="Assistant Light"/>
                <a:cs typeface="Assistant Light"/>
              </a:rPr>
              <a:t>לא היו לי ספקות</a:t>
            </a:r>
            <a:endParaRPr lang="he-IL" sz="3000"/>
          </a:p>
          <a:p>
            <a:pPr algn="r" rtl="1">
              <a:lnSpc>
                <a:spcPct val="105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2252B"/>
                </a:solidFill>
                <a:latin typeface="Assistant Light"/>
                <a:cs typeface="Assistant Light"/>
              </a:rPr>
              <a:t>כבר לא מפחיד אותי </a:t>
            </a:r>
            <a:r>
              <a:rPr lang="he-IL" altLang="en-US" sz="3000" b="0">
                <a:solidFill>
                  <a:srgbClr val="2C4F86"/>
                </a:solidFill>
                <a:latin typeface="Assistant Light"/>
                <a:cs typeface="Assistant Light"/>
              </a:rPr>
              <a:t>למות</a:t>
            </a:r>
            <a:endParaRPr lang="he-IL" sz="3000"/>
          </a:p>
          <a:p>
            <a:pPr algn="r" rtl="1">
              <a:lnSpc>
                <a:spcPct val="105000"/>
              </a:lnSpc>
              <a:buNone/>
            </a:pPr>
            <a:r>
              <a:rPr lang="he-IL" altLang="en-US" sz="3000" b="0">
                <a:solidFill>
                  <a:srgbClr val="22252B"/>
                </a:solidFill>
                <a:latin typeface="Assistant Light"/>
                <a:cs typeface="Assistant Light"/>
              </a:rPr>
              <a:t>יותר מפחיד לא </a:t>
            </a:r>
            <a:r>
              <a:rPr lang="he-IL" altLang="en-US" sz="3000" b="0">
                <a:solidFill>
                  <a:srgbClr val="2C4F86"/>
                </a:solidFill>
                <a:latin typeface="Assistant Light"/>
                <a:cs typeface="Assistant Light"/>
              </a:rPr>
              <a:t>לחיות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75120" y="5257800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646A75"/>
                </a:solidFill>
                <a:latin typeface="Assistant Light"/>
                <a:cs typeface="Assistant Light"/>
              </a:rPr>
              <a:t>עידן עמדי, ״סופרמן״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2C4F86"/>
                </a:solidFill>
                <a:latin typeface="Assistant SemiBold"/>
                <a:cs typeface="Assistant SemiBold"/>
              </a:rPr>
              <a:t>למה בחרנו בקטע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כאן השיר מגיע לשיא. אחרי הפציעה עמדי כבר לא מפחד מהמוות, הוא מפחד לבזבז את החיים. אהבנו את הצירוף ״השבור השלם״, כי הוא מראה שאפשר להיות פצוע ועדיין שלם מבפנים.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4864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400" b="0">
                <a:solidFill>
                  <a:srgbClr val="2C4F86"/>
                </a:solidFill>
                <a:latin typeface="Assistant SemiBold"/>
                <a:cs typeface="Assistant SemiBold"/>
              </a:rPr>
              <a:t>החיבור האישי שלנו</a:t>
            </a:r>
            <a:endParaRPr lang="he-IL" sz="24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גדלנו בתוך המלחמה הזאת, וראינו סביבנו אנשים שיצאו למילואים וחזרו אחרים. הקטע לימד אותנו שגבורה היא לא להיות בלתי שביר, אלא לבחור לחיות גם אחרי שנשברים.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amedi_portrait_seli_ben_arie_ccbysa4.jpg"/>
          <p:cNvPicPr>
            <a:picLocks noChangeAspect="1"/>
          </p:cNvPicPr>
          <p:nvPr/>
        </p:nvPicPr>
        <p:blipFill>
          <a:blip r:embed="rId3"/>
          <a:srcRect l="2470" r="2470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492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DDDDDD"/>
                </a:solidFill>
                <a:latin typeface="Assistant Light"/>
                <a:cs typeface="Assistant Light"/>
              </a:rPr>
              <a:t>צילום: סלי בן אריה, 2020 ·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489204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עידן עמדי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10378440" y="1554480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C4F86"/>
                </a:solidFill>
                <a:latin typeface="Assistant Light"/>
                <a:cs typeface="Assistant Light"/>
              </a:rPr>
              <a:t>1988</a:t>
            </a:r>
            <a:endParaRPr lang="he-IL" sz="2600"/>
          </a:p>
        </p:txBody>
      </p:sp>
      <p:sp>
        <p:nvSpPr>
          <p:cNvPr id="7" name="TextBox 6"/>
          <p:cNvSpPr txBox="1"/>
          <p:nvPr/>
        </p:nvSpPr>
        <p:spPr>
          <a:xfrm>
            <a:off x="4892040" y="1572768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נולד בירושלים וגדל בשכונת פסגת זאב. בצבא שירת כלוחם ומפקד בהנדסה הקרבית.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92040" y="2395728"/>
            <a:ext cx="665957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78440" y="2505456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C4F86"/>
                </a:solidFill>
                <a:latin typeface="Assistant Light"/>
                <a:cs typeface="Assistant Light"/>
              </a:rPr>
              <a:t>2010</a:t>
            </a:r>
            <a:endParaRPr lang="he-IL" sz="2600"/>
          </a:p>
        </p:txBody>
      </p:sp>
      <p:sp>
        <p:nvSpPr>
          <p:cNvPr id="10" name="TextBox 9"/>
          <p:cNvSpPr txBox="1"/>
          <p:nvPr/>
        </p:nvSpPr>
        <p:spPr>
          <a:xfrm>
            <a:off x="4892040" y="2523744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הגיע לגמר ״כוכב נולד״ עם ״כאב של לוחמים״, שיר שכתב על החוויות שלו כלוחם.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346704"/>
            <a:ext cx="665957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78440" y="3456432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C4F86"/>
                </a:solidFill>
                <a:latin typeface="Assistant Light"/>
                <a:cs typeface="Assistant Light"/>
              </a:rPr>
              <a:t>2017</a:t>
            </a:r>
            <a:endParaRPr lang="he-IL" sz="2600"/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התחיל לשחק את שגיא צור בסדרה ״פאודה״, לצד הקריירה במוזיקה.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92040" y="4297680"/>
            <a:ext cx="665957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78440" y="4407408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C4F86"/>
                </a:solidFill>
                <a:latin typeface="Assistant Light"/>
                <a:cs typeface="Assistant Light"/>
              </a:rPr>
              <a:t>2024</a:t>
            </a:r>
            <a:endParaRPr lang="he-IL" sz="2600"/>
          </a:p>
        </p:txBody>
      </p:sp>
      <p:sp>
        <p:nvSpPr>
          <p:cNvPr id="16" name="TextBox 15"/>
          <p:cNvSpPr txBox="1"/>
          <p:nvPr/>
        </p:nvSpPr>
        <p:spPr>
          <a:xfrm>
            <a:off x="4892040" y="442569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נפצע קשה בעזה בזמן שירות מילואים, ושיתף את הציבור במסע השיקום שלו.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92040" y="5248656"/>
            <a:ext cx="665957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78440" y="535838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C4F86"/>
                </a:solidFill>
                <a:latin typeface="Assistant Light"/>
                <a:cs typeface="Assistant Light"/>
              </a:rPr>
              <a:t>2025</a:t>
            </a:r>
            <a:endParaRPr lang="he-IL" sz="2600"/>
          </a:p>
        </p:txBody>
      </p:sp>
      <p:sp>
        <p:nvSpPr>
          <p:cNvPr id="19" name="TextBox 18"/>
          <p:cNvSpPr txBox="1"/>
          <p:nvPr/>
        </p:nvSpPr>
        <p:spPr>
          <a:xfrm>
            <a:off x="4892040" y="5376672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הוציא את האלבום ״סופרמן״, ובסוף אותה שנה חזר לשרת במילואים.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4892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מילות השיר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שראתה בתוכי כוח על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שהוא גם קביים גם כנפיים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שלימדה אותי שבשבר מר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מסתתרים להם גם שמיים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ולא חשוב כמה חטפתי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העיקר לא הרמתי ידיים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ולאט שיר ועוד שיר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למדתי לעצמי להסביר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שכל מה שחוויתי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נועד לי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כדי שאוכל לבסוף להבין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שרק מי שצעד באפלה ובחושך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יודע באמת מהו אור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שכל תפילה בה ביקשתי לשכוח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רק גרמה לי לשוב ולזכור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ואחרי שנפצעתי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היו לי לילות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ששאגתי מתוך החזה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התחלתי לנהל עם אלוהים חשבונות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אם תיתן לי ככה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אני אתן לך את זה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מילות השיר (המשך)</a:t>
            </a:r>
            <a:endParaRPr lang="he-IL" sz="4400"/>
          </a:p>
        </p:txBody>
      </p:sp>
      <p:sp>
        <p:nvSpPr>
          <p:cNvPr id="4" name="Lyrics right"/>
          <p:cNvSpPr txBox="1"/>
          <p:nvPr/>
        </p:nvSpPr>
        <p:spPr>
          <a:xfrm>
            <a:off x="6355080" y="1600200"/>
            <a:ext cx="5196535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אך בסתר ליבי השבור השלם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לא היו לי ספקות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140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יותר מפחיד לא לחיות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נזרקתי לחיים ידיי היו ריקות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שרדתי כל אוויר דליל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מחנק בעליות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אחרי החושך שעברתי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אלף תהומות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כבר לא מפחיד אותי למות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יותר מפחיד לא לחיות</a:t>
            </a:r>
            <a:endParaRPr lang="he-IL" sz="2200"/>
          </a:p>
        </p:txBody>
      </p:sp>
      <p:sp>
        <p:nvSpPr>
          <p:cNvPr id="5" name="Lyrics left"/>
          <p:cNvSpPr txBox="1"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זה לכל מי שחשד בי שאני אחר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שקיבלתי את האור שלי מן ההפקר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שהמלאכים ירדו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השתחוו, אמרו ׳אמן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הוא לא אדם רגיל</a:t>
            </a:r>
            <a:endParaRPr lang="he-IL" sz="2200"/>
          </a:p>
          <a:p>
            <a:pPr algn="r" rtl="1">
              <a:lnSpc>
                <a:spcPct val="102000"/>
              </a:lnSpc>
              <a:spcAft>
                <a:spcPts val="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הוא סופר-מן׳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1828800" y="6355080"/>
            <a:ext cx="9722815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מילים: עידן עמדי</a:t>
            </a:r>
            <a:endParaRPr lang="he-IL" sz="12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46A75"/>
                </a:solidFill>
                <a:latin typeface="Assistant SemiBold"/>
                <a:cs typeface="Assistant SemiBold"/>
              </a:rPr>
              <a:t>מושג ראשון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2C4F86"/>
                </a:solidFill>
                <a:latin typeface="Solitreo"/>
                <a:cs typeface="Solitreo"/>
              </a:rPr>
              <a:t>מטאפורה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חיבור בין שני דברים מעולמות שונים, בלי מילת דימוי כמו ״כמו״ או ״כְּ״, כדי ליצור משמעות חדשה.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2C4F86"/>
                </a:solidFill>
                <a:latin typeface="Solitreo"/>
                <a:cs typeface="Solitreo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שראתה בתוכי כוח על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שהוא גם </a:t>
            </a:r>
            <a:r>
              <a:rPr lang="he-IL" altLang="en-US" sz="3200" b="0">
                <a:solidFill>
                  <a:srgbClr val="2C4F86"/>
                </a:solidFill>
                <a:latin typeface="Assistant Light"/>
                <a:cs typeface="Assistant Light"/>
              </a:rPr>
              <a:t>קביים</a:t>
            </a: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 גם </a:t>
            </a:r>
            <a:r>
              <a:rPr lang="he-IL" altLang="en-US" sz="3200" b="0">
                <a:solidFill>
                  <a:srgbClr val="2C4F86"/>
                </a:solidFill>
                <a:latin typeface="Assistant Light"/>
                <a:cs typeface="Assistant Light"/>
              </a:rPr>
              <a:t>כנפיים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הכוח שאשתו ראתה בו הוא גם ״קביים״, משהו שתומך במי שנפצע ולא מסוגל ללכת לבד, וגם ״כנפיים״, משהו שמרים אותו למעלה.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השיקום הוא לא רק לחזור ללכת, הוא גם לחזור לחלום. האהבה נתנה לו את שני הדברים.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548640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46A75"/>
                </a:solidFill>
                <a:latin typeface="Assistant SemiBold"/>
                <a:cs typeface="Assistant SemiBold"/>
              </a:rPr>
              <a:t>מושג שני</a:t>
            </a:r>
            <a:endParaRPr lang="he-IL" sz="2000"/>
          </a:p>
        </p:txBody>
      </p:sp>
      <p:sp>
        <p:nvSpPr>
          <p:cNvPr id="4" name="Title"/>
          <p:cNvSpPr txBox="1"/>
          <p:nvPr/>
        </p:nvSpPr>
        <p:spPr>
          <a:xfrm>
            <a:off x="7863840" y="914400"/>
            <a:ext cx="3687775" cy="10972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6000" b="0">
                <a:solidFill>
                  <a:srgbClr val="2C4F86"/>
                </a:solidFill>
                <a:latin typeface="Solitreo"/>
                <a:cs typeface="Solitreo"/>
              </a:rPr>
              <a:t>ניגוד</a:t>
            </a:r>
            <a:endParaRPr lang="he-IL" sz="6000"/>
          </a:p>
        </p:txBody>
      </p:sp>
      <p:sp>
        <p:nvSpPr>
          <p:cNvPr id="5" name="TextBox 4"/>
          <p:cNvSpPr txBox="1"/>
          <p:nvPr/>
        </p:nvSpPr>
        <p:spPr>
          <a:xfrm>
            <a:off x="7863840" y="2148840"/>
            <a:ext cx="3687775" cy="17373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6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העמדה של שני דברים הפוכים זה מול זה, כדי לחדד את ההבדל ביניהם ולהבליט רעיון.</a:t>
            </a:r>
            <a:endParaRPr lang="he-IL" sz="2200"/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2C4F86"/>
                </a:solidFill>
                <a:latin typeface="Solitreo"/>
                <a:cs typeface="Solitreo"/>
              </a:rPr>
              <a:t>״</a:t>
            </a:r>
            <a:endParaRPr lang="he-IL" sz="9600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שרק מי שצעד ב</a:t>
            </a:r>
            <a:r>
              <a:rPr lang="he-IL" altLang="en-US" sz="3200" b="0">
                <a:solidFill>
                  <a:srgbClr val="2C4F86"/>
                </a:solidFill>
                <a:latin typeface="Assistant Light"/>
                <a:cs typeface="Assistant Light"/>
              </a:rPr>
              <a:t>אפלה</a:t>
            </a: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 וב</a:t>
            </a:r>
            <a:r>
              <a:rPr lang="he-IL" altLang="en-US" sz="3200" b="0">
                <a:solidFill>
                  <a:srgbClr val="2C4F86"/>
                </a:solidFill>
                <a:latin typeface="Assistant Light"/>
                <a:cs typeface="Assistant Light"/>
              </a:rPr>
              <a:t>חושך</a:t>
            </a:r>
            <a:endParaRPr lang="he-IL" sz="3200"/>
          </a:p>
          <a:p>
            <a:pPr algn="r" rtl="1">
              <a:lnSpc>
                <a:spcPct val="108000"/>
              </a:lnSpc>
              <a:spcAft>
                <a:spcPts val="400"/>
              </a:spcAft>
              <a:buNone/>
            </a:pPr>
            <a:r>
              <a:rPr lang="he-IL" altLang="en-US" sz="3200" b="0">
                <a:solidFill>
                  <a:srgbClr val="22252B"/>
                </a:solidFill>
                <a:latin typeface="Assistant Light"/>
                <a:cs typeface="Assistant Light"/>
              </a:rPr>
              <a:t>יודע באמת מהו </a:t>
            </a:r>
            <a:r>
              <a:rPr lang="he-IL" altLang="en-US" sz="3200" b="0">
                <a:solidFill>
                  <a:srgbClr val="2C4F86"/>
                </a:solidFill>
                <a:latin typeface="Assistant Light"/>
                <a:cs typeface="Assistant Light"/>
              </a:rPr>
              <a:t>אור</a:t>
            </a:r>
            <a:endParaRPr lang="he-IL" sz="3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החושך הוא הפציעה והלילות הקשים, והאור הוא החזרה לחיים. אותו ניגוד חוזר בפזמון: ״למות״ מול ״לחיות״.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600"/>
              </a:spcAft>
              <a:buNone/>
            </a:pPr>
            <a:r>
              <a:rPr lang="he-IL" altLang="en-US" sz="2200" b="0">
                <a:solidFill>
                  <a:srgbClr val="2C4F86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את הטוב מעריכים באמת רק אחרי שעוברים את הרע. כך בנוי כל השיר: הוא עובר מהשבר אל האור.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646A75"/>
                </a:solidFill>
                <a:latin typeface="Assistant Light"/>
                <a:cs typeface="Assistant Light"/>
              </a:rPr>
              <a:t>מילים וצירופים מתוך השיר שמחזירים אותנו אל הקרב ואל הפציעה</a:t>
            </a:r>
            <a:endParaRPr lang="he-IL" sz="2200"/>
          </a:p>
        </p:txBody>
      </p:sp>
      <p:sp>
        <p:nvSpPr>
          <p:cNvPr id="5" name="TextBox 4"/>
          <p:cNvSpPr txBox="1"/>
          <p:nvPr/>
        </p:nvSpPr>
        <p:spPr>
          <a:xfrm>
            <a:off x="6062472" y="1965960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6600" b="0">
                <a:solidFill>
                  <a:srgbClr val="2C4F86"/>
                </a:solidFill>
                <a:latin typeface="Solitreo"/>
                <a:cs typeface="Solitreo"/>
              </a:rPr>
              <a:t>נפצעתי</a:t>
            </a:r>
            <a:endParaRPr lang="he-IL" sz="6600"/>
          </a:p>
        </p:txBody>
      </p:sp>
      <p:sp>
        <p:nvSpPr>
          <p:cNvPr id="6" name="TextBox 5"/>
          <p:cNvSpPr txBox="1"/>
          <p:nvPr/>
        </p:nvSpPr>
        <p:spPr>
          <a:xfrm>
            <a:off x="2194560" y="2240280"/>
            <a:ext cx="5486400" cy="711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2252B"/>
                </a:solidFill>
                <a:latin typeface="Assistant Light"/>
                <a:cs typeface="Assistant Light"/>
              </a:rPr>
              <a:t>לא הרמתי ידיים</a:t>
            </a:r>
            <a:endParaRPr lang="he-IL" sz="4000"/>
          </a:p>
        </p:txBody>
      </p:sp>
      <p:sp>
        <p:nvSpPr>
          <p:cNvPr id="7" name="TextBox 6"/>
          <p:cNvSpPr txBox="1"/>
          <p:nvPr/>
        </p:nvSpPr>
        <p:spPr>
          <a:xfrm>
            <a:off x="640079" y="2148840"/>
            <a:ext cx="2651760" cy="7823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Assistant Light"/>
                <a:cs typeface="Assistant Light"/>
              </a:rPr>
              <a:t>חטפתי</a:t>
            </a:r>
            <a:endParaRPr lang="he-IL" sz="4400"/>
          </a:p>
        </p:txBody>
      </p:sp>
      <p:sp>
        <p:nvSpPr>
          <p:cNvPr id="8" name="TextBox 7"/>
          <p:cNvSpPr txBox="1"/>
          <p:nvPr/>
        </p:nvSpPr>
        <p:spPr>
          <a:xfrm>
            <a:off x="6062472" y="3337560"/>
            <a:ext cx="5486400" cy="675639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800" b="0">
                <a:solidFill>
                  <a:srgbClr val="22252B"/>
                </a:solidFill>
                <a:latin typeface="Assistant Light"/>
                <a:cs typeface="Assistant Light"/>
              </a:rPr>
              <a:t>שאגתי מתוך החזה</a:t>
            </a:r>
            <a:endParaRPr lang="he-IL" sz="3800"/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94959" cy="10312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800" b="0">
                <a:solidFill>
                  <a:srgbClr val="2C4F86"/>
                </a:solidFill>
                <a:latin typeface="Solitreo"/>
                <a:cs typeface="Solitreo"/>
              </a:rPr>
              <a:t>קביים</a:t>
            </a:r>
            <a:endParaRPr lang="he-IL" sz="5800"/>
          </a:p>
        </p:txBody>
      </p:sp>
      <p:sp>
        <p:nvSpPr>
          <p:cNvPr id="10" name="TextBox 9"/>
          <p:cNvSpPr txBox="1"/>
          <p:nvPr/>
        </p:nvSpPr>
        <p:spPr>
          <a:xfrm>
            <a:off x="640079" y="3429000"/>
            <a:ext cx="2011680" cy="604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2252B"/>
                </a:solidFill>
                <a:latin typeface="Assistant Light"/>
                <a:cs typeface="Assistant Light"/>
              </a:rPr>
              <a:t>אוויר דליל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4754879" y="46177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22252B"/>
                </a:solidFill>
                <a:latin typeface="Assistant Light"/>
                <a:cs typeface="Assistant Light"/>
              </a:rPr>
              <a:t>מחנק בעליות</a:t>
            </a:r>
            <a:endParaRPr lang="he-IL" sz="3600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9245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2C4F86"/>
                </a:solidFill>
                <a:latin typeface="Solitreo"/>
                <a:cs typeface="Solitreo"/>
              </a:rPr>
              <a:t>החושך שעברתי</a:t>
            </a:r>
            <a:endParaRPr lang="he-IL" sz="5200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22252B"/>
                </a:solidFill>
                <a:latin typeface="Solitreo"/>
                <a:cs typeface="Solitreo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amedi_handshake.jpg"/>
          <p:cNvPicPr>
            <a:picLocks noChangeAspect="1"/>
          </p:cNvPicPr>
          <p:nvPr/>
        </p:nvPicPr>
        <p:blipFill>
          <a:blip r:embed="rId3"/>
          <a:srcRect l="3070" r="3070"/>
          <a:stretch>
            <a:fillRect/>
          </a:stretch>
        </p:blipFill>
        <p:spPr>
          <a:xfrm>
            <a:off x="640080" y="1600200"/>
            <a:ext cx="4572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834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800" b="0">
                <a:solidFill>
                  <a:srgbClr val="646A75"/>
                </a:solidFill>
                <a:latin typeface="Assistant Light"/>
                <a:cs typeface="Assistant Light"/>
              </a:rPr>
              <a:t>עידן עמדי במדי מילואים, בלחיצת יד עם מפקד בכיר. מאחורי ה״סופרמן״ שבשיר עומד לוחם אמיתי.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9646920" y="1554480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אוקטובר 2023</a:t>
            </a:r>
            <a:endParaRPr lang="he-IL" sz="2000"/>
          </a:p>
        </p:txBody>
      </p:sp>
      <p:sp>
        <p:nvSpPr>
          <p:cNvPr id="7" name="TextBox 6"/>
          <p:cNvSpPr txBox="1"/>
          <p:nvPr/>
        </p:nvSpPr>
        <p:spPr>
          <a:xfrm>
            <a:off x="5715000" y="1554480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פורצת מלחמת ״חרבות ברזל״, ועמדי מגויס למילואים.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5715000" y="2395727"/>
            <a:ext cx="583661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646920" y="2487168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עזה</a:t>
            </a:r>
            <a:endParaRPr lang="he-IL" sz="2000"/>
          </a:p>
        </p:txBody>
      </p:sp>
      <p:sp>
        <p:nvSpPr>
          <p:cNvPr id="10" name="TextBox 9"/>
          <p:cNvSpPr txBox="1"/>
          <p:nvPr/>
        </p:nvSpPr>
        <p:spPr>
          <a:xfrm>
            <a:off x="5715000" y="248716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כלוחם הנדסה, הוא נלחם בתוך רצועת עזה.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328415"/>
            <a:ext cx="583661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9646920" y="3419856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8 בינואר 2024</a:t>
            </a:r>
            <a:endParaRPr lang="he-IL" sz="2000"/>
          </a:p>
        </p:txBody>
      </p:sp>
      <p:sp>
        <p:nvSpPr>
          <p:cNvPr id="13" name="TextBox 12"/>
          <p:cNvSpPr txBox="1"/>
          <p:nvPr/>
        </p:nvSpPr>
        <p:spPr>
          <a:xfrm>
            <a:off x="5715000" y="3419856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נפצע קשה מפיצוץ בזמן פעולה להשמדת מנהרה.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261104"/>
            <a:ext cx="583661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9646920" y="4352544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שיבא</a:t>
            </a:r>
            <a:endParaRPr lang="he-IL" sz="2000"/>
          </a:p>
        </p:txBody>
      </p:sp>
      <p:sp>
        <p:nvSpPr>
          <p:cNvPr id="16" name="TextBox 15"/>
          <p:cNvSpPr txBox="1"/>
          <p:nvPr/>
        </p:nvSpPr>
        <p:spPr>
          <a:xfrm>
            <a:off x="5715000" y="4352544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מגיע לבית החולים מורדם ומונשם, עם רסיסים בכל הגוף.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5715000" y="5193792"/>
            <a:ext cx="5836615" cy="0"/>
          </a:xfrm>
          <a:prstGeom prst="line">
            <a:avLst/>
          </a:prstGeom>
          <a:ln w="9525">
            <a:solidFill>
              <a:srgbClr val="D5D8DE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9646920" y="5285231"/>
            <a:ext cx="1904695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000" b="0">
                <a:solidFill>
                  <a:srgbClr val="2C4F86"/>
                </a:solidFill>
                <a:latin typeface="Assistant SemiBold"/>
                <a:cs typeface="Assistant SemiBold"/>
              </a:rPr>
              <a:t>השנה שאחרי</a:t>
            </a:r>
            <a:endParaRPr lang="he-IL" sz="2000"/>
          </a:p>
        </p:txBody>
      </p:sp>
      <p:sp>
        <p:nvSpPr>
          <p:cNvPr id="19" name="TextBox 18"/>
          <p:cNvSpPr txBox="1"/>
          <p:nvPr/>
        </p:nvSpPr>
        <p:spPr>
          <a:xfrm>
            <a:off x="5715000" y="5285231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252B"/>
                </a:solidFill>
                <a:latin typeface="Assistant Light"/>
                <a:cs typeface="Assistant Light"/>
              </a:rPr>
              <a:t>יותר משנה של שיקום. מתוכה נולד השיר ״סופרמן״.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41732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000" b="0">
                <a:solidFill>
                  <a:srgbClr val="22252B"/>
                </a:solidFill>
                <a:latin typeface="Assistant SemiBold"/>
                <a:cs typeface="Assistant SemiBold"/>
              </a:rPr>
              <a:t>סופרמן בקומיקס אף פעם לא נפצע.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600"/>
              </a:spcAft>
              <a:buNone/>
            </a:pPr>
            <a:r>
              <a:rPr lang="he-IL" altLang="en-US" sz="4400" b="0">
                <a:solidFill>
                  <a:srgbClr val="2C4F86"/>
                </a:solidFill>
                <a:latin typeface="Solitreo"/>
                <a:cs typeface="Solitreo"/>
              </a:rPr>
              <a:t>עידן עמדי נפצע, נשבר וקם.</a:t>
            </a:r>
            <a:endParaRPr lang="he-IL" sz="4400"/>
          </a:p>
          <a:p>
            <a:pPr algn="ctr" rtl="1">
              <a:lnSpc>
                <a:spcPct val="105000"/>
              </a:lnSpc>
              <a:buNone/>
            </a:pPr>
            <a:r>
              <a:rPr lang="he-IL" altLang="en-US" sz="4000" b="0">
                <a:solidFill>
                  <a:srgbClr val="22252B"/>
                </a:solidFill>
                <a:latin typeface="Assistant Light"/>
                <a:cs typeface="Assistant Light"/>
              </a:rPr>
              <a:t>בעינינו, זה סופרמן אמיתי.</a:t>
            </a:r>
            <a:endParaRPr lang="he-IL" sz="40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46A75"/>
                </a:solidFill>
                <a:latin typeface="Assistant Light"/>
                <a:cs typeface="Assistant Light"/>
              </a:rPr>
              <a:t>10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